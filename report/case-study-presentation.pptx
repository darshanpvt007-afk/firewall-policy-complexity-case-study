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6cb7fc2-fbb2-9059-1252-fd20bac63dbf}">
          <p14:sldIdLst>
            <p14:sldId id="256"/>
            <p14:sldId id="257"/>
          </p14:sldIdLst>
        </p14:section>
        <p14:section name="Part A: Literature" id="{23efadf3-6122-8242-3b51-56d13a53986e}">
          <p14:sldIdLst>
            <p14:sldId id="258"/>
            <p14:sldId id="259"/>
          </p14:sldIdLst>
        </p14:section>
        <p14:section name="Part B: Design" id="{6ff29dbf-94ca-cd5a-a59f-78e353a409b8}">
          <p14:sldIdLst>
            <p14:sldId id="260"/>
            <p14:sldId id="261"/>
            <p14:sldId id="262"/>
          </p14:sldIdLst>
        </p14:section>
        <p14:section name="Part B: Results" id="{a65a5697-9563-93b5-0c84-6d1cc6aed270}">
          <p14:sldIdLst>
            <p14:sldId id="263"/>
            <p14:sldId id="264"/>
            <p14:sldId id="265"/>
            <p14:sldId id="266"/>
          </p14:sldIdLst>
        </p14:section>
        <p14:section name="Part C and conclusion" id="{64f6ed78-2fbc-e9ba-2d0a-8dc754955264}">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sp>
        <p:nvSpPr>
          <p:cNvPr id="9" name="pill1"/>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0"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1" name="pill2"/>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2"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3"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3"/>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68680" y="1645920"/>
            <a:ext cx="4846320" cy="3931920"/>
          </a:xfrm>
          <a:prstGeom prst="rect">
            <a:avLst/>
          </a:prstGeom>
          <a:noFill/>
          <a:ln/>
        </p:spPr>
        <p:txBody>
          <a:bodyPr wrap="square" lIns="0" tIns="0" rIns="0" bIns="0" rtlCol="0" anchor="t"/>
          <a:lstStyle/>
          <a:p>
            <a:pPr indent="0" marL="0">
              <a:buNone/>
            </a:pPr>
            <a:r>
              <a:rPr lang="en-US" sz="2000" b="1" dirty="0">
                <a:solidFill>
                  <a:schemeClr val="tx1"/>
                </a:solidFill>
              </a:rPr>
              <a:t>Broad rules are easy, but open</a:t>
            </a:r>
            <a:endParaRPr lang="en-US" sz="1600" dirty="0"/>
          </a:p>
          <a:p>
            <a:pPr indent="0" marL="0">
              <a:buNone/>
            </a:pPr>
            <a:r>
              <a:rPr lang="en-US" sz="1600" dirty="0">
                <a:solidFill>
                  <a:schemeClr val="tx1"/>
                </a:solidFill>
              </a:rPr>
              <a:t>Most small networks let every department reach every server. One router ACL can close those paths.</a:t>
            </a:r>
            <a:endParaRPr lang="en-US" sz="1600" dirty="0"/>
          </a:p>
          <a:p>
            <a:pPr indent="0" marL="0">
              <a:buNone/>
            </a:pPr>
            <a:r>
              <a:rPr lang="en-US" sz="1600" dirty="0">
                <a:solidFill>
                  <a:schemeClr val="tx1"/>
                </a:solidFill>
              </a:rPr>
              <a:t> </a:t>
            </a:r>
            <a:endParaRPr lang="en-US" sz="1600" dirty="0"/>
          </a:p>
          <a:p>
            <a:pPr indent="0" marL="0">
              <a:buNone/>
            </a:pPr>
            <a:r>
              <a:rPr lang="en-US" sz="2000" b="1" dirty="0">
                <a:solidFill>
                  <a:schemeClr val="tx1"/>
                </a:solidFill>
              </a:rPr>
              <a:t>Strict rules are safe, but costly</a:t>
            </a:r>
            <a:endParaRPr lang="en-US" sz="1600" dirty="0"/>
          </a:p>
          <a:p>
            <a:pPr indent="0" marL="0">
              <a:buNone/>
            </a:pPr>
            <a:r>
              <a:rPr lang="en-US" sz="1600" dirty="0">
                <a:solidFill>
                  <a:schemeClr val="tx1"/>
                </a:solidFill>
              </a:rPr>
              <a:t>Each step towards least privilege adds rules, conditions and dependence on rule order, which the literature links to configuration errors.</a:t>
            </a:r>
            <a:endParaRPr lang="en-US" sz="1600" dirty="0"/>
          </a:p>
        </p:txBody>
      </p:sp>
      <p:sp>
        <p:nvSpPr>
          <p:cNvPr id="5" name="Text 3"/>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6" name="Text 4"/>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7" name="pill4"/>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8" name="Text 6"/>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9" name="pill5"/>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0" name="Text 8"/>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1" name="Text 9"/>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6"/>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num0"/>
          <p:cNvSpPr/>
          <p:nvPr/>
        </p:nvSpPr>
        <p:spPr>
          <a:xfrm>
            <a:off x="777240" y="1645920"/>
            <a:ext cx="502920" cy="502920"/>
          </a:xfrm>
          <a:prstGeom prst="ellipse">
            <a:avLst/>
          </a:prstGeom>
          <a:solidFill>
            <a:schemeClr val="tx2"/>
          </a:solidFill>
          <a:ln w="12700">
            <a:solidFill>
              <a:schemeClr val="tx2"/>
            </a:solidFill>
            <a:prstDash val="solid"/>
          </a:ln>
        </p:spPr>
      </p:sp>
      <p:sp>
        <p:nvSpPr>
          <p:cNvPr id="5" name="Text 3"/>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5"/>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Default deny at the boundary; inside often trusted</a:t>
            </a:r>
            <a:endParaRPr lang="en-US" sz="1400" dirty="0"/>
          </a:p>
        </p:txBody>
      </p:sp>
      <p:sp>
        <p:nvSpPr>
          <p:cNvPr id="8" name="Text 6"/>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7"/>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num1"/>
          <p:cNvSpPr/>
          <p:nvPr/>
        </p:nvSpPr>
        <p:spPr>
          <a:xfrm>
            <a:off x="4544568" y="1645920"/>
            <a:ext cx="502920" cy="502920"/>
          </a:xfrm>
          <a:prstGeom prst="ellipse">
            <a:avLst/>
          </a:prstGeom>
          <a:solidFill>
            <a:schemeClr val="tx2"/>
          </a:solidFill>
          <a:ln w="12700">
            <a:solidFill>
              <a:schemeClr val="tx2"/>
            </a:solidFill>
            <a:prstDash val="solid"/>
          </a:ln>
        </p:spPr>
      </p:sp>
      <p:sp>
        <p:nvSpPr>
          <p:cNvPr id="11" name="Text 9"/>
          <p:cNvSpPr txBox="1"/>
          <p:nvPr/>
        </p:nvSpPr>
        <p:spPr>
          <a:xfrm>
            <a:off x="4544568"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11"/>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First-match order causes shadowing and redundancy</a:t>
            </a:r>
            <a:endParaRPr lang="en-US" sz="1400" dirty="0"/>
          </a:p>
        </p:txBody>
      </p:sp>
      <p:sp>
        <p:nvSpPr>
          <p:cNvPr id="14" name="Text 12"/>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8"/>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num2"/>
          <p:cNvSpPr/>
          <p:nvPr/>
        </p:nvSpPr>
        <p:spPr>
          <a:xfrm>
            <a:off x="8311896" y="1645920"/>
            <a:ext cx="502920" cy="502920"/>
          </a:xfrm>
          <a:prstGeom prst="ellipse">
            <a:avLst/>
          </a:prstGeom>
          <a:solidFill>
            <a:schemeClr val="tx2"/>
          </a:solidFill>
          <a:ln w="12700">
            <a:solidFill>
              <a:schemeClr val="tx2"/>
            </a:solidFill>
            <a:prstDash val="solid"/>
          </a:ln>
        </p:spPr>
      </p:sp>
      <p:sp>
        <p:nvSpPr>
          <p:cNvPr id="17" name="Text 15"/>
          <p:cNvSpPr txBox="1"/>
          <p:nvPr/>
        </p:nvSpPr>
        <p:spPr>
          <a:xfrm>
            <a:off x="8311896"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7"/>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Real rule sets are often wrong; complexity tracks risk</a:t>
            </a:r>
            <a:endParaRPr lang="en-US" sz="1400" dirty="0"/>
          </a:p>
        </p:txBody>
      </p:sp>
      <p:sp>
        <p:nvSpPr>
          <p:cNvPr id="20" name="Text 18"/>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9"/>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num3"/>
          <p:cNvSpPr/>
          <p:nvPr/>
        </p:nvSpPr>
        <p:spPr>
          <a:xfrm>
            <a:off x="2660904" y="4023360"/>
            <a:ext cx="502920" cy="502920"/>
          </a:xfrm>
          <a:prstGeom prst="ellipse">
            <a:avLst/>
          </a:prstGeom>
          <a:solidFill>
            <a:schemeClr val="tx2"/>
          </a:solidFill>
          <a:ln w="12700">
            <a:solidFill>
              <a:schemeClr val="tx2"/>
            </a:solidFill>
            <a:prstDash val="solid"/>
          </a:ln>
        </p:spPr>
      </p:sp>
      <p:sp>
        <p:nvSpPr>
          <p:cNvPr id="23" name="Text 21"/>
          <p:cNvSpPr txBox="1"/>
          <p:nvPr/>
        </p:nvSpPr>
        <p:spPr>
          <a:xfrm>
            <a:off x="2660904"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23"/>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400" dirty="0">
                <a:solidFill>
                  <a:schemeClr val="tx2"/>
                </a:solidFill>
              </a:rPr>
              <a:t>No trust from location; segment to limit lateral movement</a:t>
            </a:r>
            <a:endParaRPr lang="en-US" sz="1400" dirty="0"/>
          </a:p>
        </p:txBody>
      </p:sp>
      <p:sp>
        <p:nvSpPr>
          <p:cNvPr id="26" name="Text 24"/>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10"/>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num4"/>
          <p:cNvSpPr/>
          <p:nvPr/>
        </p:nvSpPr>
        <p:spPr>
          <a:xfrm>
            <a:off x="6428232" y="4023360"/>
            <a:ext cx="502920" cy="502920"/>
          </a:xfrm>
          <a:prstGeom prst="ellipse">
            <a:avLst/>
          </a:prstGeom>
          <a:solidFill>
            <a:schemeClr val="tx2"/>
          </a:solidFill>
          <a:ln w="12700">
            <a:solidFill>
              <a:schemeClr val="tx2"/>
            </a:solidFill>
            <a:prstDash val="solid"/>
          </a:ln>
        </p:spPr>
      </p:sp>
      <p:sp>
        <p:nvSpPr>
          <p:cNvPr id="29" name="Text 27"/>
          <p:cNvSpPr txBox="1"/>
          <p:nvPr/>
        </p:nvSpPr>
        <p:spPr>
          <a:xfrm>
            <a:off x="6428232"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9"/>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400" dirty="0">
                <a:solidFill>
                  <a:schemeClr val="tx2"/>
                </a:solidFill>
              </a:rPr>
              <a:t>Detect or prevent anomalies; usability rarely tested</a:t>
            </a:r>
            <a:endParaRPr lang="en-US" sz="1400" dirty="0"/>
          </a:p>
        </p:txBody>
      </p:sp>
      <p:sp>
        <p:nvSpPr>
          <p:cNvPr id="32" name="Text 30"/>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11"/>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600" dirty="0">
                <a:solidFill>
                  <a:schemeClr val="tx1"/>
                </a:solidFill>
              </a:rPr>
              <a:t>Empirical data on misconfiguration are dated and from few sources</a:t>
            </a:r>
            <a:endParaRPr lang="en-US" sz="1600" dirty="0"/>
          </a:p>
        </p:txBody>
      </p:sp>
      <p:sp>
        <p:nvSpPr>
          <p:cNvPr id="6" name="card12"/>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600" dirty="0">
                <a:solidFill>
                  <a:schemeClr val="tx1"/>
                </a:solidFill>
              </a:rPr>
              <a:t>Unnecessary access is rarely measured against written requirements</a:t>
            </a:r>
            <a:endParaRPr lang="en-US" sz="1600" dirty="0"/>
          </a:p>
        </p:txBody>
      </p:sp>
      <p:sp>
        <p:nvSpPr>
          <p:cNvPr id="9" name="card13"/>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600" dirty="0">
                <a:solidFill>
                  <a:schemeClr val="tx1"/>
                </a:solidFill>
              </a:rPr>
              <a:t>Security gain and management cost are seldom measured on the same policy</a:t>
            </a:r>
            <a:endParaRPr lang="en-US" sz="1600" dirty="0"/>
          </a:p>
        </p:txBody>
      </p:sp>
      <p:sp>
        <p:nvSpPr>
          <p:cNvPr id="12" name="card14"/>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600" dirty="0">
                <a:solidFill>
                  <a:schemeClr val="tx1"/>
                </a:solidFill>
              </a:rPr>
              <a:t>Management tools are seldom evaluated with real users</a:t>
            </a:r>
            <a:endParaRPr lang="en-US" sz="1600" dirty="0"/>
          </a:p>
        </p:txBody>
      </p:sp>
      <p:sp>
        <p:nvSpPr>
          <p:cNvPr id="15" name="card15"/>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16"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17"/>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18"/>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19"/>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20"/>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21"/>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22"/>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23"/>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24"/>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sp>
        <p:nvSpPr>
          <p:cNvPr id="7" name="Text 5"/>
          <p:cNvSpPr txBox="1"/>
          <p:nvPr/>
        </p:nvSpPr>
        <p:spPr>
          <a:xfrm>
            <a:off x="2606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8" name="card25"/>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8"/>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9"/>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sp>
        <p:nvSpPr>
          <p:cNvPr id="12" name="Text 10"/>
          <p:cNvSpPr txBox="1"/>
          <p:nvPr/>
        </p:nvSpPr>
        <p:spPr>
          <a:xfrm>
            <a:off x="4892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13" name="card26"/>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3"/>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4"/>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sp>
        <p:nvSpPr>
          <p:cNvPr id="17" name="Text 15"/>
          <p:cNvSpPr txBox="1"/>
          <p:nvPr/>
        </p:nvSpPr>
        <p:spPr>
          <a:xfrm>
            <a:off x="7178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18" name="card27"/>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8"/>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9"/>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sp>
        <p:nvSpPr>
          <p:cNvPr id="22" name="Text 20"/>
          <p:cNvSpPr txBox="1"/>
          <p:nvPr/>
        </p:nvSpPr>
        <p:spPr>
          <a:xfrm>
            <a:off x="9464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23" name="card28"/>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23"/>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4"/>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29"/>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6"/>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30"/>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31"/>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32"/>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33"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34"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35"/>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36"/>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37"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38"/>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39"/>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4846320" cy="457200"/>
          </a:xfrm>
          <a:prstGeom prst="rect">
            <a:avLst/>
          </a:prstGeom>
          <a:noFill/>
          <a:ln/>
        </p:spPr>
        <p:txBody>
          <a:bodyPr wrap="square" lIns="0" tIns="0" rIns="0" bIns="0" rtlCol="0" anchor="t"/>
          <a:lstStyle/>
          <a:p>
            <a:pPr indent="0" marL="0">
              <a:buNone/>
            </a:pPr>
            <a:r>
              <a:rPr lang="en-US" sz="1900" b="1" dirty="0">
                <a:solidFill>
                  <a:schemeClr val="tx2"/>
                </a:solidFill>
              </a:rPr>
              <a:t>Two locks, two symptoms</a:t>
            </a:r>
            <a:endParaRPr lang="en-US" sz="1900" dirty="0"/>
          </a:p>
        </p:txBody>
      </p:sp>
      <p:sp>
        <p:nvSpPr>
          <p:cNvPr id="5" name="Text 3"/>
          <p:cNvSpPr txBox="1"/>
          <p:nvPr/>
        </p:nvSpPr>
        <p:spPr>
          <a:xfrm>
            <a:off x="822960" y="2148840"/>
            <a:ext cx="4892040" cy="1280160"/>
          </a:xfrm>
          <a:prstGeom prst="rect">
            <a:avLst/>
          </a:prstGeom>
          <a:noFill/>
          <a:ln/>
        </p:spPr>
        <p:txBody>
          <a:bodyPr wrap="square" lIns="0" tIns="0" rIns="0" bIns="0" rtlCol="0" anchor="t"/>
          <a:lstStyle/>
          <a:p>
            <a:pPr indent="0" marL="0">
              <a:buNone/>
            </a:pPr>
            <a:r>
              <a:rPr lang="en-US" sz="1500" dirty="0">
                <a:solidFill>
                  <a:schemeClr val="tx1"/>
                </a:solidFill>
              </a:rPr>
              <a:t>In Stage 2, Sales SSH to 192.168.40.1 timed out (interface ACL) while SSH to 192.168.50.1 was refused (router login rule): one goal, enforced in two places.</a:t>
            </a:r>
            <a:endParaRPr lang="en-US" sz="1500" dirty="0"/>
          </a:p>
        </p:txBody>
      </p:sp>
      <p:sp>
        <p:nvSpPr>
          <p:cNvPr id="6" name="card40"/>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446520" y="1600200"/>
            <a:ext cx="4846320" cy="457200"/>
          </a:xfrm>
          <a:prstGeom prst="rect">
            <a:avLst/>
          </a:prstGeom>
          <a:noFill/>
          <a:ln/>
        </p:spPr>
        <p:txBody>
          <a:bodyPr wrap="square" lIns="0" tIns="0" rIns="0" bIns="0" rtlCol="0" anchor="t"/>
          <a:lstStyle/>
          <a:p>
            <a:pPr indent="0" marL="0">
              <a:buNone/>
            </a:pPr>
            <a:r>
              <a:rPr lang="en-US" sz="1900" b="1" dirty="0">
                <a:solidFill>
                  <a:schemeClr val="tx2"/>
                </a:solidFill>
              </a:rPr>
              <a:t>Rule count can mislead</a:t>
            </a:r>
            <a:endParaRPr lang="en-US" sz="1900" dirty="0"/>
          </a:p>
        </p:txBody>
      </p:sp>
      <p:sp>
        <p:nvSpPr>
          <p:cNvPr id="8" name="Text 6"/>
          <p:cNvSpPr txBox="1"/>
          <p:nvPr/>
        </p:nvSpPr>
        <p:spPr>
          <a:xfrm>
            <a:off x="6446520" y="2148840"/>
            <a:ext cx="4892040" cy="1280160"/>
          </a:xfrm>
          <a:prstGeom prst="rect">
            <a:avLst/>
          </a:prstGeom>
          <a:noFill/>
          <a:ln/>
        </p:spPr>
        <p:txBody>
          <a:bodyPr wrap="square" lIns="0" tIns="0" rIns="0" bIns="0" rtlCol="0" anchor="t"/>
          <a:lstStyle/>
          <a:p>
            <a:pPr indent="0" marL="0">
              <a:buNone/>
            </a:pPr>
            <a:r>
              <a:rPr lang="en-US" sz="1500" dirty="0">
                <a:solidFill>
                  <a:schemeClr val="tx1"/>
                </a:solidFill>
              </a:rPr>
              <a:t>The Stage 3 edge ACL is the strictest but has the fewest entries (6 → 6 → 5).</a:t>
            </a:r>
            <a:endParaRPr lang="en-US" sz="1500" dirty="0"/>
          </a:p>
        </p:txBody>
      </p:sp>
      <p:sp>
        <p:nvSpPr>
          <p:cNvPr id="9" name="card41"/>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22960" y="3977640"/>
            <a:ext cx="4846320" cy="457200"/>
          </a:xfrm>
          <a:prstGeom prst="rect">
            <a:avLst/>
          </a:prstGeom>
          <a:noFill/>
          <a:ln/>
        </p:spPr>
        <p:txBody>
          <a:bodyPr wrap="square" lIns="0" tIns="0" rIns="0" bIns="0" rtlCol="0" anchor="t"/>
          <a:lstStyle/>
          <a:p>
            <a:pPr indent="0" marL="0">
              <a:buNone/>
            </a:pPr>
            <a:r>
              <a:rPr lang="en-US" sz="1900" b="1" dirty="0">
                <a:solidFill>
                  <a:schemeClr val="tx2"/>
                </a:solidFill>
              </a:rPr>
              <a:t>Same-VLAN traffic</a:t>
            </a:r>
            <a:endParaRPr lang="en-US" sz="1900" dirty="0"/>
          </a:p>
        </p:txBody>
      </p:sp>
      <p:sp>
        <p:nvSpPr>
          <p:cNvPr id="11" name="Text 9"/>
          <p:cNvSpPr txBox="1"/>
          <p:nvPr/>
        </p:nvSpPr>
        <p:spPr>
          <a:xfrm>
            <a:off x="822960" y="4526280"/>
            <a:ext cx="4892040" cy="1280160"/>
          </a:xfrm>
          <a:prstGeom prst="rect">
            <a:avLst/>
          </a:prstGeom>
          <a:noFill/>
          <a:ln/>
        </p:spPr>
        <p:txBody>
          <a:bodyPr wrap="square" lIns="0" tIns="0" rIns="0" bIns="0" rtlCol="0" anchor="t"/>
          <a:lstStyle/>
          <a:p>
            <a:pPr indent="0" marL="0">
              <a:buNone/>
            </a:pPr>
            <a:r>
              <a:rPr lang="en-US" sz="1500" dirty="0">
                <a:solidFill>
                  <a:schemeClr val="tx1"/>
                </a:solidFill>
              </a:rPr>
              <a:t>HR-PC1 always reached HR-PC2: traffic inside a VLAN never passes the router, so no router ACL can filter it.</a:t>
            </a:r>
            <a:endParaRPr lang="en-US" sz="1500" dirty="0"/>
          </a:p>
        </p:txBody>
      </p:sp>
      <p:sp>
        <p:nvSpPr>
          <p:cNvPr id="12" name="card42"/>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446520" y="3977640"/>
            <a:ext cx="4846320" cy="457200"/>
          </a:xfrm>
          <a:prstGeom prst="rect">
            <a:avLst/>
          </a:prstGeom>
          <a:noFill/>
          <a:ln/>
        </p:spPr>
        <p:txBody>
          <a:bodyPr wrap="square" lIns="0" tIns="0" rIns="0" bIns="0" rtlCol="0" anchor="t"/>
          <a:lstStyle/>
          <a:p>
            <a:pPr indent="0" marL="0">
              <a:buNone/>
            </a:pPr>
            <a:r>
              <a:rPr lang="en-US" sz="1900" b="1" dirty="0">
                <a:solidFill>
                  <a:schemeClr val="tx2"/>
                </a:solidFill>
              </a:rPr>
              <a:t>Build issues fixed</a:t>
            </a:r>
            <a:endParaRPr lang="en-US" sz="1900" dirty="0"/>
          </a:p>
        </p:txBody>
      </p:sp>
      <p:sp>
        <p:nvSpPr>
          <p:cNvPr id="14" name="Text 12"/>
          <p:cNvSpPr txBox="1"/>
          <p:nvPr/>
        </p:nvSpPr>
        <p:spPr>
          <a:xfrm>
            <a:off x="6446520" y="4526280"/>
            <a:ext cx="4892040" cy="1280160"/>
          </a:xfrm>
          <a:prstGeom prst="rect">
            <a:avLst/>
          </a:prstGeom>
          <a:noFill/>
          <a:ln/>
        </p:spPr>
        <p:txBody>
          <a:bodyPr wrap="square" lIns="0" tIns="0" rIns="0" bIns="0" rtlCol="0" anchor="t"/>
          <a:lstStyle/>
          <a:p>
            <a:pPr indent="0" marL="0">
              <a:buNone/>
            </a:pPr>
            <a:r>
              <a:rPr lang="en-US" sz="1500" dirty="0">
                <a:solidFill>
                  <a:schemeClr val="tx1"/>
                </a:solidFill>
              </a:rPr>
              <a:t>A duplicate IP on R-CORE and wrong server addresses were found in Stage 0 and corrected before testing.</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43"/>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Small scale</a:t>
            </a:r>
            <a:endParaRPr lang="en-US" sz="1900" dirty="0"/>
          </a:p>
        </p:txBody>
      </p:sp>
      <p:sp>
        <p:nvSpPr>
          <p:cNvPr id="5" name="Text 3"/>
          <p:cNvSpPr txBox="1"/>
          <p:nvPr/>
        </p:nvSpPr>
        <p:spPr>
          <a:xfrm>
            <a:off x="822960"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19 devices and 40 rules, versus large real rule sets</a:t>
            </a:r>
            <a:endParaRPr lang="en-US" sz="1500" dirty="0"/>
          </a:p>
        </p:txBody>
      </p:sp>
      <p:sp>
        <p:nvSpPr>
          <p:cNvPr id="6" name="card44"/>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4590288"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Evidence gaps</a:t>
            </a:r>
            <a:endParaRPr lang="en-US" sz="1900" dirty="0"/>
          </a:p>
        </p:txBody>
      </p:sp>
      <p:sp>
        <p:nvSpPr>
          <p:cNvPr id="8" name="Text 6"/>
          <p:cNvSpPr txBox="1"/>
          <p:nvPr/>
        </p:nvSpPr>
        <p:spPr>
          <a:xfrm>
            <a:off x="4590288"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Screenshots for 17 tests in Stage 0, 4 in Stage 1, 14 in Stage 2, 7 in Stage 3</a:t>
            </a:r>
            <a:endParaRPr lang="en-US" sz="1500" dirty="0"/>
          </a:p>
        </p:txBody>
      </p:sp>
      <p:sp>
        <p:nvSpPr>
          <p:cNvPr id="9" name="card45"/>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357616"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Not Zero Trust</a:t>
            </a:r>
            <a:endParaRPr lang="en-US" sz="1900" dirty="0"/>
          </a:p>
        </p:txBody>
      </p:sp>
      <p:sp>
        <p:nvSpPr>
          <p:cNvPr id="11" name="Text 9"/>
          <p:cNvSpPr txBox="1"/>
          <p:nvPr/>
        </p:nvSpPr>
        <p:spPr>
          <a:xfrm>
            <a:off x="8357616"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ACLs see addresses and ports, never user or device identity</a:t>
            </a:r>
            <a:endParaRPr lang="en-US" sz="1500" dirty="0"/>
          </a:p>
        </p:txBody>
      </p:sp>
      <p:sp>
        <p:nvSpPr>
          <p:cNvPr id="12" name="card46"/>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22960"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Simulator models</a:t>
            </a:r>
            <a:endParaRPr lang="en-US" sz="1900" dirty="0"/>
          </a:p>
        </p:txBody>
      </p:sp>
      <p:sp>
        <p:nvSpPr>
          <p:cNvPr id="14" name="Text 12"/>
          <p:cNvSpPr txBox="1"/>
          <p:nvPr/>
        </p:nvSpPr>
        <p:spPr>
          <a:xfrm>
            <a:off x="822960"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FTP stands in for a database; no NAT, logging or attack traffic</a:t>
            </a:r>
            <a:endParaRPr lang="en-US" sz="1500" dirty="0"/>
          </a:p>
        </p:txBody>
      </p:sp>
      <p:sp>
        <p:nvSpPr>
          <p:cNvPr id="15" name="card47"/>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590288"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Not run</a:t>
            </a:r>
            <a:endParaRPr lang="en-US" sz="1900" dirty="0"/>
          </a:p>
        </p:txBody>
      </p:sp>
      <p:sp>
        <p:nvSpPr>
          <p:cNvPr id="17" name="Text 15"/>
          <p:cNvSpPr txBox="1"/>
          <p:nvPr/>
        </p:nvSpPr>
        <p:spPr>
          <a:xfrm>
            <a:off x="4590288"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Misconfiguration experiments M1 and M2; zero-hit and line-change metrics</a:t>
            </a:r>
            <a:endParaRPr lang="en-US" sz="1500" dirty="0"/>
          </a:p>
        </p:txBody>
      </p:sp>
      <p:sp>
        <p:nvSpPr>
          <p:cNvPr id="18" name="card48"/>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8357616"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Stateless filter</a:t>
            </a:r>
            <a:endParaRPr lang="en-US" sz="1900" dirty="0"/>
          </a:p>
        </p:txBody>
      </p:sp>
      <p:sp>
        <p:nvSpPr>
          <p:cNvPr id="20" name="Text 18"/>
          <p:cNvSpPr txBox="1"/>
          <p:nvPr/>
        </p:nvSpPr>
        <p:spPr>
          <a:xfrm>
            <a:off x="8357616"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established accepts any TCP segment with ACK or RST set</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cdot0"/>
          <p:cNvSpPr/>
          <p:nvPr/>
        </p:nvSpPr>
        <p:spPr>
          <a:xfrm>
            <a:off x="640080" y="1737360"/>
            <a:ext cx="548640" cy="548640"/>
          </a:xfrm>
          <a:prstGeom prst="ellipse">
            <a:avLst/>
          </a:prstGeom>
          <a:solidFill>
            <a:srgbClr val="1E8E5A"/>
          </a:solidFill>
          <a:ln w="12700">
            <a:solidFill>
              <a:srgbClr val="1E8E5A"/>
            </a:solidFill>
            <a:prstDash val="solid"/>
          </a:ln>
        </p:spPr>
      </p:sp>
      <p:sp>
        <p:nvSpPr>
          <p:cNvPr id="4"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5"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6" name="cdot1"/>
          <p:cNvSpPr/>
          <p:nvPr/>
        </p:nvSpPr>
        <p:spPr>
          <a:xfrm>
            <a:off x="4389120" y="1737360"/>
            <a:ext cx="548640" cy="548640"/>
          </a:xfrm>
          <a:prstGeom prst="ellipse">
            <a:avLst/>
          </a:prstGeom>
          <a:solidFill>
            <a:srgbClr val="E09F3E"/>
          </a:solidFill>
          <a:ln w="12700">
            <a:solidFill>
              <a:srgbClr val="E09F3E"/>
            </a:solidFill>
            <a:prstDash val="solid"/>
          </a:ln>
        </p:spPr>
      </p:sp>
      <p:sp>
        <p:nvSpPr>
          <p:cNvPr id="7"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8"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9" name="cdot2"/>
          <p:cNvSpPr/>
          <p:nvPr/>
        </p:nvSpPr>
        <p:spPr>
          <a:xfrm>
            <a:off x="8138160" y="1737360"/>
            <a:ext cx="548640" cy="548640"/>
          </a:xfrm>
          <a:prstGeom prst="ellipse">
            <a:avLst/>
          </a:prstGeom>
          <a:solidFill>
            <a:srgbClr val="C0392B"/>
          </a:solidFill>
          <a:ln w="12700">
            <a:solidFill>
              <a:srgbClr val="C0392B"/>
            </a:solidFill>
            <a:prstDash val="solid"/>
          </a:ln>
        </p:spPr>
      </p:sp>
      <p:sp>
        <p:nvSpPr>
          <p:cNvPr id="10"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1"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2"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3"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2026-10-24T16:47:31Z</dcterms:created>
  <dcterms:modified xsi:type="dcterms:W3CDTF">2026-10-24T16:47:31Z</dcterms:modified>
</cp:coreProperties>
</file>
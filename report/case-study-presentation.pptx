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829d6b9-3800-605a-a47e-60119619995e}">
          <p14:sldIdLst>
            <p14:sldId id="256"/>
            <p14:sldId id="257"/>
            <p14:sldId id="258"/>
            <p14:sldId id="259"/>
          </p14:sldIdLst>
        </p14:section>
        <p14:section name="Part A: Literature" id="{83c8915b-514e-ed61-c923-8ba442e8991e}">
          <p14:sldIdLst>
            <p14:sldId id="260"/>
            <p14:sldId id="261"/>
          </p14:sldIdLst>
        </p14:section>
        <p14:section name="Part B: Design" id="{1d737a47-ff93-a9eb-f675-e9b9cce3e2b8}">
          <p14:sldIdLst>
            <p14:sldId id="262"/>
            <p14:sldId id="263"/>
            <p14:sldId id="264"/>
            <p14:sldId id="265"/>
            <p14:sldId id="266"/>
          </p14:sldIdLst>
        </p14:section>
        <p14:section name="Part B: Results" id="{78819f33-309c-f459-b13c-b2a0324d0bd2}">
          <p14:sldIdLst>
            <p14:sldId id="267"/>
            <p14:sldId id="268"/>
            <p14:sldId id="269"/>
            <p14:sldId id="270"/>
            <p14:sldId id="271"/>
            <p14:sldId id="272"/>
            <p14:sldId id="273"/>
            <p14:sldId id="274"/>
          </p14:sldIdLst>
        </p14:section>
        <p14:section name="Part C and conclusion" id="{558aa6e0-1ac7-6812-70c3-d209bc56b5a8}">
          <p14:sldIdLst>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E252E"/>
                </a:solidFill>
                <a:latin typeface="+mj-lt"/>
              </a:defRPr>
            </a:pPr>
            <a:r>
              <a:rPr sz="1600" b="0" i="0" u="none" strike="noStrike">
                <a:solidFill>
                  <a:srgbClr val="1E252E"/>
                </a:solidFill>
                <a:latin typeface="+mj-lt"/>
              </a:rPr>
              <a:t>Policy cost (from configurations)</a:t>
            </a:r>
          </a:p>
        </c:rich>
      </c:tx>
      <c:layout/>
      <c:overlay val="0"/>
    </c:title>
    <c:autoTitleDeleted val="0"/>
    <c:plotArea>
      <c:layout/>
      <c:barChart>
        <c:barDir val="col"/>
        <c:grouping val="clustered"/>
        <c:varyColors val="0"/>
        <c:ser>
          <c:idx val="0"/>
          <c:order val="0"/>
          <c:tx>
            <c:strRef>
              <c:f>Sheet1!$B$1</c:f>
              <c:strCache>
                <c:ptCount val="1"/>
                <c:pt idx="0">
                  <c:v>Explicit ACL entries</c:v>
                </c:pt>
              </c:strCache>
            </c:strRef>
          </c:tx>
          <c:spPr>
            <a:solidFill>
              <a:srgbClr val="1E252E"/>
            </a:solidFill>
            <a:effectLst/>
          </c:spPr>
          <c:invertIfNegative val="0"/>
          <c:dLbls>
            <c:numFmt formatCode="#,##0" sourceLinked="0"/>
            <c:txPr>
              <a:bodyPr/>
              <a:lstStyle/>
              <a:p>
                <a:pPr>
                  <a:defRPr b="0" i="0" strike="noStrike" sz="1300" u="none">
                    <a:solidFill>
                      <a:srgbClr val="1E252E"/>
                    </a:solidFill>
                    <a:latin typeface="+mn-lt"/>
                  </a:defRPr>
                </a:pPr>
              </a:p>
            </c:txPr>
            <c:showLegendKey val="0"/>
            <c:showVal val="1"/>
            <c:showCatName val="0"/>
            <c:showSerName val="0"/>
            <c:showPercent val="0"/>
            <c:showBubbleSize val="0"/>
            <c:showLeaderLines val="0"/>
          </c:dLbls>
          <c:cat>
            <c:multiLvlStrRef>
              <c:f>Sheet1!$A$2:$A$4</c:f>
              <c:multiLvlStrCache>
                <c:ptCount val="3"/>
                <c:lvl>
                  <c:pt idx="0">
                    <c:v>Stage 1</c:v>
                  </c:pt>
                  <c:pt idx="1">
                    <c:v>Stage 2</c:v>
                  </c:pt>
                  <c:pt idx="2">
                    <c:v>Stage 3</c:v>
                  </c:pt>
                </c:lvl>
              </c:multiLvlStrCache>
            </c:multiLvlStrRef>
          </c:cat>
          <c:val>
            <c:numRef>
              <c:f>Sheet1!$B$2:$B$4</c:f>
              <c:numCache>
                <c:formatCode>General</c:formatCode>
                <c:ptCount val="3"/>
                <c:pt idx="0">
                  <c:v>10</c:v>
                </c:pt>
                <c:pt idx="1">
                  <c:v>25</c:v>
                </c:pt>
                <c:pt idx="2">
                  <c:v>40</c:v>
                </c:pt>
              </c:numCache>
            </c:numRef>
          </c:val>
        </c:ser>
        <c:ser>
          <c:idx val="1"/>
          <c:order val="1"/>
          <c:tx>
            <c:strRef>
              <c:f>Sheet1!$C$1</c:f>
              <c:strCache>
                <c:ptCount val="1"/>
                <c:pt idx="0">
                  <c:v>Order-dependent rule pairs</c:v>
                </c:pt>
              </c:strCache>
            </c:strRef>
          </c:tx>
          <c:spPr>
            <a:solidFill>
              <a:srgbClr val="E09F3E"/>
            </a:solidFill>
            <a:effectLst/>
          </c:spPr>
          <c:invertIfNegative val="0"/>
          <c:dLbls>
            <c:numFmt formatCode="#,##0" sourceLinked="0"/>
            <c:txPr>
              <a:bodyPr/>
              <a:lstStyle/>
              <a:p>
                <a:pPr>
                  <a:defRPr b="0" i="0" strike="noStrike" sz="1300" u="none">
                    <a:solidFill>
                      <a:srgbClr val="1E252E"/>
                    </a:solidFill>
                    <a:latin typeface="+mn-lt"/>
                  </a:defRPr>
                </a:pPr>
              </a:p>
            </c:txPr>
            <c:showLegendKey val="0"/>
            <c:showVal val="1"/>
            <c:showCatName val="0"/>
            <c:showSerName val="0"/>
            <c:showPercent val="0"/>
            <c:showBubbleSize val="0"/>
            <c:showLeaderLines val="0"/>
          </c:dLbls>
          <c:cat>
            <c:multiLvlStrRef>
              <c:f>Sheet1!$A$2:$A$4</c:f>
              <c:multiLvlStrCache>
                <c:ptCount val="3"/>
                <c:lvl>
                  <c:pt idx="0">
                    <c:v>Stage 1</c:v>
                  </c:pt>
                  <c:pt idx="1">
                    <c:v>Stage 2</c:v>
                  </c:pt>
                  <c:pt idx="2">
                    <c:v>Stage 3</c:v>
                  </c:pt>
                </c:lvl>
              </c:multiLvlStrCache>
            </c:multiLvlStrRef>
          </c:cat>
          <c:val>
            <c:numRef>
              <c:f>Sheet1!$C$2:$C$4</c:f>
              <c:numCache>
                <c:formatCode>General</c:formatCode>
                <c:ptCount val="3"/>
                <c:pt idx="0">
                  <c:v>0</c:v>
                </c:pt>
                <c:pt idx="1">
                  <c:v>9</c:v>
                </c:pt>
                <c:pt idx="2">
                  <c:v>24</c:v>
                </c:pt>
              </c:numCache>
            </c:numRef>
          </c:val>
        </c:ser>
        <c:dLbls>
          <c:numFmt formatCode="#,##0" sourceLinked="0"/>
          <c:txPr>
            <a:bodyPr/>
            <a:lstStyle/>
            <a:p>
              <a:pPr>
                <a:defRPr b="0" i="0" strike="noStrike" sz="1300" u="none">
                  <a:solidFill>
                    <a:srgbClr val="1E25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D5DB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how firewall/ACL policy changes as we move from simple, broad rules to least-privilege rules, and what that costs in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the assignment has a review paper (Part A), a Packet Tracer case study (Part B) and an alignment note (Part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studies rarely measure the security gained and the management cost on the same policy as it is refined. We do that on a small simulated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 (the misconfiguration experiments) was designed but not run in the time available; we say so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themes from 18 sources (10 peer-reviewed). They agree misconfiguration is common, rule order hides conflicts and location-based trust is weak. They disagree on whether finer policy lowers net risk once complexity is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 3 is the one our case study addresses on a small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Router-on-a-stick core router holds all internal ACLs; edge router holds the Internet filter. Same seven enforcement points in every stage, only the rules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Stage 2 and Stage 3 rule traces back to one of these requirements. FTP stands in for a database because Packet Tracer servers have no database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stage is applied on top of the previous one in the same Packet Tracer network. Rule counts are as configured (one Stage 1 edge line was rejected by Packet Tracer).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names: HR = 192.168.10.0/24. The full ACLs are in Appendix B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with no screenshot is marked not evidenced and left out of every count; we never assume an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shows a Sales PC logging in to the core router by SSH and Telnet: forbidden later, allowed here because no rules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 policy only filters the Internet edge. One edge line (time-exceeded) was rejected by Packet Tracer, so Stage 1 has 10 rules instead of the planned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blocks department-to-department traffic, but each department can still reach the whole server zone, so 4 of 8 forbidden flows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 7 of the report in colour. Read across a row to see a flow being closed as the policy is refined, for example T07 and T10.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improved stage by stage while the rule count quadrupled and order-dependent pairs went from 0 to 24. Required flows: 2 of 2, 5 of 5, 3 of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department-level policy any Sales PC could still open the confidential HR site, simply because it is inside the network. Least privilege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design predicted this. It is the clearest example of the usability cost of a strict port-based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timeout versus refusal shows overlapping enforcement points, which makes policies harder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support default-deny and need-based access, and show concretely that location-based trust is too coarse.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counts describe only the tests with screenshot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item addresses a limitation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findings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clickable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clickable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are clickable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640080" y="3474720"/>
            <a:ext cx="10881360" cy="73152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ieeexplore.ieee.org/document/1306389" TargetMode="External"/><Relationship Id="rId2" Type="http://schemas.openxmlformats.org/officeDocument/2006/relationships/hyperlink" Target="https://arxiv.org/abs/0911.1240" TargetMode="External"/><Relationship Id="rId3" Type="http://schemas.openxmlformats.org/officeDocument/2006/relationships/hyperlink" Target="https://doi.org/10.6028/NIST.SP.800-41r1" TargetMode="External"/><Relationship Id="rId4" Type="http://schemas.openxmlformats.org/officeDocument/2006/relationships/hyperlink" Target="https://doi.org/10.6028/NIST.SP.800-207" TargetMode="External"/><Relationship Id="rId5" Type="http://schemas.openxmlformats.org/officeDocument/2006/relationships/hyperlink" Target="https://www.cs.virginia.edu/~evans/cs551/saltzer/" TargetMode="External"/><Relationship Id="rId6" Type="http://schemas.openxmlformats.org/officeDocument/2006/relationships/hyperlink" Target="https://www.rfc-editor.org/rfc/rfc2979" TargetMode="External"/><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i.org/10.17487/RFC2827" TargetMode="External"/><Relationship Id="rId2" Type="http://schemas.openxmlformats.org/officeDocument/2006/relationships/hyperlink" Target="https://www.usenix.org/publications/login/dec14/ward" TargetMode="External"/><Relationship Id="rId3" Type="http://schemas.openxmlformats.org/officeDocument/2006/relationships/hyperlink" Target="https://pure.kfupm.edu.sa/en/publications/discovery-of-policy-anomalies-in-distributed-firewalls/" TargetMode="External"/><Relationship Id="rId4" Type="http://schemas.openxmlformats.org/officeDocument/2006/relationships/hyperlink" Target="https://doi.org/10.1109/JSAC.2005.854119" TargetMode="External"/><Relationship Id="rId5" Type="http://schemas.openxmlformats.org/officeDocument/2006/relationships/hyperlink" Target="https://doi.org/10.1109/SP.2006.16" TargetMode="External"/><Relationship Id="rId6" Type="http://schemas.openxmlformats.org/officeDocument/2006/relationships/hyperlink" Target="https://ftp.math.utah.edu/pub/tex/bib/idx/compnetamsterdam2000/51/4/1106_1120.html" TargetMode="External"/><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doi.org/10.1145/3130876" TargetMode="External"/><Relationship Id="rId2" Type="http://schemas.openxmlformats.org/officeDocument/2006/relationships/hyperlink" Target="https://ieeexplore.ieee.org/document/9773102" TargetMode="External"/><Relationship Id="rId3" Type="http://schemas.openxmlformats.org/officeDocument/2006/relationships/hyperlink" Target="https://doi.org/10.6028/NIST.SP.800-215" TargetMode="External"/><Relationship Id="rId4" Type="http://schemas.openxmlformats.org/officeDocument/2006/relationships/hyperlink" Target="https://www.cisa.gov/resources-tools/resources/microsegmentation-zero-trust-part-one-introduction-and-planning" TargetMode="External"/><Relationship Id="rId5" Type="http://schemas.openxmlformats.org/officeDocument/2006/relationships/hyperlink" Target="https://doi.org/10.1145/1035582.1035583" TargetMode="External"/><Relationship Id="rId6" Type="http://schemas.openxmlformats.org/officeDocument/2006/relationships/hyperlink" Target="https://www.rfc-editor.org/rfc/rfc5737" TargetMode="External"/><Relationship Id="rId7" Type="http://schemas.openxmlformats.org/officeDocument/2006/relationships/slideLayout" Target="../slideLayouts/slideLayout3.xml"/><Relationship Id="rId8"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1737360"/>
          </a:xfrm>
          <a:prstGeom prst="rect">
            <a:avLst/>
          </a:prstGeom>
          <a:noFill/>
          <a:ln/>
        </p:spPr>
        <p:txBody>
          <a:bodyPr wrap="square" rtlCol="0" anchor="b"/>
          <a:lstStyle/>
          <a:p>
            <a:pPr indent="0" marL="0">
              <a:buNone/>
            </a:pPr>
            <a:r>
              <a:rPr lang="en-US" sz="4000" b="1" dirty="0">
                <a:solidFill>
                  <a:schemeClr val="bg1"/>
                </a:solidFill>
              </a:rPr>
              <a:t>Firewall Policy Complexity: From Simple ACLs to Least Privilege Network Access</a:t>
            </a:r>
            <a:endParaRPr lang="en-US" sz="4000" dirty="0"/>
          </a:p>
        </p:txBody>
      </p:sp>
      <p:sp>
        <p:nvSpPr>
          <p:cNvPr id="3" name="Text 0"/>
          <p:cNvSpPr/>
          <p:nvPr>
            <p:ph idx="101" type="body" hasCustomPrompt="1"/>
          </p:nvPr>
        </p:nvSpPr>
        <p:spPr>
          <a:xfrm>
            <a:off x="640080" y="3474720"/>
            <a:ext cx="10881360" cy="731520"/>
          </a:xfrm>
          <a:prstGeom prst="rect">
            <a:avLst/>
          </a:prstGeom>
          <a:noFill/>
          <a:ln/>
        </p:spPr>
        <p:txBody>
          <a:bodyPr wrap="square" rtlCol="0"/>
          <a:lstStyle/>
          <a:p>
            <a:pPr indent="0" marL="0">
              <a:buNone/>
            </a:pPr>
            <a:r>
              <a:rPr lang="en-US" sz="1800" dirty="0">
                <a:solidFill>
                  <a:schemeClr val="accent3"/>
                </a:solidFill>
              </a:rPr>
              <a:t>Team Ping of 5 · BACSE203 Computer Networks · Fall 2026 · Case Study (Topic 17)</a:t>
            </a:r>
            <a:endParaRPr lang="en-US" sz="1800" dirty="0"/>
          </a:p>
        </p:txBody>
      </p:sp>
      <p:sp>
        <p:nvSpPr>
          <p:cNvPr id="4" name="Text 2"/>
          <p:cNvSpPr txBox="1"/>
          <p:nvPr/>
        </p:nvSpPr>
        <p:spPr>
          <a:xfrm>
            <a:off x="640080" y="4937760"/>
            <a:ext cx="2103120" cy="731520"/>
          </a:xfrm>
          <a:prstGeom prst="rect">
            <a:avLst/>
          </a:prstGeom>
          <a:noFill/>
          <a:ln/>
        </p:spPr>
        <p:txBody>
          <a:bodyPr wrap="square" lIns="0" tIns="0" rIns="0" bIns="0" rtlCol="0" anchor="t"/>
          <a:lstStyle/>
          <a:p>
            <a:pPr indent="0" marL="0">
              <a:buNone/>
            </a:pPr>
            <a:r>
              <a:rPr lang="en-US" sz="1500" b="1" dirty="0">
                <a:solidFill>
                  <a:schemeClr val="bg1"/>
                </a:solidFill>
              </a:rPr>
              <a:t>Ramsrivathsan R</a:t>
            </a:r>
            <a:endParaRPr lang="en-US" sz="1500" dirty="0"/>
          </a:p>
          <a:p>
            <a:pPr indent="0" marL="0">
              <a:buNone/>
            </a:pPr>
            <a:r>
              <a:rPr lang="en-US" sz="1300" dirty="0">
                <a:solidFill>
                  <a:schemeClr val="accent6"/>
                </a:solidFill>
              </a:rPr>
              <a:t>25BCE2111</a:t>
            </a:r>
            <a:endParaRPr lang="en-US" sz="1500" dirty="0"/>
          </a:p>
        </p:txBody>
      </p:sp>
      <p:sp>
        <p:nvSpPr>
          <p:cNvPr id="5" name="Text 3"/>
          <p:cNvSpPr txBox="1"/>
          <p:nvPr/>
        </p:nvSpPr>
        <p:spPr>
          <a:xfrm>
            <a:off x="2852928" y="4937760"/>
            <a:ext cx="2103120" cy="731520"/>
          </a:xfrm>
          <a:prstGeom prst="rect">
            <a:avLst/>
          </a:prstGeom>
          <a:noFill/>
          <a:ln/>
        </p:spPr>
        <p:txBody>
          <a:bodyPr wrap="square" lIns="0" tIns="0" rIns="0" bIns="0" rtlCol="0" anchor="t"/>
          <a:lstStyle/>
          <a:p>
            <a:pPr indent="0" marL="0">
              <a:buNone/>
            </a:pPr>
            <a:r>
              <a:rPr lang="en-US" sz="1500" b="1" dirty="0">
                <a:solidFill>
                  <a:schemeClr val="bg1"/>
                </a:solidFill>
              </a:rPr>
              <a:t>S Darshan</a:t>
            </a:r>
            <a:endParaRPr lang="en-US" sz="1500" dirty="0"/>
          </a:p>
          <a:p>
            <a:pPr indent="0" marL="0">
              <a:buNone/>
            </a:pPr>
            <a:r>
              <a:rPr lang="en-US" sz="1300" dirty="0">
                <a:solidFill>
                  <a:schemeClr val="accent6"/>
                </a:solidFill>
              </a:rPr>
              <a:t>25BCE2883</a:t>
            </a:r>
            <a:endParaRPr lang="en-US" sz="1500" dirty="0"/>
          </a:p>
        </p:txBody>
      </p:sp>
      <p:sp>
        <p:nvSpPr>
          <p:cNvPr id="6" name="Text 4"/>
          <p:cNvSpPr txBox="1"/>
          <p:nvPr/>
        </p:nvSpPr>
        <p:spPr>
          <a:xfrm>
            <a:off x="5065776" y="4937760"/>
            <a:ext cx="2103120" cy="731520"/>
          </a:xfrm>
          <a:prstGeom prst="rect">
            <a:avLst/>
          </a:prstGeom>
          <a:noFill/>
          <a:ln/>
        </p:spPr>
        <p:txBody>
          <a:bodyPr wrap="square" lIns="0" tIns="0" rIns="0" bIns="0" rtlCol="0" anchor="t"/>
          <a:lstStyle/>
          <a:p>
            <a:pPr indent="0" marL="0">
              <a:buNone/>
            </a:pPr>
            <a:r>
              <a:rPr lang="en-US" sz="1500" b="1" dirty="0">
                <a:solidFill>
                  <a:schemeClr val="bg1"/>
                </a:solidFill>
              </a:rPr>
              <a:t>M B Adavan</a:t>
            </a:r>
            <a:endParaRPr lang="en-US" sz="1500" dirty="0"/>
          </a:p>
          <a:p>
            <a:pPr indent="0" marL="0">
              <a:buNone/>
            </a:pPr>
            <a:r>
              <a:rPr lang="en-US" sz="1300" dirty="0">
                <a:solidFill>
                  <a:schemeClr val="accent6"/>
                </a:solidFill>
              </a:rPr>
              <a:t>25BCE0063</a:t>
            </a:r>
            <a:endParaRPr lang="en-US" sz="1500" dirty="0"/>
          </a:p>
        </p:txBody>
      </p:sp>
      <p:sp>
        <p:nvSpPr>
          <p:cNvPr id="7" name="Text 5"/>
          <p:cNvSpPr txBox="1"/>
          <p:nvPr/>
        </p:nvSpPr>
        <p:spPr>
          <a:xfrm>
            <a:off x="7278624" y="4937760"/>
            <a:ext cx="2103120" cy="731520"/>
          </a:xfrm>
          <a:prstGeom prst="rect">
            <a:avLst/>
          </a:prstGeom>
          <a:noFill/>
          <a:ln/>
        </p:spPr>
        <p:txBody>
          <a:bodyPr wrap="square" lIns="0" tIns="0" rIns="0" bIns="0" rtlCol="0" anchor="t"/>
          <a:lstStyle/>
          <a:p>
            <a:pPr indent="0" marL="0">
              <a:buNone/>
            </a:pPr>
            <a:r>
              <a:rPr lang="en-US" sz="1500" b="1" dirty="0">
                <a:solidFill>
                  <a:schemeClr val="bg1"/>
                </a:solidFill>
              </a:rPr>
              <a:t>Naveen V S</a:t>
            </a:r>
            <a:endParaRPr lang="en-US" sz="1500" dirty="0"/>
          </a:p>
          <a:p>
            <a:pPr indent="0" marL="0">
              <a:buNone/>
            </a:pPr>
            <a:r>
              <a:rPr lang="en-US" sz="1300" dirty="0">
                <a:solidFill>
                  <a:schemeClr val="accent6"/>
                </a:solidFill>
              </a:rPr>
              <a:t>25BCE0059</a:t>
            </a:r>
            <a:endParaRPr lang="en-US" sz="1500" dirty="0"/>
          </a:p>
        </p:txBody>
      </p:sp>
      <p:sp>
        <p:nvSpPr>
          <p:cNvPr id="8" name="Text 6"/>
          <p:cNvSpPr txBox="1"/>
          <p:nvPr/>
        </p:nvSpPr>
        <p:spPr>
          <a:xfrm>
            <a:off x="9491472" y="4937760"/>
            <a:ext cx="2103120" cy="731520"/>
          </a:xfrm>
          <a:prstGeom prst="rect">
            <a:avLst/>
          </a:prstGeom>
          <a:noFill/>
          <a:ln/>
        </p:spPr>
        <p:txBody>
          <a:bodyPr wrap="square" lIns="0" tIns="0" rIns="0" bIns="0" rtlCol="0" anchor="t"/>
          <a:lstStyle/>
          <a:p>
            <a:pPr indent="0" marL="0">
              <a:buNone/>
            </a:pPr>
            <a:r>
              <a:rPr lang="en-US" sz="1500" b="1" dirty="0">
                <a:solidFill>
                  <a:schemeClr val="bg1"/>
                </a:solidFill>
              </a:rPr>
              <a:t>Himaneesh S</a:t>
            </a:r>
            <a:endParaRPr lang="en-US" sz="1500" dirty="0"/>
          </a:p>
          <a:p>
            <a:pPr indent="0" marL="0">
              <a:buNone/>
            </a:pPr>
            <a:r>
              <a:rPr lang="en-US" sz="1300" dirty="0">
                <a:solidFill>
                  <a:schemeClr val="accent6"/>
                </a:solidFill>
              </a:rPr>
              <a:t>25BAI0007</a:t>
            </a:r>
            <a:endParaRPr lang="en-US" sz="1500" dirty="0"/>
          </a:p>
        </p:txBody>
      </p:sp>
      <p:pic>
        <p:nvPicPr>
          <p:cNvPr id="9" name="icon1" descr="FaShieldAlt">    </p:cNvPr>
          <p:cNvPicPr>
            <a:picLocks noChangeAspect="1"/>
          </p:cNvPicPr>
          <p:nvPr/>
        </p:nvPicPr>
        <p:blipFill>
          <a:blip r:embed="rId1"/>
          <a:stretch>
            <a:fillRect/>
          </a:stretch>
        </p:blipFill>
        <p:spPr>
          <a:xfrm>
            <a:off x="10378440" y="411480"/>
            <a:ext cx="1280160" cy="1280160"/>
          </a:xfrm>
          <a:prstGeom prst="rect">
            <a:avLst/>
          </a:prstGeom>
        </p:spPr>
      </p:pic>
      <p:sp>
        <p:nvSpPr>
          <p:cNvPr id="10" name="pill2"/>
          <p:cNvSpPr/>
          <p:nvPr/>
        </p:nvSpPr>
        <p:spPr>
          <a:xfrm>
            <a:off x="640080" y="5989320"/>
            <a:ext cx="1051560" cy="329184"/>
          </a:xfrm>
          <a:prstGeom prst="roundRect">
            <a:avLst>
              <a:gd name="adj" fmla="val 50000"/>
            </a:avLst>
          </a:prstGeom>
          <a:solidFill>
            <a:schemeClr val="accent2"/>
          </a:solidFill>
          <a:ln w="12700">
            <a:solidFill>
              <a:schemeClr val="accent2"/>
            </a:solidFill>
            <a:prstDash val="solid"/>
          </a:ln>
        </p:spPr>
      </p:sp>
      <p:sp>
        <p:nvSpPr>
          <p:cNvPr id="11" name="Text 8"/>
          <p:cNvSpPr txBox="1"/>
          <p:nvPr/>
        </p:nvSpPr>
        <p:spPr>
          <a:xfrm>
            <a:off x="640080" y="598932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PERMIT</a:t>
            </a:r>
            <a:endParaRPr lang="en-US" sz="1100" dirty="0"/>
          </a:p>
        </p:txBody>
      </p:sp>
      <p:sp>
        <p:nvSpPr>
          <p:cNvPr id="12" name="pill3"/>
          <p:cNvSpPr/>
          <p:nvPr/>
        </p:nvSpPr>
        <p:spPr>
          <a:xfrm>
            <a:off x="1810512" y="5989320"/>
            <a:ext cx="1051560" cy="32918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1810512" y="598932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DENY</a:t>
            </a:r>
            <a:endParaRPr lang="en-US" sz="1100" dirty="0"/>
          </a:p>
        </p:txBody>
      </p:sp>
      <p:sp>
        <p:nvSpPr>
          <p:cNvPr id="14" name="Text 11"/>
          <p:cNvSpPr txBox="1"/>
          <p:nvPr/>
        </p:nvSpPr>
        <p:spPr>
          <a:xfrm>
            <a:off x="3108960" y="5989320"/>
            <a:ext cx="7315200" cy="329184"/>
          </a:xfrm>
          <a:prstGeom prst="rect">
            <a:avLst/>
          </a:prstGeom>
          <a:noFill/>
          <a:ln/>
        </p:spPr>
        <p:txBody>
          <a:bodyPr wrap="square" lIns="0" tIns="0" rIns="0" bIns="0" rtlCol="0" anchor="ctr"/>
          <a:lstStyle/>
          <a:p>
            <a:pPr indent="0" marL="0">
              <a:buNone/>
            </a:pPr>
            <a:r>
              <a:rPr lang="en-US" sz="1300" dirty="0">
                <a:solidFill>
                  <a:schemeClr val="accent6"/>
                </a:solidFill>
              </a:rPr>
              <a:t>School of Computer Science and Engineering, VIT Vellore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Agenda</a:t>
            </a:r>
            <a:endParaRPr lang="en-US" sz="3200" dirty="0"/>
          </a:p>
        </p:txBody>
      </p:sp>
      <p:sp>
        <p:nvSpPr>
          <p:cNvPr id="3" name="ag0"/>
          <p:cNvSpPr/>
          <p:nvPr/>
        </p:nvSpPr>
        <p:spPr>
          <a:xfrm>
            <a:off x="731520" y="1481328"/>
            <a:ext cx="731520" cy="731520"/>
          </a:xfrm>
          <a:prstGeom prst="ellipse">
            <a:avLst/>
          </a:prstGeom>
          <a:solidFill>
            <a:schemeClr val="tx2"/>
          </a:solidFill>
          <a:ln w="12700">
            <a:solidFill>
              <a:schemeClr val="tx2"/>
            </a:solidFill>
            <a:prstDash val="solid"/>
          </a:ln>
        </p:spPr>
      </p:sp>
      <p:sp>
        <p:nvSpPr>
          <p:cNvPr id="4" name="Text 2"/>
          <p:cNvSpPr txBox="1"/>
          <p:nvPr/>
        </p:nvSpPr>
        <p:spPr>
          <a:xfrm>
            <a:off x="731520" y="1481328"/>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1</a:t>
            </a:r>
            <a:endParaRPr lang="en-US" sz="2400" dirty="0"/>
          </a:p>
        </p:txBody>
      </p:sp>
      <p:sp>
        <p:nvSpPr>
          <p:cNvPr id="5" name="card4"/>
          <p:cNvSpPr/>
          <p:nvPr/>
        </p:nvSpPr>
        <p:spPr>
          <a:xfrm>
            <a:off x="1737360" y="1371600"/>
            <a:ext cx="98755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2011680" y="1371600"/>
            <a:ext cx="1280160" cy="960120"/>
          </a:xfrm>
          <a:prstGeom prst="rect">
            <a:avLst/>
          </a:prstGeom>
          <a:noFill/>
          <a:ln/>
        </p:spPr>
        <p:txBody>
          <a:bodyPr wrap="square" lIns="0" tIns="0" rIns="0" bIns="0" rtlCol="0" anchor="ctr"/>
          <a:lstStyle/>
          <a:p>
            <a:pPr indent="0" marL="0">
              <a:buNone/>
            </a:pPr>
            <a:r>
              <a:rPr lang="en-US" sz="1400" b="1" dirty="0">
                <a:solidFill>
                  <a:schemeClr val="accent3"/>
                </a:solidFill>
              </a:rPr>
              <a:t>Part A</a:t>
            </a:r>
            <a:endParaRPr lang="en-US" sz="1400" dirty="0"/>
          </a:p>
        </p:txBody>
      </p:sp>
      <p:sp>
        <p:nvSpPr>
          <p:cNvPr id="7" name="Text 5"/>
          <p:cNvSpPr txBox="1"/>
          <p:nvPr/>
        </p:nvSpPr>
        <p:spPr>
          <a:xfrm>
            <a:off x="3291840" y="1371600"/>
            <a:ext cx="2377440" cy="960120"/>
          </a:xfrm>
          <a:prstGeom prst="rect">
            <a:avLst/>
          </a:prstGeom>
          <a:noFill/>
          <a:ln/>
        </p:spPr>
        <p:txBody>
          <a:bodyPr wrap="square" lIns="0" tIns="0" rIns="0" bIns="0" rtlCol="0" anchor="ctr"/>
          <a:lstStyle/>
          <a:p>
            <a:pPr indent="0" marL="0">
              <a:buNone/>
            </a:pPr>
            <a:r>
              <a:rPr lang="en-US" sz="2000" b="1" dirty="0">
                <a:solidFill>
                  <a:schemeClr val="tx1"/>
                </a:solidFill>
              </a:rPr>
              <a:t>Review paper</a:t>
            </a:r>
            <a:endParaRPr lang="en-US" sz="2000" dirty="0"/>
          </a:p>
        </p:txBody>
      </p:sp>
      <p:sp>
        <p:nvSpPr>
          <p:cNvPr id="8" name="Text 6"/>
          <p:cNvSpPr txBox="1"/>
          <p:nvPr/>
        </p:nvSpPr>
        <p:spPr>
          <a:xfrm>
            <a:off x="5760720" y="1371600"/>
            <a:ext cx="5669280" cy="960120"/>
          </a:xfrm>
          <a:prstGeom prst="rect">
            <a:avLst/>
          </a:prstGeom>
          <a:noFill/>
          <a:ln/>
        </p:spPr>
        <p:txBody>
          <a:bodyPr wrap="square" lIns="0" tIns="0" rIns="0" bIns="0" rtlCol="0" anchor="ctr"/>
          <a:lstStyle/>
          <a:p>
            <a:pPr indent="0" marL="0">
              <a:buNone/>
            </a:pPr>
            <a:r>
              <a:rPr lang="en-US" sz="1600" dirty="0">
                <a:solidFill>
                  <a:schemeClr val="tx2"/>
                </a:solidFill>
              </a:rPr>
              <a:t>Problem, five literature themes, research gaps</a:t>
            </a:r>
            <a:endParaRPr lang="en-US" sz="1600" dirty="0"/>
          </a:p>
        </p:txBody>
      </p:sp>
      <p:sp>
        <p:nvSpPr>
          <p:cNvPr id="9" name="ag1"/>
          <p:cNvSpPr/>
          <p:nvPr/>
        </p:nvSpPr>
        <p:spPr>
          <a:xfrm>
            <a:off x="731520" y="2670048"/>
            <a:ext cx="731520" cy="731520"/>
          </a:xfrm>
          <a:prstGeom prst="ellipse">
            <a:avLst/>
          </a:prstGeom>
          <a:solidFill>
            <a:schemeClr val="tx2"/>
          </a:solidFill>
          <a:ln w="12700">
            <a:solidFill>
              <a:schemeClr val="tx2"/>
            </a:solidFill>
            <a:prstDash val="solid"/>
          </a:ln>
        </p:spPr>
      </p:sp>
      <p:sp>
        <p:nvSpPr>
          <p:cNvPr id="10" name="Text 8"/>
          <p:cNvSpPr txBox="1"/>
          <p:nvPr/>
        </p:nvSpPr>
        <p:spPr>
          <a:xfrm>
            <a:off x="731520" y="2670048"/>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2</a:t>
            </a:r>
            <a:endParaRPr lang="en-US" sz="2400" dirty="0"/>
          </a:p>
        </p:txBody>
      </p:sp>
      <p:sp>
        <p:nvSpPr>
          <p:cNvPr id="11" name="card5"/>
          <p:cNvSpPr/>
          <p:nvPr/>
        </p:nvSpPr>
        <p:spPr>
          <a:xfrm>
            <a:off x="1737360" y="2560320"/>
            <a:ext cx="98755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2011680" y="2560320"/>
            <a:ext cx="1280160" cy="960120"/>
          </a:xfrm>
          <a:prstGeom prst="rect">
            <a:avLst/>
          </a:prstGeom>
          <a:noFill/>
          <a:ln/>
        </p:spPr>
        <p:txBody>
          <a:bodyPr wrap="square" lIns="0" tIns="0" rIns="0" bIns="0" rtlCol="0" anchor="ctr"/>
          <a:lstStyle/>
          <a:p>
            <a:pPr indent="0" marL="0">
              <a:buNone/>
            </a:pPr>
            <a:r>
              <a:rPr lang="en-US" sz="1400" b="1" dirty="0">
                <a:solidFill>
                  <a:schemeClr val="accent3"/>
                </a:solidFill>
              </a:rPr>
              <a:t>Part B</a:t>
            </a:r>
            <a:endParaRPr lang="en-US" sz="1400" dirty="0"/>
          </a:p>
        </p:txBody>
      </p:sp>
      <p:sp>
        <p:nvSpPr>
          <p:cNvPr id="13" name="Text 11"/>
          <p:cNvSpPr txBox="1"/>
          <p:nvPr/>
        </p:nvSpPr>
        <p:spPr>
          <a:xfrm>
            <a:off x="3291840" y="2560320"/>
            <a:ext cx="2377440" cy="960120"/>
          </a:xfrm>
          <a:prstGeom prst="rect">
            <a:avLst/>
          </a:prstGeom>
          <a:noFill/>
          <a:ln/>
        </p:spPr>
        <p:txBody>
          <a:bodyPr wrap="square" lIns="0" tIns="0" rIns="0" bIns="0" rtlCol="0" anchor="ctr"/>
          <a:lstStyle/>
          <a:p>
            <a:pPr indent="0" marL="0">
              <a:buNone/>
            </a:pPr>
            <a:r>
              <a:rPr lang="en-US" sz="2000" b="1" dirty="0">
                <a:solidFill>
                  <a:schemeClr val="tx1"/>
                </a:solidFill>
              </a:rPr>
              <a:t>Design</a:t>
            </a:r>
            <a:endParaRPr lang="en-US" sz="2000" dirty="0"/>
          </a:p>
        </p:txBody>
      </p:sp>
      <p:sp>
        <p:nvSpPr>
          <p:cNvPr id="14" name="Text 12"/>
          <p:cNvSpPr txBox="1"/>
          <p:nvPr/>
        </p:nvSpPr>
        <p:spPr>
          <a:xfrm>
            <a:off x="5760720" y="2560320"/>
            <a:ext cx="5669280" cy="960120"/>
          </a:xfrm>
          <a:prstGeom prst="rect">
            <a:avLst/>
          </a:prstGeom>
          <a:noFill/>
          <a:ln/>
        </p:spPr>
        <p:txBody>
          <a:bodyPr wrap="square" lIns="0" tIns="0" rIns="0" bIns="0" rtlCol="0" anchor="ctr"/>
          <a:lstStyle/>
          <a:p>
            <a:pPr indent="0" marL="0">
              <a:buNone/>
            </a:pPr>
            <a:r>
              <a:rPr lang="en-US" sz="1600" dirty="0">
                <a:solidFill>
                  <a:schemeClr val="tx2"/>
                </a:solidFill>
              </a:rPr>
              <a:t>Requirements, network, three policies, test method</a:t>
            </a:r>
            <a:endParaRPr lang="en-US" sz="1600" dirty="0"/>
          </a:p>
        </p:txBody>
      </p:sp>
      <p:sp>
        <p:nvSpPr>
          <p:cNvPr id="15" name="ag2"/>
          <p:cNvSpPr/>
          <p:nvPr/>
        </p:nvSpPr>
        <p:spPr>
          <a:xfrm>
            <a:off x="731520" y="3858768"/>
            <a:ext cx="731520" cy="731520"/>
          </a:xfrm>
          <a:prstGeom prst="ellipse">
            <a:avLst/>
          </a:prstGeom>
          <a:solidFill>
            <a:schemeClr val="tx2"/>
          </a:solidFill>
          <a:ln w="12700">
            <a:solidFill>
              <a:schemeClr val="tx2"/>
            </a:solidFill>
            <a:prstDash val="solid"/>
          </a:ln>
        </p:spPr>
      </p:sp>
      <p:sp>
        <p:nvSpPr>
          <p:cNvPr id="16" name="Text 14"/>
          <p:cNvSpPr txBox="1"/>
          <p:nvPr/>
        </p:nvSpPr>
        <p:spPr>
          <a:xfrm>
            <a:off x="731520" y="3858768"/>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3</a:t>
            </a:r>
            <a:endParaRPr lang="en-US" sz="2400" dirty="0"/>
          </a:p>
        </p:txBody>
      </p:sp>
      <p:sp>
        <p:nvSpPr>
          <p:cNvPr id="17" name="card6"/>
          <p:cNvSpPr/>
          <p:nvPr/>
        </p:nvSpPr>
        <p:spPr>
          <a:xfrm>
            <a:off x="1737360" y="3749040"/>
            <a:ext cx="98755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2011680" y="3749040"/>
            <a:ext cx="1280160" cy="960120"/>
          </a:xfrm>
          <a:prstGeom prst="rect">
            <a:avLst/>
          </a:prstGeom>
          <a:noFill/>
          <a:ln/>
        </p:spPr>
        <p:txBody>
          <a:bodyPr wrap="square" lIns="0" tIns="0" rIns="0" bIns="0" rtlCol="0" anchor="ctr"/>
          <a:lstStyle/>
          <a:p>
            <a:pPr indent="0" marL="0">
              <a:buNone/>
            </a:pPr>
            <a:r>
              <a:rPr lang="en-US" sz="1400" b="1" dirty="0">
                <a:solidFill>
                  <a:schemeClr val="accent3"/>
                </a:solidFill>
              </a:rPr>
              <a:t>Part B</a:t>
            </a:r>
            <a:endParaRPr lang="en-US" sz="1400" dirty="0"/>
          </a:p>
        </p:txBody>
      </p:sp>
      <p:sp>
        <p:nvSpPr>
          <p:cNvPr id="19" name="Text 17"/>
          <p:cNvSpPr txBox="1"/>
          <p:nvPr/>
        </p:nvSpPr>
        <p:spPr>
          <a:xfrm>
            <a:off x="3291840" y="3749040"/>
            <a:ext cx="2377440" cy="960120"/>
          </a:xfrm>
          <a:prstGeom prst="rect">
            <a:avLst/>
          </a:prstGeom>
          <a:noFill/>
          <a:ln/>
        </p:spPr>
        <p:txBody>
          <a:bodyPr wrap="square" lIns="0" tIns="0" rIns="0" bIns="0" rtlCol="0" anchor="ctr"/>
          <a:lstStyle/>
          <a:p>
            <a:pPr indent="0" marL="0">
              <a:buNone/>
            </a:pPr>
            <a:r>
              <a:rPr lang="en-US" sz="2000" b="1" dirty="0">
                <a:solidFill>
                  <a:schemeClr val="tx1"/>
                </a:solidFill>
              </a:rPr>
              <a:t>Results</a:t>
            </a:r>
            <a:endParaRPr lang="en-US" sz="2000" dirty="0"/>
          </a:p>
        </p:txBody>
      </p:sp>
      <p:sp>
        <p:nvSpPr>
          <p:cNvPr id="20" name="Text 18"/>
          <p:cNvSpPr txBox="1"/>
          <p:nvPr/>
        </p:nvSpPr>
        <p:spPr>
          <a:xfrm>
            <a:off x="5760720" y="3749040"/>
            <a:ext cx="5669280" cy="960120"/>
          </a:xfrm>
          <a:prstGeom prst="rect">
            <a:avLst/>
          </a:prstGeom>
          <a:noFill/>
          <a:ln/>
        </p:spPr>
        <p:txBody>
          <a:bodyPr wrap="square" lIns="0" tIns="0" rIns="0" bIns="0" rtlCol="0" anchor="ctr"/>
          <a:lstStyle/>
          <a:p>
            <a:pPr indent="0" marL="0">
              <a:buNone/>
            </a:pPr>
            <a:r>
              <a:rPr lang="en-US" sz="1600" dirty="0">
                <a:solidFill>
                  <a:schemeClr val="tx2"/>
                </a:solidFill>
              </a:rPr>
              <a:t>Stage-by-stage evidence, metrics, key findings</a:t>
            </a:r>
            <a:endParaRPr lang="en-US" sz="1600" dirty="0"/>
          </a:p>
        </p:txBody>
      </p:sp>
      <p:sp>
        <p:nvSpPr>
          <p:cNvPr id="21" name="ag3"/>
          <p:cNvSpPr/>
          <p:nvPr/>
        </p:nvSpPr>
        <p:spPr>
          <a:xfrm>
            <a:off x="731520" y="5047488"/>
            <a:ext cx="731520" cy="731520"/>
          </a:xfrm>
          <a:prstGeom prst="ellipse">
            <a:avLst/>
          </a:prstGeom>
          <a:solidFill>
            <a:schemeClr val="tx2"/>
          </a:solidFill>
          <a:ln w="12700">
            <a:solidFill>
              <a:schemeClr val="tx2"/>
            </a:solidFill>
            <a:prstDash val="solid"/>
          </a:ln>
        </p:spPr>
      </p:sp>
      <p:sp>
        <p:nvSpPr>
          <p:cNvPr id="22" name="Text 20"/>
          <p:cNvSpPr txBox="1"/>
          <p:nvPr/>
        </p:nvSpPr>
        <p:spPr>
          <a:xfrm>
            <a:off x="731520" y="5047488"/>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4</a:t>
            </a:r>
            <a:endParaRPr lang="en-US" sz="2400" dirty="0"/>
          </a:p>
        </p:txBody>
      </p:sp>
      <p:sp>
        <p:nvSpPr>
          <p:cNvPr id="23" name="card7"/>
          <p:cNvSpPr/>
          <p:nvPr/>
        </p:nvSpPr>
        <p:spPr>
          <a:xfrm>
            <a:off x="1737360" y="4937760"/>
            <a:ext cx="987552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2011680" y="4937760"/>
            <a:ext cx="1280160" cy="960120"/>
          </a:xfrm>
          <a:prstGeom prst="rect">
            <a:avLst/>
          </a:prstGeom>
          <a:noFill/>
          <a:ln/>
        </p:spPr>
        <p:txBody>
          <a:bodyPr wrap="square" lIns="0" tIns="0" rIns="0" bIns="0" rtlCol="0" anchor="ctr"/>
          <a:lstStyle/>
          <a:p>
            <a:pPr indent="0" marL="0">
              <a:buNone/>
            </a:pPr>
            <a:r>
              <a:rPr lang="en-US" sz="1400" b="1" dirty="0">
                <a:solidFill>
                  <a:schemeClr val="accent3"/>
                </a:solidFill>
              </a:rPr>
              <a:t>Part C</a:t>
            </a:r>
            <a:endParaRPr lang="en-US" sz="1400" dirty="0"/>
          </a:p>
        </p:txBody>
      </p:sp>
      <p:sp>
        <p:nvSpPr>
          <p:cNvPr id="25" name="Text 23"/>
          <p:cNvSpPr txBox="1"/>
          <p:nvPr/>
        </p:nvSpPr>
        <p:spPr>
          <a:xfrm>
            <a:off x="3291840" y="4937760"/>
            <a:ext cx="2377440" cy="960120"/>
          </a:xfrm>
          <a:prstGeom prst="rect">
            <a:avLst/>
          </a:prstGeom>
          <a:noFill/>
          <a:ln/>
        </p:spPr>
        <p:txBody>
          <a:bodyPr wrap="square" lIns="0" tIns="0" rIns="0" bIns="0" rtlCol="0" anchor="ctr"/>
          <a:lstStyle/>
          <a:p>
            <a:pPr indent="0" marL="0">
              <a:buNone/>
            </a:pPr>
            <a:r>
              <a:rPr lang="en-US" sz="2000" b="1" dirty="0">
                <a:solidFill>
                  <a:schemeClr val="tx1"/>
                </a:solidFill>
              </a:rPr>
              <a:t>Alignment</a:t>
            </a:r>
            <a:endParaRPr lang="en-US" sz="2000" dirty="0"/>
          </a:p>
        </p:txBody>
      </p:sp>
      <p:sp>
        <p:nvSpPr>
          <p:cNvPr id="26" name="Text 24"/>
          <p:cNvSpPr txBox="1"/>
          <p:nvPr/>
        </p:nvSpPr>
        <p:spPr>
          <a:xfrm>
            <a:off x="5760720" y="4937760"/>
            <a:ext cx="5669280" cy="960120"/>
          </a:xfrm>
          <a:prstGeom prst="rect">
            <a:avLst/>
          </a:prstGeom>
          <a:noFill/>
          <a:ln/>
        </p:spPr>
        <p:txBody>
          <a:bodyPr wrap="square" lIns="0" tIns="0" rIns="0" bIns="0" rtlCol="0" anchor="ctr"/>
          <a:lstStyle/>
          <a:p>
            <a:pPr indent="0" marL="0">
              <a:buNone/>
            </a:pPr>
            <a:r>
              <a:rPr lang="en-US" sz="1600" dirty="0">
                <a:solidFill>
                  <a:schemeClr val="tx2"/>
                </a:solidFill>
              </a:rPr>
              <a:t>Comparison with the literature, limitations, future work</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The problem we studied</a:t>
            </a:r>
            <a:endParaRPr lang="en-US" sz="3200" dirty="0"/>
          </a:p>
        </p:txBody>
      </p:sp>
      <p:sp>
        <p:nvSpPr>
          <p:cNvPr id="3" name="card8"/>
          <p:cNvSpPr/>
          <p:nvPr/>
        </p:nvSpPr>
        <p:spPr>
          <a:xfrm>
            <a:off x="548640" y="1371600"/>
            <a:ext cx="5486400" cy="4480560"/>
          </a:xfrm>
          <a:prstGeom prst="roundRect">
            <a:avLst>
              <a:gd name="adj" fmla="val 16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9"/>
          <p:cNvSpPr/>
          <p:nvPr/>
        </p:nvSpPr>
        <p:spPr>
          <a:xfrm>
            <a:off x="868680" y="1691640"/>
            <a:ext cx="685800" cy="685800"/>
          </a:xfrm>
          <a:prstGeom prst="ellipse">
            <a:avLst/>
          </a:prstGeom>
          <a:solidFill>
            <a:srgbClr val="C0392B"/>
          </a:solidFill>
          <a:ln w="12700">
            <a:solidFill>
              <a:srgbClr val="C0392B"/>
            </a:solidFill>
            <a:prstDash val="solid"/>
          </a:ln>
        </p:spPr>
      </p:sp>
      <p:pic>
        <p:nvPicPr>
          <p:cNvPr id="5" name="icon10" descr="FaLockOpen">    </p:cNvPr>
          <p:cNvPicPr>
            <a:picLocks noChangeAspect="1"/>
          </p:cNvPicPr>
          <p:nvPr/>
        </p:nvPicPr>
        <p:blipFill>
          <a:blip r:embed="rId1"/>
          <a:stretch>
            <a:fillRect/>
          </a:stretch>
        </p:blipFill>
        <p:spPr>
          <a:xfrm>
            <a:off x="1033272" y="1856232"/>
            <a:ext cx="356616" cy="356616"/>
          </a:xfrm>
          <a:prstGeom prst="rect">
            <a:avLst/>
          </a:prstGeom>
        </p:spPr>
      </p:pic>
      <p:sp>
        <p:nvSpPr>
          <p:cNvPr id="6" name="Text 3"/>
          <p:cNvSpPr txBox="1"/>
          <p:nvPr/>
        </p:nvSpPr>
        <p:spPr>
          <a:xfrm>
            <a:off x="1737360" y="1691640"/>
            <a:ext cx="4114800" cy="685800"/>
          </a:xfrm>
          <a:prstGeom prst="rect">
            <a:avLst/>
          </a:prstGeom>
          <a:noFill/>
          <a:ln/>
        </p:spPr>
        <p:txBody>
          <a:bodyPr wrap="square" lIns="0" tIns="0" rIns="0" bIns="0" rtlCol="0" anchor="ctr"/>
          <a:lstStyle/>
          <a:p>
            <a:pPr indent="0" marL="0">
              <a:buNone/>
            </a:pPr>
            <a:r>
              <a:rPr lang="en-US" sz="2000" b="1" dirty="0">
                <a:solidFill>
                  <a:schemeClr val="tx1"/>
                </a:solidFill>
              </a:rPr>
              <a:t>Broad rules are easy, but open</a:t>
            </a:r>
            <a:endParaRPr lang="en-US" sz="2000" dirty="0"/>
          </a:p>
        </p:txBody>
      </p:sp>
      <p:sp>
        <p:nvSpPr>
          <p:cNvPr id="7" name="Text 4"/>
          <p:cNvSpPr txBox="1"/>
          <p:nvPr/>
        </p:nvSpPr>
        <p:spPr>
          <a:xfrm>
            <a:off x="868680" y="2514600"/>
            <a:ext cx="4937760" cy="1097280"/>
          </a:xfrm>
          <a:prstGeom prst="rect">
            <a:avLst/>
          </a:prstGeom>
          <a:noFill/>
          <a:ln/>
        </p:spPr>
        <p:txBody>
          <a:bodyPr wrap="square" lIns="0" tIns="0" rIns="0" bIns="0" rtlCol="0" anchor="t"/>
          <a:lstStyle/>
          <a:p>
            <a:pPr indent="0" marL="0">
              <a:buNone/>
            </a:pPr>
            <a:r>
              <a:rPr lang="en-US" sz="1700" dirty="0">
                <a:solidFill>
                  <a:schemeClr val="tx2"/>
                </a:solidFill>
              </a:rPr>
              <a:t>Most small networks let every department reach every server. One router ACL can close those paths.</a:t>
            </a:r>
            <a:endParaRPr lang="en-US" sz="1700" dirty="0"/>
          </a:p>
        </p:txBody>
      </p:sp>
      <p:sp>
        <p:nvSpPr>
          <p:cNvPr id="8" name="iconbg11"/>
          <p:cNvSpPr/>
          <p:nvPr/>
        </p:nvSpPr>
        <p:spPr>
          <a:xfrm>
            <a:off x="868680" y="3749040"/>
            <a:ext cx="685800" cy="685800"/>
          </a:xfrm>
          <a:prstGeom prst="ellipse">
            <a:avLst/>
          </a:prstGeom>
          <a:solidFill>
            <a:srgbClr val="1E8E5A"/>
          </a:solidFill>
          <a:ln w="12700">
            <a:solidFill>
              <a:srgbClr val="1E8E5A"/>
            </a:solidFill>
            <a:prstDash val="solid"/>
          </a:ln>
        </p:spPr>
      </p:sp>
      <p:pic>
        <p:nvPicPr>
          <p:cNvPr id="9" name="icon12" descr="FaLock">    </p:cNvPr>
          <p:cNvPicPr>
            <a:picLocks noChangeAspect="1"/>
          </p:cNvPicPr>
          <p:nvPr/>
        </p:nvPicPr>
        <p:blipFill>
          <a:blip r:embed="rId2"/>
          <a:stretch>
            <a:fillRect/>
          </a:stretch>
        </p:blipFill>
        <p:spPr>
          <a:xfrm>
            <a:off x="1033272" y="3913632"/>
            <a:ext cx="356616" cy="356616"/>
          </a:xfrm>
          <a:prstGeom prst="rect">
            <a:avLst/>
          </a:prstGeom>
        </p:spPr>
      </p:pic>
      <p:sp>
        <p:nvSpPr>
          <p:cNvPr id="10" name="Text 6"/>
          <p:cNvSpPr txBox="1"/>
          <p:nvPr/>
        </p:nvSpPr>
        <p:spPr>
          <a:xfrm>
            <a:off x="1737360" y="3749040"/>
            <a:ext cx="4114800" cy="685800"/>
          </a:xfrm>
          <a:prstGeom prst="rect">
            <a:avLst/>
          </a:prstGeom>
          <a:noFill/>
          <a:ln/>
        </p:spPr>
        <p:txBody>
          <a:bodyPr wrap="square" lIns="0" tIns="0" rIns="0" bIns="0" rtlCol="0" anchor="ctr"/>
          <a:lstStyle/>
          <a:p>
            <a:pPr indent="0" marL="0">
              <a:buNone/>
            </a:pPr>
            <a:r>
              <a:rPr lang="en-US" sz="2000" b="1" dirty="0">
                <a:solidFill>
                  <a:schemeClr val="tx1"/>
                </a:solidFill>
              </a:rPr>
              <a:t>Strict rules are safe, but costly</a:t>
            </a:r>
            <a:endParaRPr lang="en-US" sz="2000" dirty="0"/>
          </a:p>
        </p:txBody>
      </p:sp>
      <p:sp>
        <p:nvSpPr>
          <p:cNvPr id="11" name="Text 7"/>
          <p:cNvSpPr txBox="1"/>
          <p:nvPr/>
        </p:nvSpPr>
        <p:spPr>
          <a:xfrm>
            <a:off x="868680" y="4572000"/>
            <a:ext cx="4937760" cy="1143000"/>
          </a:xfrm>
          <a:prstGeom prst="rect">
            <a:avLst/>
          </a:prstGeom>
          <a:noFill/>
          <a:ln/>
        </p:spPr>
        <p:txBody>
          <a:bodyPr wrap="square" lIns="0" tIns="0" rIns="0" bIns="0" rtlCol="0" anchor="t"/>
          <a:lstStyle/>
          <a:p>
            <a:pPr indent="0" marL="0">
              <a:buNone/>
            </a:pPr>
            <a:r>
              <a:rPr lang="en-US" sz="1700" dirty="0">
                <a:solidFill>
                  <a:schemeClr val="tx2"/>
                </a:solidFill>
              </a:rPr>
              <a:t>Each step towards least privilege adds rules, conditions and rule-order dependence, which the literature links to errors.</a:t>
            </a:r>
            <a:endParaRPr lang="en-US" sz="1700" dirty="0"/>
          </a:p>
        </p:txBody>
      </p:sp>
      <p:sp>
        <p:nvSpPr>
          <p:cNvPr id="12" name="Text 8"/>
          <p:cNvSpPr txBox="1"/>
          <p:nvPr/>
        </p:nvSpPr>
        <p:spPr>
          <a:xfrm>
            <a:off x="6492240" y="1463040"/>
            <a:ext cx="5120640" cy="365760"/>
          </a:xfrm>
          <a:prstGeom prst="rect">
            <a:avLst/>
          </a:prstGeom>
          <a:noFill/>
          <a:ln/>
        </p:spPr>
        <p:txBody>
          <a:bodyPr wrap="square" lIns="0" tIns="0" rIns="0" bIns="0" rtlCol="0" anchor="t"/>
          <a:lstStyle/>
          <a:p>
            <a:pPr indent="0" marL="0">
              <a:buNone/>
            </a:pPr>
            <a:r>
              <a:rPr lang="en-US" sz="1400" b="1" dirty="0">
                <a:solidFill>
                  <a:schemeClr val="accent3"/>
                </a:solidFill>
              </a:rPr>
              <a:t>Research question</a:t>
            </a:r>
            <a:endParaRPr lang="en-US" sz="1400" dirty="0"/>
          </a:p>
        </p:txBody>
      </p:sp>
      <p:sp>
        <p:nvSpPr>
          <p:cNvPr id="13" name="Text 9"/>
          <p:cNvSpPr txBox="1"/>
          <p:nvPr/>
        </p:nvSpPr>
        <p:spPr>
          <a:xfrm>
            <a:off x="6492240" y="1920240"/>
            <a:ext cx="5120640" cy="2743200"/>
          </a:xfrm>
          <a:prstGeom prst="rect">
            <a:avLst/>
          </a:prstGeom>
          <a:noFill/>
          <a:ln/>
        </p:spPr>
        <p:txBody>
          <a:bodyPr wrap="square" lIns="0" tIns="0" rIns="0" bIns="0" rtlCol="0" anchor="t"/>
          <a:lstStyle/>
          <a:p>
            <a:pPr indent="0" marL="0">
              <a:buNone/>
            </a:pPr>
            <a:r>
              <a:rPr lang="en-US" sz="1900" i="1" dirty="0">
                <a:solidFill>
                  <a:schemeClr val="tx2"/>
                </a:solidFill>
                <a:latin typeface="Cambria" pitchFamily="34" charset="0"/>
                <a:ea typeface="Cambria" pitchFamily="34" charset="-122"/>
                <a:cs typeface="Cambria" pitchFamily="34" charset="-120"/>
              </a:rPr>
              <a:t>How does refining network access policy from broad, to department-level, to service-level least privilege change (a) the unnecessary flows the policy allows and (b) the policy's size, specificity and dependence on rule order, and how do these results compare with the literature?</a:t>
            </a:r>
            <a:endParaRPr lang="en-US" sz="1900" dirty="0"/>
          </a:p>
        </p:txBody>
      </p:sp>
      <p:sp>
        <p:nvSpPr>
          <p:cNvPr id="14" name="pill13"/>
          <p:cNvSpPr/>
          <p:nvPr/>
        </p:nvSpPr>
        <p:spPr>
          <a:xfrm>
            <a:off x="6492240" y="5120640"/>
            <a:ext cx="1051560" cy="329184"/>
          </a:xfrm>
          <a:prstGeom prst="roundRect">
            <a:avLst>
              <a:gd name="adj" fmla="val 50000"/>
            </a:avLst>
          </a:prstGeom>
          <a:solidFill>
            <a:schemeClr val="accent2"/>
          </a:solidFill>
          <a:ln w="12700">
            <a:solidFill>
              <a:schemeClr val="accent2"/>
            </a:solidFill>
            <a:prstDash val="solid"/>
          </a:ln>
        </p:spPr>
      </p:sp>
      <p:sp>
        <p:nvSpPr>
          <p:cNvPr id="15" name="Text 11"/>
          <p:cNvSpPr txBox="1"/>
          <p:nvPr/>
        </p:nvSpPr>
        <p:spPr>
          <a:xfrm>
            <a:off x="6492240" y="512064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SECURITY</a:t>
            </a:r>
            <a:endParaRPr lang="en-US" sz="1100" dirty="0"/>
          </a:p>
        </p:txBody>
      </p:sp>
      <p:sp>
        <p:nvSpPr>
          <p:cNvPr id="16" name="pill14"/>
          <p:cNvSpPr/>
          <p:nvPr/>
        </p:nvSpPr>
        <p:spPr>
          <a:xfrm>
            <a:off x="7680960" y="5120640"/>
            <a:ext cx="1051560" cy="329184"/>
          </a:xfrm>
          <a:prstGeom prst="roundRect">
            <a:avLst>
              <a:gd name="adj" fmla="val 50000"/>
            </a:avLst>
          </a:prstGeom>
          <a:solidFill>
            <a:schemeClr val="accent1"/>
          </a:solidFill>
          <a:ln w="12700">
            <a:solidFill>
              <a:schemeClr val="accent1"/>
            </a:solidFill>
            <a:prstDash val="solid"/>
          </a:ln>
        </p:spPr>
      </p:sp>
      <p:sp>
        <p:nvSpPr>
          <p:cNvPr id="17" name="Text 13"/>
          <p:cNvSpPr txBox="1"/>
          <p:nvPr/>
        </p:nvSpPr>
        <p:spPr>
          <a:xfrm>
            <a:off x="7680960" y="512064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COST</a:t>
            </a:r>
            <a:endParaRPr lang="en-US" sz="1100" dirty="0"/>
          </a:p>
        </p:txBody>
      </p:sp>
      <p:sp>
        <p:nvSpPr>
          <p:cNvPr id="18" name="Text 14"/>
          <p:cNvSpPr txBox="1"/>
          <p:nvPr/>
        </p:nvSpPr>
        <p:spPr>
          <a:xfrm>
            <a:off x="8869680" y="5120640"/>
            <a:ext cx="2743200" cy="329184"/>
          </a:xfrm>
          <a:prstGeom prst="rect">
            <a:avLst/>
          </a:prstGeom>
          <a:noFill/>
          <a:ln/>
        </p:spPr>
        <p:txBody>
          <a:bodyPr wrap="square" lIns="0" tIns="0" rIns="0" bIns="0" rtlCol="0" anchor="ctr"/>
          <a:lstStyle/>
          <a:p>
            <a:pPr indent="0" marL="0">
              <a:buNone/>
            </a:pPr>
            <a:r>
              <a:rPr lang="en-US" sz="1400" dirty="0">
                <a:solidFill>
                  <a:schemeClr val="accent4"/>
                </a:solidFill>
              </a:rPr>
              <a:t>measured together, on one network</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Objectives</a:t>
            </a:r>
            <a:endParaRPr lang="en-US" sz="3200" dirty="0"/>
          </a:p>
        </p:txBody>
      </p:sp>
      <p:sp>
        <p:nvSpPr>
          <p:cNvPr id="3" name="card15"/>
          <p:cNvSpPr/>
          <p:nvPr/>
        </p:nvSpPr>
        <p:spPr>
          <a:xfrm>
            <a:off x="548640" y="137160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16"/>
          <p:cNvSpPr/>
          <p:nvPr/>
        </p:nvSpPr>
        <p:spPr>
          <a:xfrm>
            <a:off x="777240" y="1719072"/>
            <a:ext cx="658368" cy="658368"/>
          </a:xfrm>
          <a:prstGeom prst="ellipse">
            <a:avLst/>
          </a:prstGeom>
          <a:solidFill>
            <a:srgbClr val="E09F3E"/>
          </a:solidFill>
          <a:ln w="12700">
            <a:solidFill>
              <a:srgbClr val="E09F3E"/>
            </a:solidFill>
            <a:prstDash val="solid"/>
          </a:ln>
        </p:spPr>
      </p:sp>
      <p:pic>
        <p:nvPicPr>
          <p:cNvPr id="5" name="icon17" descr="FaNetworkWired">    </p:cNvPr>
          <p:cNvPicPr>
            <a:picLocks noChangeAspect="1"/>
          </p:cNvPicPr>
          <p:nvPr/>
        </p:nvPicPr>
        <p:blipFill>
          <a:blip r:embed="rId1"/>
          <a:stretch>
            <a:fillRect/>
          </a:stretch>
        </p:blipFill>
        <p:spPr>
          <a:xfrm>
            <a:off x="935248" y="1877080"/>
            <a:ext cx="342351" cy="342351"/>
          </a:xfrm>
          <a:prstGeom prst="rect">
            <a:avLst/>
          </a:prstGeom>
        </p:spPr>
      </p:pic>
      <p:sp>
        <p:nvSpPr>
          <p:cNvPr id="6" name="Text 3"/>
          <p:cNvSpPr txBox="1"/>
          <p:nvPr/>
        </p:nvSpPr>
        <p:spPr>
          <a:xfrm>
            <a:off x="1600200" y="1554480"/>
            <a:ext cx="4206240" cy="411480"/>
          </a:xfrm>
          <a:prstGeom prst="rect">
            <a:avLst/>
          </a:prstGeom>
          <a:noFill/>
          <a:ln/>
        </p:spPr>
        <p:txBody>
          <a:bodyPr wrap="square" lIns="0" tIns="0" rIns="0" bIns="0" rtlCol="0" anchor="t"/>
          <a:lstStyle/>
          <a:p>
            <a:pPr indent="0" marL="0">
              <a:buNone/>
            </a:pPr>
            <a:r>
              <a:rPr lang="en-US" sz="1900" b="1" dirty="0">
                <a:solidFill>
                  <a:schemeClr val="tx1"/>
                </a:solidFill>
              </a:rPr>
              <a:t>Build</a:t>
            </a:r>
            <a:endParaRPr lang="en-US" sz="1900" dirty="0"/>
          </a:p>
        </p:txBody>
      </p:sp>
      <p:sp>
        <p:nvSpPr>
          <p:cNvPr id="7" name="Text 4"/>
          <p:cNvSpPr txBox="1"/>
          <p:nvPr/>
        </p:nvSpPr>
        <p:spPr>
          <a:xfrm>
            <a:off x="1600200" y="1965960"/>
            <a:ext cx="4206240" cy="731520"/>
          </a:xfrm>
          <a:prstGeom prst="rect">
            <a:avLst/>
          </a:prstGeom>
          <a:noFill/>
          <a:ln/>
        </p:spPr>
        <p:txBody>
          <a:bodyPr wrap="square" lIns="0" tIns="0" rIns="0" bIns="0" rtlCol="0" anchor="t"/>
          <a:lstStyle/>
          <a:p>
            <a:pPr indent="0" marL="0">
              <a:buNone/>
            </a:pPr>
            <a:r>
              <a:rPr lang="en-US" sz="1500" dirty="0">
                <a:solidFill>
                  <a:schemeClr val="tx2"/>
                </a:solidFill>
              </a:rPr>
              <a:t>A multi-department network in Packet Tracer; confirm every test flow works with no ACLs</a:t>
            </a:r>
            <a:endParaRPr lang="en-US" sz="1500" dirty="0"/>
          </a:p>
        </p:txBody>
      </p:sp>
      <p:sp>
        <p:nvSpPr>
          <p:cNvPr id="8" name="card18"/>
          <p:cNvSpPr/>
          <p:nvPr/>
        </p:nvSpPr>
        <p:spPr>
          <a:xfrm>
            <a:off x="6172200" y="137160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19"/>
          <p:cNvSpPr/>
          <p:nvPr/>
        </p:nvSpPr>
        <p:spPr>
          <a:xfrm>
            <a:off x="6400800" y="1719072"/>
            <a:ext cx="658368" cy="658368"/>
          </a:xfrm>
          <a:prstGeom prst="ellipse">
            <a:avLst/>
          </a:prstGeom>
          <a:solidFill>
            <a:srgbClr val="E09F3E"/>
          </a:solidFill>
          <a:ln w="12700">
            <a:solidFill>
              <a:srgbClr val="E09F3E"/>
            </a:solidFill>
            <a:prstDash val="solid"/>
          </a:ln>
        </p:spPr>
      </p:sp>
      <p:pic>
        <p:nvPicPr>
          <p:cNvPr id="10" name="icon20" descr="FaClipboardList">    </p:cNvPr>
          <p:cNvPicPr>
            <a:picLocks noChangeAspect="1"/>
          </p:cNvPicPr>
          <p:nvPr/>
        </p:nvPicPr>
        <p:blipFill>
          <a:blip r:embed="rId2"/>
          <a:stretch>
            <a:fillRect/>
          </a:stretch>
        </p:blipFill>
        <p:spPr>
          <a:xfrm>
            <a:off x="6558808" y="1877080"/>
            <a:ext cx="342351" cy="342351"/>
          </a:xfrm>
          <a:prstGeom prst="rect">
            <a:avLst/>
          </a:prstGeom>
        </p:spPr>
      </p:pic>
      <p:sp>
        <p:nvSpPr>
          <p:cNvPr id="11" name="Text 7"/>
          <p:cNvSpPr txBox="1"/>
          <p:nvPr/>
        </p:nvSpPr>
        <p:spPr>
          <a:xfrm>
            <a:off x="7223760" y="1554480"/>
            <a:ext cx="4206240" cy="411480"/>
          </a:xfrm>
          <a:prstGeom prst="rect">
            <a:avLst/>
          </a:prstGeom>
          <a:noFill/>
          <a:ln/>
        </p:spPr>
        <p:txBody>
          <a:bodyPr wrap="square" lIns="0" tIns="0" rIns="0" bIns="0" rtlCol="0" anchor="t"/>
          <a:lstStyle/>
          <a:p>
            <a:pPr indent="0" marL="0">
              <a:buNone/>
            </a:pPr>
            <a:r>
              <a:rPr lang="en-US" sz="1900" b="1" dirty="0">
                <a:solidFill>
                  <a:schemeClr val="tx1"/>
                </a:solidFill>
              </a:rPr>
              <a:t>Specify</a:t>
            </a:r>
            <a:endParaRPr lang="en-US" sz="1900" dirty="0"/>
          </a:p>
        </p:txBody>
      </p:sp>
      <p:sp>
        <p:nvSpPr>
          <p:cNvPr id="12" name="Text 8"/>
          <p:cNvSpPr txBox="1"/>
          <p:nvPr/>
        </p:nvSpPr>
        <p:spPr>
          <a:xfrm>
            <a:off x="7223760" y="1965960"/>
            <a:ext cx="4206240" cy="731520"/>
          </a:xfrm>
          <a:prstGeom prst="rect">
            <a:avLst/>
          </a:prstGeom>
          <a:noFill/>
          <a:ln/>
        </p:spPr>
        <p:txBody>
          <a:bodyPr wrap="square" lIns="0" tIns="0" rIns="0" bIns="0" rtlCol="0" anchor="t"/>
          <a:lstStyle/>
          <a:p>
            <a:pPr indent="0" marL="0">
              <a:buNone/>
            </a:pPr>
            <a:r>
              <a:rPr lang="en-US" sz="1500" dirty="0">
                <a:solidFill>
                  <a:schemeClr val="tx2"/>
                </a:solidFill>
              </a:rPr>
              <a:t>Write the required and forbidden flows before writing any rule</a:t>
            </a:r>
            <a:endParaRPr lang="en-US" sz="1500" dirty="0"/>
          </a:p>
        </p:txBody>
      </p:sp>
      <p:sp>
        <p:nvSpPr>
          <p:cNvPr id="13" name="card21"/>
          <p:cNvSpPr/>
          <p:nvPr/>
        </p:nvSpPr>
        <p:spPr>
          <a:xfrm>
            <a:off x="548640" y="292608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22"/>
          <p:cNvSpPr/>
          <p:nvPr/>
        </p:nvSpPr>
        <p:spPr>
          <a:xfrm>
            <a:off x="777240" y="3273552"/>
            <a:ext cx="658368" cy="658368"/>
          </a:xfrm>
          <a:prstGeom prst="ellipse">
            <a:avLst/>
          </a:prstGeom>
          <a:solidFill>
            <a:srgbClr val="E09F3E"/>
          </a:solidFill>
          <a:ln w="12700">
            <a:solidFill>
              <a:srgbClr val="E09F3E"/>
            </a:solidFill>
            <a:prstDash val="solid"/>
          </a:ln>
        </p:spPr>
      </p:sp>
      <p:pic>
        <p:nvPicPr>
          <p:cNvPr id="15" name="icon23" descr="FaLayerGroup">    </p:cNvPr>
          <p:cNvPicPr>
            <a:picLocks noChangeAspect="1"/>
          </p:cNvPicPr>
          <p:nvPr/>
        </p:nvPicPr>
        <p:blipFill>
          <a:blip r:embed="rId3"/>
          <a:stretch>
            <a:fillRect/>
          </a:stretch>
        </p:blipFill>
        <p:spPr>
          <a:xfrm>
            <a:off x="935248" y="3431560"/>
            <a:ext cx="342351" cy="342351"/>
          </a:xfrm>
          <a:prstGeom prst="rect">
            <a:avLst/>
          </a:prstGeom>
        </p:spPr>
      </p:pic>
      <p:sp>
        <p:nvSpPr>
          <p:cNvPr id="16" name="Text 11"/>
          <p:cNvSpPr txBox="1"/>
          <p:nvPr/>
        </p:nvSpPr>
        <p:spPr>
          <a:xfrm>
            <a:off x="1600200" y="3108960"/>
            <a:ext cx="4206240" cy="411480"/>
          </a:xfrm>
          <a:prstGeom prst="rect">
            <a:avLst/>
          </a:prstGeom>
          <a:noFill/>
          <a:ln/>
        </p:spPr>
        <p:txBody>
          <a:bodyPr wrap="square" lIns="0" tIns="0" rIns="0" bIns="0" rtlCol="0" anchor="t"/>
          <a:lstStyle/>
          <a:p>
            <a:pPr indent="0" marL="0">
              <a:buNone/>
            </a:pPr>
            <a:r>
              <a:rPr lang="en-US" sz="1900" b="1" dirty="0">
                <a:solidFill>
                  <a:schemeClr val="tx1"/>
                </a:solidFill>
              </a:rPr>
              <a:t>Implement</a:t>
            </a:r>
            <a:endParaRPr lang="en-US" sz="1900" dirty="0"/>
          </a:p>
        </p:txBody>
      </p:sp>
      <p:sp>
        <p:nvSpPr>
          <p:cNvPr id="17" name="Text 12"/>
          <p:cNvSpPr txBox="1"/>
          <p:nvPr/>
        </p:nvSpPr>
        <p:spPr>
          <a:xfrm>
            <a:off x="1600200" y="3520440"/>
            <a:ext cx="4206240" cy="731520"/>
          </a:xfrm>
          <a:prstGeom prst="rect">
            <a:avLst/>
          </a:prstGeom>
          <a:noFill/>
          <a:ln/>
        </p:spPr>
        <p:txBody>
          <a:bodyPr wrap="square" lIns="0" tIns="0" rIns="0" bIns="0" rtlCol="0" anchor="t"/>
          <a:lstStyle/>
          <a:p>
            <a:pPr indent="0" marL="0">
              <a:buNone/>
            </a:pPr>
            <a:r>
              <a:rPr lang="en-US" sz="1500" dirty="0">
                <a:solidFill>
                  <a:schemeClr val="tx2"/>
                </a:solidFill>
              </a:rPr>
              <a:t>Three policy stages at the same seven enforcement points</a:t>
            </a:r>
            <a:endParaRPr lang="en-US" sz="1500" dirty="0"/>
          </a:p>
        </p:txBody>
      </p:sp>
      <p:sp>
        <p:nvSpPr>
          <p:cNvPr id="18" name="card24"/>
          <p:cNvSpPr/>
          <p:nvPr/>
        </p:nvSpPr>
        <p:spPr>
          <a:xfrm>
            <a:off x="6172200" y="292608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bg25"/>
          <p:cNvSpPr/>
          <p:nvPr/>
        </p:nvSpPr>
        <p:spPr>
          <a:xfrm>
            <a:off x="6400800" y="3273552"/>
            <a:ext cx="658368" cy="658368"/>
          </a:xfrm>
          <a:prstGeom prst="ellipse">
            <a:avLst/>
          </a:prstGeom>
          <a:solidFill>
            <a:srgbClr val="E09F3E"/>
          </a:solidFill>
          <a:ln w="12700">
            <a:solidFill>
              <a:srgbClr val="E09F3E"/>
            </a:solidFill>
            <a:prstDash val="solid"/>
          </a:ln>
        </p:spPr>
      </p:sp>
      <p:pic>
        <p:nvPicPr>
          <p:cNvPr id="20" name="icon26" descr="FaChartBar">    </p:cNvPr>
          <p:cNvPicPr>
            <a:picLocks noChangeAspect="1"/>
          </p:cNvPicPr>
          <p:nvPr/>
        </p:nvPicPr>
        <p:blipFill>
          <a:blip r:embed="rId4"/>
          <a:stretch>
            <a:fillRect/>
          </a:stretch>
        </p:blipFill>
        <p:spPr>
          <a:xfrm>
            <a:off x="6558808" y="3431560"/>
            <a:ext cx="342351" cy="342351"/>
          </a:xfrm>
          <a:prstGeom prst="rect">
            <a:avLst/>
          </a:prstGeom>
        </p:spPr>
      </p:pic>
      <p:sp>
        <p:nvSpPr>
          <p:cNvPr id="21" name="Text 15"/>
          <p:cNvSpPr txBox="1"/>
          <p:nvPr/>
        </p:nvSpPr>
        <p:spPr>
          <a:xfrm>
            <a:off x="7223760" y="3108960"/>
            <a:ext cx="4206240" cy="411480"/>
          </a:xfrm>
          <a:prstGeom prst="rect">
            <a:avLst/>
          </a:prstGeom>
          <a:noFill/>
          <a:ln/>
        </p:spPr>
        <p:txBody>
          <a:bodyPr wrap="square" lIns="0" tIns="0" rIns="0" bIns="0" rtlCol="0" anchor="t"/>
          <a:lstStyle/>
          <a:p>
            <a:pPr indent="0" marL="0">
              <a:buNone/>
            </a:pPr>
            <a:r>
              <a:rPr lang="en-US" sz="1900" b="1" dirty="0">
                <a:solidFill>
                  <a:schemeClr val="tx1"/>
                </a:solidFill>
              </a:rPr>
              <a:t>Measure</a:t>
            </a:r>
            <a:endParaRPr lang="en-US" sz="1900" dirty="0"/>
          </a:p>
        </p:txBody>
      </p:sp>
      <p:sp>
        <p:nvSpPr>
          <p:cNvPr id="22" name="Text 16"/>
          <p:cNvSpPr txBox="1"/>
          <p:nvPr/>
        </p:nvSpPr>
        <p:spPr>
          <a:xfrm>
            <a:off x="7223760" y="3520440"/>
            <a:ext cx="4206240" cy="731520"/>
          </a:xfrm>
          <a:prstGeom prst="rect">
            <a:avLst/>
          </a:prstGeom>
          <a:noFill/>
          <a:ln/>
        </p:spPr>
        <p:txBody>
          <a:bodyPr wrap="square" lIns="0" tIns="0" rIns="0" bIns="0" rtlCol="0" anchor="t"/>
          <a:lstStyle/>
          <a:p>
            <a:pPr indent="0" marL="0">
              <a:buNone/>
            </a:pPr>
            <a:r>
              <a:rPr lang="en-US" sz="1500" dirty="0">
                <a:solidFill>
                  <a:schemeClr val="tx2"/>
                </a:solidFill>
              </a:rPr>
              <a:t>Unnecessary access left, and policy size, specificity and rule-order dependence</a:t>
            </a:r>
            <a:endParaRPr lang="en-US" sz="1500" dirty="0"/>
          </a:p>
        </p:txBody>
      </p:sp>
      <p:sp>
        <p:nvSpPr>
          <p:cNvPr id="23" name="card27"/>
          <p:cNvSpPr/>
          <p:nvPr/>
        </p:nvSpPr>
        <p:spPr>
          <a:xfrm>
            <a:off x="548640" y="448056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iconbg28"/>
          <p:cNvSpPr/>
          <p:nvPr/>
        </p:nvSpPr>
        <p:spPr>
          <a:xfrm>
            <a:off x="777240" y="4828032"/>
            <a:ext cx="658368" cy="658368"/>
          </a:xfrm>
          <a:prstGeom prst="ellipse">
            <a:avLst/>
          </a:prstGeom>
          <a:solidFill>
            <a:srgbClr val="E09F3E"/>
          </a:solidFill>
          <a:ln w="12700">
            <a:solidFill>
              <a:srgbClr val="E09F3E"/>
            </a:solidFill>
            <a:prstDash val="solid"/>
          </a:ln>
        </p:spPr>
      </p:sp>
      <p:pic>
        <p:nvPicPr>
          <p:cNvPr id="25" name="icon29" descr="FaBug">    </p:cNvPr>
          <p:cNvPicPr>
            <a:picLocks noChangeAspect="1"/>
          </p:cNvPicPr>
          <p:nvPr/>
        </p:nvPicPr>
        <p:blipFill>
          <a:blip r:embed="rId5"/>
          <a:stretch>
            <a:fillRect/>
          </a:stretch>
        </p:blipFill>
        <p:spPr>
          <a:xfrm>
            <a:off x="935248" y="4986040"/>
            <a:ext cx="342351" cy="342351"/>
          </a:xfrm>
          <a:prstGeom prst="rect">
            <a:avLst/>
          </a:prstGeom>
        </p:spPr>
      </p:pic>
      <p:sp>
        <p:nvSpPr>
          <p:cNvPr id="26" name="Text 19"/>
          <p:cNvSpPr txBox="1"/>
          <p:nvPr/>
        </p:nvSpPr>
        <p:spPr>
          <a:xfrm>
            <a:off x="1600200" y="4663440"/>
            <a:ext cx="4206240" cy="411480"/>
          </a:xfrm>
          <a:prstGeom prst="rect">
            <a:avLst/>
          </a:prstGeom>
          <a:noFill/>
          <a:ln/>
        </p:spPr>
        <p:txBody>
          <a:bodyPr wrap="square" lIns="0" tIns="0" rIns="0" bIns="0" rtlCol="0" anchor="t"/>
          <a:lstStyle/>
          <a:p>
            <a:pPr indent="0" marL="0">
              <a:buNone/>
            </a:pPr>
            <a:r>
              <a:rPr lang="en-US" sz="1900" b="1" dirty="0">
                <a:solidFill>
                  <a:schemeClr val="tx1"/>
                </a:solidFill>
              </a:rPr>
              <a:t>Stress</a:t>
            </a:r>
            <a:endParaRPr lang="en-US" sz="1900" dirty="0"/>
          </a:p>
        </p:txBody>
      </p:sp>
      <p:sp>
        <p:nvSpPr>
          <p:cNvPr id="27" name="Text 20"/>
          <p:cNvSpPr txBox="1"/>
          <p:nvPr/>
        </p:nvSpPr>
        <p:spPr>
          <a:xfrm>
            <a:off x="1600200" y="5074920"/>
            <a:ext cx="4206240" cy="731520"/>
          </a:xfrm>
          <a:prstGeom prst="rect">
            <a:avLst/>
          </a:prstGeom>
          <a:noFill/>
          <a:ln/>
        </p:spPr>
        <p:txBody>
          <a:bodyPr wrap="square" lIns="0" tIns="0" rIns="0" bIns="0" rtlCol="0" anchor="t"/>
          <a:lstStyle/>
          <a:p>
            <a:pPr indent="0" marL="0">
              <a:buNone/>
            </a:pPr>
            <a:r>
              <a:rPr lang="en-US" sz="1500" dirty="0">
                <a:solidFill>
                  <a:schemeClr val="tx2"/>
                </a:solidFill>
              </a:rPr>
              <a:t>Design two typical policy mistakes (shadowed rule, missing DNS rule)</a:t>
            </a:r>
            <a:endParaRPr lang="en-US" sz="1500" dirty="0"/>
          </a:p>
        </p:txBody>
      </p:sp>
      <p:sp>
        <p:nvSpPr>
          <p:cNvPr id="28" name="card30"/>
          <p:cNvSpPr/>
          <p:nvPr/>
        </p:nvSpPr>
        <p:spPr>
          <a:xfrm>
            <a:off x="6172200" y="4480560"/>
            <a:ext cx="544068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iconbg31"/>
          <p:cNvSpPr/>
          <p:nvPr/>
        </p:nvSpPr>
        <p:spPr>
          <a:xfrm>
            <a:off x="6400800" y="4828032"/>
            <a:ext cx="658368" cy="658368"/>
          </a:xfrm>
          <a:prstGeom prst="ellipse">
            <a:avLst/>
          </a:prstGeom>
          <a:solidFill>
            <a:srgbClr val="E09F3E"/>
          </a:solidFill>
          <a:ln w="12700">
            <a:solidFill>
              <a:srgbClr val="E09F3E"/>
            </a:solidFill>
            <a:prstDash val="solid"/>
          </a:ln>
        </p:spPr>
      </p:sp>
      <p:pic>
        <p:nvPicPr>
          <p:cNvPr id="30" name="icon32" descr="FaBalanceScale">    </p:cNvPr>
          <p:cNvPicPr>
            <a:picLocks noChangeAspect="1"/>
          </p:cNvPicPr>
          <p:nvPr/>
        </p:nvPicPr>
        <p:blipFill>
          <a:blip r:embed="rId6"/>
          <a:stretch>
            <a:fillRect/>
          </a:stretch>
        </p:blipFill>
        <p:spPr>
          <a:xfrm>
            <a:off x="6558808" y="4986040"/>
            <a:ext cx="342351" cy="342351"/>
          </a:xfrm>
          <a:prstGeom prst="rect">
            <a:avLst/>
          </a:prstGeom>
        </p:spPr>
      </p:pic>
      <p:sp>
        <p:nvSpPr>
          <p:cNvPr id="31" name="Text 23"/>
          <p:cNvSpPr txBox="1"/>
          <p:nvPr/>
        </p:nvSpPr>
        <p:spPr>
          <a:xfrm>
            <a:off x="7223760" y="4663440"/>
            <a:ext cx="4206240" cy="411480"/>
          </a:xfrm>
          <a:prstGeom prst="rect">
            <a:avLst/>
          </a:prstGeom>
          <a:noFill/>
          <a:ln/>
        </p:spPr>
        <p:txBody>
          <a:bodyPr wrap="square" lIns="0" tIns="0" rIns="0" bIns="0" rtlCol="0" anchor="t"/>
          <a:lstStyle/>
          <a:p>
            <a:pPr indent="0" marL="0">
              <a:buNone/>
            </a:pPr>
            <a:r>
              <a:rPr lang="en-US" sz="1900" b="1" dirty="0">
                <a:solidFill>
                  <a:schemeClr val="tx1"/>
                </a:solidFill>
              </a:rPr>
              <a:t>Compare</a:t>
            </a:r>
            <a:endParaRPr lang="en-US" sz="1900" dirty="0"/>
          </a:p>
        </p:txBody>
      </p:sp>
      <p:sp>
        <p:nvSpPr>
          <p:cNvPr id="32" name="Text 24"/>
          <p:cNvSpPr txBox="1"/>
          <p:nvPr/>
        </p:nvSpPr>
        <p:spPr>
          <a:xfrm>
            <a:off x="7223760" y="5074920"/>
            <a:ext cx="4206240" cy="731520"/>
          </a:xfrm>
          <a:prstGeom prst="rect">
            <a:avLst/>
          </a:prstGeom>
          <a:noFill/>
          <a:ln/>
        </p:spPr>
        <p:txBody>
          <a:bodyPr wrap="square" lIns="0" tIns="0" rIns="0" bIns="0" rtlCol="0" anchor="t"/>
          <a:lstStyle/>
          <a:p>
            <a:pPr indent="0" marL="0">
              <a:buNone/>
            </a:pPr>
            <a:r>
              <a:rPr lang="en-US" sz="1500" dirty="0">
                <a:solidFill>
                  <a:schemeClr val="tx2"/>
                </a:solidFill>
              </a:rPr>
              <a:t>Relate the results to the literature reviewed in Part A</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What the literature says (Part A)</a:t>
            </a:r>
            <a:endParaRPr lang="en-US" sz="3200" dirty="0"/>
          </a:p>
        </p:txBody>
      </p:sp>
      <p:sp>
        <p:nvSpPr>
          <p:cNvPr id="3" name="card33"/>
          <p:cNvSpPr/>
          <p:nvPr/>
        </p:nvSpPr>
        <p:spPr>
          <a:xfrm>
            <a:off x="548640" y="141732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34"/>
          <p:cNvSpPr/>
          <p:nvPr/>
        </p:nvSpPr>
        <p:spPr>
          <a:xfrm>
            <a:off x="777240" y="1618488"/>
            <a:ext cx="566928" cy="566928"/>
          </a:xfrm>
          <a:prstGeom prst="ellipse">
            <a:avLst/>
          </a:prstGeom>
          <a:solidFill>
            <a:srgbClr val="2E3A46"/>
          </a:solidFill>
          <a:ln w="12700">
            <a:solidFill>
              <a:srgbClr val="2E3A46"/>
            </a:solidFill>
            <a:prstDash val="solid"/>
          </a:ln>
        </p:spPr>
      </p:sp>
      <p:pic>
        <p:nvPicPr>
          <p:cNvPr id="5" name="icon35" descr="FaShieldAlt">    </p:cNvPr>
          <p:cNvPicPr>
            <a:picLocks noChangeAspect="1"/>
          </p:cNvPicPr>
          <p:nvPr/>
        </p:nvPicPr>
        <p:blipFill>
          <a:blip r:embed="rId1"/>
          <a:stretch>
            <a:fillRect/>
          </a:stretch>
        </p:blipFill>
        <p:spPr>
          <a:xfrm>
            <a:off x="913303" y="1754551"/>
            <a:ext cx="294803" cy="294803"/>
          </a:xfrm>
          <a:prstGeom prst="rect">
            <a:avLst/>
          </a:prstGeom>
        </p:spPr>
      </p:pic>
      <p:sp>
        <p:nvSpPr>
          <p:cNvPr id="6" name="Text 3"/>
          <p:cNvSpPr txBox="1"/>
          <p:nvPr/>
        </p:nvSpPr>
        <p:spPr>
          <a:xfrm>
            <a:off x="1417320" y="166420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Perimeter filtering</a:t>
            </a:r>
            <a:endParaRPr lang="en-US" sz="1700" dirty="0"/>
          </a:p>
        </p:txBody>
      </p:sp>
      <p:sp>
        <p:nvSpPr>
          <p:cNvPr id="7" name="Text 4"/>
          <p:cNvSpPr txBox="1"/>
          <p:nvPr/>
        </p:nvSpPr>
        <p:spPr>
          <a:xfrm>
            <a:off x="777240" y="2331720"/>
            <a:ext cx="3108960" cy="777240"/>
          </a:xfrm>
          <a:prstGeom prst="rect">
            <a:avLst/>
          </a:prstGeom>
          <a:noFill/>
          <a:ln/>
        </p:spPr>
        <p:txBody>
          <a:bodyPr wrap="square" lIns="0" tIns="0" rIns="0" bIns="0" rtlCol="0" anchor="t"/>
          <a:lstStyle/>
          <a:p>
            <a:pPr indent="0" marL="0">
              <a:buNone/>
            </a:pPr>
            <a:r>
              <a:rPr lang="en-US" sz="1500" dirty="0">
                <a:solidFill>
                  <a:schemeClr val="tx2"/>
                </a:solidFill>
              </a:rPr>
              <a:t>Default deny at the boundary; inside often trusted</a:t>
            </a:r>
            <a:endParaRPr lang="en-US" sz="1500" dirty="0"/>
          </a:p>
        </p:txBody>
      </p:sp>
      <p:sp>
        <p:nvSpPr>
          <p:cNvPr id="8" name="Text 5"/>
          <p:cNvSpPr txBox="1"/>
          <p:nvPr/>
        </p:nvSpPr>
        <p:spPr>
          <a:xfrm>
            <a:off x="777240" y="3108960"/>
            <a:ext cx="3108960" cy="274320"/>
          </a:xfrm>
          <a:prstGeom prst="rect">
            <a:avLst/>
          </a:prstGeom>
          <a:noFill/>
          <a:ln/>
        </p:spPr>
        <p:txBody>
          <a:bodyPr wrap="square" lIns="0" tIns="0" rIns="0" bIns="0" rtlCol="0" anchor="t"/>
          <a:lstStyle/>
          <a:p>
            <a:pPr indent="0" marL="0">
              <a:buNone/>
            </a:pPr>
            <a:r>
              <a:rPr lang="en-US" sz="1100" dirty="0">
                <a:solidFill>
                  <a:schemeClr val="accent4"/>
                </a:solidFill>
              </a:rPr>
              <a:t>[3], [6], [7]</a:t>
            </a:r>
            <a:endParaRPr lang="en-US" sz="1100" dirty="0"/>
          </a:p>
        </p:txBody>
      </p:sp>
      <p:sp>
        <p:nvSpPr>
          <p:cNvPr id="9" name="card36"/>
          <p:cNvSpPr/>
          <p:nvPr/>
        </p:nvSpPr>
        <p:spPr>
          <a:xfrm>
            <a:off x="4315968" y="141732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iconbg37"/>
          <p:cNvSpPr/>
          <p:nvPr/>
        </p:nvSpPr>
        <p:spPr>
          <a:xfrm>
            <a:off x="4544568" y="1618488"/>
            <a:ext cx="566928" cy="566928"/>
          </a:xfrm>
          <a:prstGeom prst="ellipse">
            <a:avLst/>
          </a:prstGeom>
          <a:solidFill>
            <a:srgbClr val="2E3A46"/>
          </a:solidFill>
          <a:ln w="12700">
            <a:solidFill>
              <a:srgbClr val="2E3A46"/>
            </a:solidFill>
            <a:prstDash val="solid"/>
          </a:ln>
        </p:spPr>
      </p:sp>
      <p:pic>
        <p:nvPicPr>
          <p:cNvPr id="11" name="icon38" descr="FaSortAmountDown">    </p:cNvPr>
          <p:cNvPicPr>
            <a:picLocks noChangeAspect="1"/>
          </p:cNvPicPr>
          <p:nvPr/>
        </p:nvPicPr>
        <p:blipFill>
          <a:blip r:embed="rId2"/>
          <a:stretch>
            <a:fillRect/>
          </a:stretch>
        </p:blipFill>
        <p:spPr>
          <a:xfrm>
            <a:off x="4680631" y="1754551"/>
            <a:ext cx="294803" cy="294803"/>
          </a:xfrm>
          <a:prstGeom prst="rect">
            <a:avLst/>
          </a:prstGeom>
        </p:spPr>
      </p:pic>
      <p:sp>
        <p:nvSpPr>
          <p:cNvPr id="12" name="Text 8"/>
          <p:cNvSpPr txBox="1"/>
          <p:nvPr/>
        </p:nvSpPr>
        <p:spPr>
          <a:xfrm>
            <a:off x="5184648" y="166420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Policy anomalies</a:t>
            </a:r>
            <a:endParaRPr lang="en-US" sz="1700" dirty="0"/>
          </a:p>
        </p:txBody>
      </p:sp>
      <p:sp>
        <p:nvSpPr>
          <p:cNvPr id="13" name="Text 9"/>
          <p:cNvSpPr txBox="1"/>
          <p:nvPr/>
        </p:nvSpPr>
        <p:spPr>
          <a:xfrm>
            <a:off x="4544568" y="2331720"/>
            <a:ext cx="3108960" cy="777240"/>
          </a:xfrm>
          <a:prstGeom prst="rect">
            <a:avLst/>
          </a:prstGeom>
          <a:noFill/>
          <a:ln/>
        </p:spPr>
        <p:txBody>
          <a:bodyPr wrap="square" lIns="0" tIns="0" rIns="0" bIns="0" rtlCol="0" anchor="t"/>
          <a:lstStyle/>
          <a:p>
            <a:pPr indent="0" marL="0">
              <a:buNone/>
            </a:pPr>
            <a:r>
              <a:rPr lang="en-US" sz="1500" dirty="0">
                <a:solidFill>
                  <a:schemeClr val="tx2"/>
                </a:solidFill>
              </a:rPr>
              <a:t>First-match order causes shadowing and redundancy</a:t>
            </a:r>
            <a:endParaRPr lang="en-US" sz="1500" dirty="0"/>
          </a:p>
        </p:txBody>
      </p:sp>
      <p:sp>
        <p:nvSpPr>
          <p:cNvPr id="14" name="Text 10"/>
          <p:cNvSpPr txBox="1"/>
          <p:nvPr/>
        </p:nvSpPr>
        <p:spPr>
          <a:xfrm>
            <a:off x="4544568" y="3108960"/>
            <a:ext cx="3108960" cy="274320"/>
          </a:xfrm>
          <a:prstGeom prst="rect">
            <a:avLst/>
          </a:prstGeom>
          <a:noFill/>
          <a:ln/>
        </p:spPr>
        <p:txBody>
          <a:bodyPr wrap="square" lIns="0" tIns="0" rIns="0" bIns="0" rtlCol="0" anchor="t"/>
          <a:lstStyle/>
          <a:p>
            <a:pPr indent="0" marL="0">
              <a:buNone/>
            </a:pPr>
            <a:r>
              <a:rPr lang="en-US" sz="1100" dirty="0">
                <a:solidFill>
                  <a:schemeClr val="accent4"/>
                </a:solidFill>
              </a:rPr>
              <a:t>[9]–[12]</a:t>
            </a:r>
            <a:endParaRPr lang="en-US" sz="1100" dirty="0"/>
          </a:p>
        </p:txBody>
      </p:sp>
      <p:sp>
        <p:nvSpPr>
          <p:cNvPr id="15" name="card39"/>
          <p:cNvSpPr/>
          <p:nvPr/>
        </p:nvSpPr>
        <p:spPr>
          <a:xfrm>
            <a:off x="8083296" y="141732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iconbg40"/>
          <p:cNvSpPr/>
          <p:nvPr/>
        </p:nvSpPr>
        <p:spPr>
          <a:xfrm>
            <a:off x="8311896" y="1618488"/>
            <a:ext cx="566928" cy="566928"/>
          </a:xfrm>
          <a:prstGeom prst="ellipse">
            <a:avLst/>
          </a:prstGeom>
          <a:solidFill>
            <a:srgbClr val="2E3A46"/>
          </a:solidFill>
          <a:ln w="12700">
            <a:solidFill>
              <a:srgbClr val="2E3A46"/>
            </a:solidFill>
            <a:prstDash val="solid"/>
          </a:ln>
        </p:spPr>
      </p:sp>
      <p:pic>
        <p:nvPicPr>
          <p:cNvPr id="17" name="icon41" descr="FaExclamationTriangle">    </p:cNvPr>
          <p:cNvPicPr>
            <a:picLocks noChangeAspect="1"/>
          </p:cNvPicPr>
          <p:nvPr/>
        </p:nvPicPr>
        <p:blipFill>
          <a:blip r:embed="rId3"/>
          <a:stretch>
            <a:fillRect/>
          </a:stretch>
        </p:blipFill>
        <p:spPr>
          <a:xfrm>
            <a:off x="8447959" y="1754551"/>
            <a:ext cx="294803" cy="294803"/>
          </a:xfrm>
          <a:prstGeom prst="rect">
            <a:avLst/>
          </a:prstGeom>
        </p:spPr>
      </p:pic>
      <p:sp>
        <p:nvSpPr>
          <p:cNvPr id="18" name="Text 13"/>
          <p:cNvSpPr txBox="1"/>
          <p:nvPr/>
        </p:nvSpPr>
        <p:spPr>
          <a:xfrm>
            <a:off x="8951976" y="166420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Growth &amp; misconfiguration</a:t>
            </a:r>
            <a:endParaRPr lang="en-US" sz="1700" dirty="0"/>
          </a:p>
        </p:txBody>
      </p:sp>
      <p:sp>
        <p:nvSpPr>
          <p:cNvPr id="19" name="Text 14"/>
          <p:cNvSpPr txBox="1"/>
          <p:nvPr/>
        </p:nvSpPr>
        <p:spPr>
          <a:xfrm>
            <a:off x="8311896" y="2331720"/>
            <a:ext cx="3108960" cy="777240"/>
          </a:xfrm>
          <a:prstGeom prst="rect">
            <a:avLst/>
          </a:prstGeom>
          <a:noFill/>
          <a:ln/>
        </p:spPr>
        <p:txBody>
          <a:bodyPr wrap="square" lIns="0" tIns="0" rIns="0" bIns="0" rtlCol="0" anchor="t"/>
          <a:lstStyle/>
          <a:p>
            <a:pPr indent="0" marL="0">
              <a:buNone/>
            </a:pPr>
            <a:r>
              <a:rPr lang="en-US" sz="1500" dirty="0">
                <a:solidFill>
                  <a:schemeClr val="tx2"/>
                </a:solidFill>
              </a:rPr>
              <a:t>Real rule sets are often wrong; complexity tracks risk</a:t>
            </a:r>
            <a:endParaRPr lang="en-US" sz="1500" dirty="0"/>
          </a:p>
        </p:txBody>
      </p:sp>
      <p:sp>
        <p:nvSpPr>
          <p:cNvPr id="20" name="Text 15"/>
          <p:cNvSpPr txBox="1"/>
          <p:nvPr/>
        </p:nvSpPr>
        <p:spPr>
          <a:xfrm>
            <a:off x="8311896" y="3108960"/>
            <a:ext cx="3108960" cy="274320"/>
          </a:xfrm>
          <a:prstGeom prst="rect">
            <a:avLst/>
          </a:prstGeom>
          <a:noFill/>
          <a:ln/>
        </p:spPr>
        <p:txBody>
          <a:bodyPr wrap="square" lIns="0" tIns="0" rIns="0" bIns="0" rtlCol="0" anchor="t"/>
          <a:lstStyle/>
          <a:p>
            <a:pPr indent="0" marL="0">
              <a:buNone/>
            </a:pPr>
            <a:r>
              <a:rPr lang="en-US" sz="1100" dirty="0">
                <a:solidFill>
                  <a:schemeClr val="accent4"/>
                </a:solidFill>
              </a:rPr>
              <a:t>[1], [2], [13]</a:t>
            </a:r>
            <a:endParaRPr lang="en-US" sz="1100" dirty="0"/>
          </a:p>
        </p:txBody>
      </p:sp>
      <p:sp>
        <p:nvSpPr>
          <p:cNvPr id="21" name="card42"/>
          <p:cNvSpPr/>
          <p:nvPr/>
        </p:nvSpPr>
        <p:spPr>
          <a:xfrm>
            <a:off x="2432304" y="379476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iconbg43"/>
          <p:cNvSpPr/>
          <p:nvPr/>
        </p:nvSpPr>
        <p:spPr>
          <a:xfrm>
            <a:off x="2660904" y="3995928"/>
            <a:ext cx="566928" cy="566928"/>
          </a:xfrm>
          <a:prstGeom prst="ellipse">
            <a:avLst/>
          </a:prstGeom>
          <a:solidFill>
            <a:srgbClr val="2E3A46"/>
          </a:solidFill>
          <a:ln w="12700">
            <a:solidFill>
              <a:srgbClr val="2E3A46"/>
            </a:solidFill>
            <a:prstDash val="solid"/>
          </a:ln>
        </p:spPr>
      </p:sp>
      <p:pic>
        <p:nvPicPr>
          <p:cNvPr id="23" name="icon44" descr="FaUserLock">    </p:cNvPr>
          <p:cNvPicPr>
            <a:picLocks noChangeAspect="1"/>
          </p:cNvPicPr>
          <p:nvPr/>
        </p:nvPicPr>
        <p:blipFill>
          <a:blip r:embed="rId4"/>
          <a:stretch>
            <a:fillRect/>
          </a:stretch>
        </p:blipFill>
        <p:spPr>
          <a:xfrm>
            <a:off x="2796967" y="4131991"/>
            <a:ext cx="294803" cy="294803"/>
          </a:xfrm>
          <a:prstGeom prst="rect">
            <a:avLst/>
          </a:prstGeom>
        </p:spPr>
      </p:pic>
      <p:sp>
        <p:nvSpPr>
          <p:cNvPr id="24" name="Text 18"/>
          <p:cNvSpPr txBox="1"/>
          <p:nvPr/>
        </p:nvSpPr>
        <p:spPr>
          <a:xfrm>
            <a:off x="3300984" y="404164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Least privilege &amp; Zero Trust</a:t>
            </a:r>
            <a:endParaRPr lang="en-US" sz="1700" dirty="0"/>
          </a:p>
        </p:txBody>
      </p:sp>
      <p:sp>
        <p:nvSpPr>
          <p:cNvPr id="25" name="Text 19"/>
          <p:cNvSpPr txBox="1"/>
          <p:nvPr/>
        </p:nvSpPr>
        <p:spPr>
          <a:xfrm>
            <a:off x="2660904" y="4709160"/>
            <a:ext cx="3108960" cy="777240"/>
          </a:xfrm>
          <a:prstGeom prst="rect">
            <a:avLst/>
          </a:prstGeom>
          <a:noFill/>
          <a:ln/>
        </p:spPr>
        <p:txBody>
          <a:bodyPr wrap="square" lIns="0" tIns="0" rIns="0" bIns="0" rtlCol="0" anchor="t"/>
          <a:lstStyle/>
          <a:p>
            <a:pPr indent="0" marL="0">
              <a:buNone/>
            </a:pPr>
            <a:r>
              <a:rPr lang="en-US" sz="1500" dirty="0">
                <a:solidFill>
                  <a:schemeClr val="tx2"/>
                </a:solidFill>
              </a:rPr>
              <a:t>No trust from location; segment to limit lateral movement</a:t>
            </a:r>
            <a:endParaRPr lang="en-US" sz="1500" dirty="0"/>
          </a:p>
        </p:txBody>
      </p:sp>
      <p:sp>
        <p:nvSpPr>
          <p:cNvPr id="26" name="Text 20"/>
          <p:cNvSpPr txBox="1"/>
          <p:nvPr/>
        </p:nvSpPr>
        <p:spPr>
          <a:xfrm>
            <a:off x="2660904" y="5486400"/>
            <a:ext cx="3108960" cy="274320"/>
          </a:xfrm>
          <a:prstGeom prst="rect">
            <a:avLst/>
          </a:prstGeom>
          <a:noFill/>
          <a:ln/>
        </p:spPr>
        <p:txBody>
          <a:bodyPr wrap="square" lIns="0" tIns="0" rIns="0" bIns="0" rtlCol="0" anchor="t"/>
          <a:lstStyle/>
          <a:p>
            <a:pPr indent="0" marL="0">
              <a:buNone/>
            </a:pPr>
            <a:r>
              <a:rPr lang="en-US" sz="1100" dirty="0">
                <a:solidFill>
                  <a:schemeClr val="accent4"/>
                </a:solidFill>
              </a:rPr>
              <a:t>[4], [5], [14]–[16]</a:t>
            </a:r>
            <a:endParaRPr lang="en-US" sz="1100" dirty="0"/>
          </a:p>
        </p:txBody>
      </p:sp>
      <p:sp>
        <p:nvSpPr>
          <p:cNvPr id="27" name="card45"/>
          <p:cNvSpPr/>
          <p:nvPr/>
        </p:nvSpPr>
        <p:spPr>
          <a:xfrm>
            <a:off x="6199632" y="379476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iconbg46"/>
          <p:cNvSpPr/>
          <p:nvPr/>
        </p:nvSpPr>
        <p:spPr>
          <a:xfrm>
            <a:off x="6428232" y="3995928"/>
            <a:ext cx="566928" cy="566928"/>
          </a:xfrm>
          <a:prstGeom prst="ellipse">
            <a:avLst/>
          </a:prstGeom>
          <a:solidFill>
            <a:srgbClr val="2E3A46"/>
          </a:solidFill>
          <a:ln w="12700">
            <a:solidFill>
              <a:srgbClr val="2E3A46"/>
            </a:solidFill>
            <a:prstDash val="solid"/>
          </a:ln>
        </p:spPr>
      </p:sp>
      <p:pic>
        <p:nvPicPr>
          <p:cNvPr id="29" name="icon47" descr="FaTools">    </p:cNvPr>
          <p:cNvPicPr>
            <a:picLocks noChangeAspect="1"/>
          </p:cNvPicPr>
          <p:nvPr/>
        </p:nvPicPr>
        <p:blipFill>
          <a:blip r:embed="rId5"/>
          <a:stretch>
            <a:fillRect/>
          </a:stretch>
        </p:blipFill>
        <p:spPr>
          <a:xfrm>
            <a:off x="6564295" y="4131991"/>
            <a:ext cx="294803" cy="294803"/>
          </a:xfrm>
          <a:prstGeom prst="rect">
            <a:avLst/>
          </a:prstGeom>
        </p:spPr>
      </p:pic>
      <p:sp>
        <p:nvSpPr>
          <p:cNvPr id="30" name="Text 23"/>
          <p:cNvSpPr txBox="1"/>
          <p:nvPr/>
        </p:nvSpPr>
        <p:spPr>
          <a:xfrm>
            <a:off x="7068312" y="404164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Management tools</a:t>
            </a:r>
            <a:endParaRPr lang="en-US" sz="1700" dirty="0"/>
          </a:p>
        </p:txBody>
      </p:sp>
      <p:sp>
        <p:nvSpPr>
          <p:cNvPr id="31" name="Text 24"/>
          <p:cNvSpPr txBox="1"/>
          <p:nvPr/>
        </p:nvSpPr>
        <p:spPr>
          <a:xfrm>
            <a:off x="6428232" y="4709160"/>
            <a:ext cx="3108960" cy="777240"/>
          </a:xfrm>
          <a:prstGeom prst="rect">
            <a:avLst/>
          </a:prstGeom>
          <a:noFill/>
          <a:ln/>
        </p:spPr>
        <p:txBody>
          <a:bodyPr wrap="square" lIns="0" tIns="0" rIns="0" bIns="0" rtlCol="0" anchor="t"/>
          <a:lstStyle/>
          <a:p>
            <a:pPr indent="0" marL="0">
              <a:buNone/>
            </a:pPr>
            <a:r>
              <a:rPr lang="en-US" sz="1500" dirty="0">
                <a:solidFill>
                  <a:schemeClr val="tx2"/>
                </a:solidFill>
              </a:rPr>
              <a:t>Detect or prevent anomalies; usability rarely tested</a:t>
            </a:r>
            <a:endParaRPr lang="en-US" sz="1500" dirty="0"/>
          </a:p>
        </p:txBody>
      </p:sp>
      <p:sp>
        <p:nvSpPr>
          <p:cNvPr id="32" name="Text 25"/>
          <p:cNvSpPr txBox="1"/>
          <p:nvPr/>
        </p:nvSpPr>
        <p:spPr>
          <a:xfrm>
            <a:off x="6428232" y="5486400"/>
            <a:ext cx="3108960" cy="274320"/>
          </a:xfrm>
          <a:prstGeom prst="rect">
            <a:avLst/>
          </a:prstGeom>
          <a:noFill/>
          <a:ln/>
        </p:spPr>
        <p:txBody>
          <a:bodyPr wrap="square" lIns="0" tIns="0" rIns="0" bIns="0" rtlCol="0" anchor="t"/>
          <a:lstStyle/>
          <a:p>
            <a:pPr indent="0" marL="0">
              <a:buNone/>
            </a:pPr>
            <a:r>
              <a:rPr lang="en-US" sz="1100" dirty="0">
                <a:solidFill>
                  <a:schemeClr val="accent4"/>
                </a:solidFill>
              </a:rPr>
              <a:t>[10]–[13], [17]</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Gaps we found, and our response</a:t>
            </a:r>
            <a:endParaRPr lang="en-US" sz="3200" dirty="0"/>
          </a:p>
        </p:txBody>
      </p:sp>
      <p:sp>
        <p:nvSpPr>
          <p:cNvPr id="3" name="card48"/>
          <p:cNvSpPr/>
          <p:nvPr/>
        </p:nvSpPr>
        <p:spPr>
          <a:xfrm>
            <a:off x="548640" y="1417320"/>
            <a:ext cx="64008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417320"/>
            <a:ext cx="457200" cy="91440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325880" y="1417320"/>
            <a:ext cx="5486400" cy="914400"/>
          </a:xfrm>
          <a:prstGeom prst="rect">
            <a:avLst/>
          </a:prstGeom>
          <a:noFill/>
          <a:ln/>
        </p:spPr>
        <p:txBody>
          <a:bodyPr wrap="square" lIns="0" tIns="0" rIns="0" bIns="0" rtlCol="0" anchor="ctr"/>
          <a:lstStyle/>
          <a:p>
            <a:pPr indent="0" marL="0">
              <a:buNone/>
            </a:pPr>
            <a:r>
              <a:rPr lang="en-US" sz="1700" dirty="0">
                <a:solidFill>
                  <a:schemeClr val="tx1"/>
                </a:solidFill>
              </a:rPr>
              <a:t>Empirical data on misconfiguration are dated and from few sources</a:t>
            </a:r>
            <a:endParaRPr lang="en-US" sz="1700" dirty="0"/>
          </a:p>
        </p:txBody>
      </p:sp>
      <p:sp>
        <p:nvSpPr>
          <p:cNvPr id="6" name="card49"/>
          <p:cNvSpPr/>
          <p:nvPr/>
        </p:nvSpPr>
        <p:spPr>
          <a:xfrm>
            <a:off x="548640" y="2514600"/>
            <a:ext cx="64008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77240" y="2514600"/>
            <a:ext cx="457200" cy="91440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2</a:t>
            </a:r>
            <a:endParaRPr lang="en-US" sz="2600" dirty="0"/>
          </a:p>
        </p:txBody>
      </p:sp>
      <p:sp>
        <p:nvSpPr>
          <p:cNvPr id="8" name="Text 6"/>
          <p:cNvSpPr txBox="1"/>
          <p:nvPr/>
        </p:nvSpPr>
        <p:spPr>
          <a:xfrm>
            <a:off x="1325880" y="2514600"/>
            <a:ext cx="5486400" cy="914400"/>
          </a:xfrm>
          <a:prstGeom prst="rect">
            <a:avLst/>
          </a:prstGeom>
          <a:noFill/>
          <a:ln/>
        </p:spPr>
        <p:txBody>
          <a:bodyPr wrap="square" lIns="0" tIns="0" rIns="0" bIns="0" rtlCol="0" anchor="ctr"/>
          <a:lstStyle/>
          <a:p>
            <a:pPr indent="0" marL="0">
              <a:buNone/>
            </a:pPr>
            <a:r>
              <a:rPr lang="en-US" sz="1700" dirty="0">
                <a:solidFill>
                  <a:schemeClr val="tx1"/>
                </a:solidFill>
              </a:rPr>
              <a:t>Unnecessary access is rarely measured against written requirements</a:t>
            </a:r>
            <a:endParaRPr lang="en-US" sz="1700" dirty="0"/>
          </a:p>
        </p:txBody>
      </p:sp>
      <p:sp>
        <p:nvSpPr>
          <p:cNvPr id="9" name="card50"/>
          <p:cNvSpPr/>
          <p:nvPr/>
        </p:nvSpPr>
        <p:spPr>
          <a:xfrm>
            <a:off x="548640" y="3611880"/>
            <a:ext cx="6400800" cy="914400"/>
          </a:xfrm>
          <a:prstGeom prst="roundRect">
            <a:avLst>
              <a:gd name="adj" fmla="val 8000"/>
            </a:avLst>
          </a:prstGeom>
          <a:solidFill>
            <a:srgbClr val="FBEFD9"/>
          </a:solidFill>
          <a:ln w="12700">
            <a:solidFill>
              <a:srgbClr val="FBEFD9"/>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3611880"/>
            <a:ext cx="457200" cy="91440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3</a:t>
            </a:r>
            <a:endParaRPr lang="en-US" sz="2600" dirty="0"/>
          </a:p>
        </p:txBody>
      </p:sp>
      <p:sp>
        <p:nvSpPr>
          <p:cNvPr id="11" name="Text 9"/>
          <p:cNvSpPr txBox="1"/>
          <p:nvPr/>
        </p:nvSpPr>
        <p:spPr>
          <a:xfrm>
            <a:off x="1325880" y="3611880"/>
            <a:ext cx="5486400" cy="914400"/>
          </a:xfrm>
          <a:prstGeom prst="rect">
            <a:avLst/>
          </a:prstGeom>
          <a:noFill/>
          <a:ln/>
        </p:spPr>
        <p:txBody>
          <a:bodyPr wrap="square" lIns="0" tIns="0" rIns="0" bIns="0" rtlCol="0" anchor="ctr"/>
          <a:lstStyle/>
          <a:p>
            <a:pPr indent="0" marL="0">
              <a:buNone/>
            </a:pPr>
            <a:r>
              <a:rPr lang="en-US" sz="1700" dirty="0">
                <a:solidFill>
                  <a:schemeClr val="tx1"/>
                </a:solidFill>
              </a:rPr>
              <a:t>Security gain and management cost are seldom measured on the same policy</a:t>
            </a:r>
            <a:endParaRPr lang="en-US" sz="1700" dirty="0"/>
          </a:p>
        </p:txBody>
      </p:sp>
      <p:sp>
        <p:nvSpPr>
          <p:cNvPr id="12" name="card51"/>
          <p:cNvSpPr/>
          <p:nvPr/>
        </p:nvSpPr>
        <p:spPr>
          <a:xfrm>
            <a:off x="548640" y="4709160"/>
            <a:ext cx="6400800" cy="914400"/>
          </a:xfrm>
          <a:prstGeom prst="roundRect">
            <a:avLst>
              <a:gd name="adj" fmla="val 8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4709160"/>
            <a:ext cx="457200" cy="91440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4</a:t>
            </a:r>
            <a:endParaRPr lang="en-US" sz="2600" dirty="0"/>
          </a:p>
        </p:txBody>
      </p:sp>
      <p:sp>
        <p:nvSpPr>
          <p:cNvPr id="14" name="Text 12"/>
          <p:cNvSpPr txBox="1"/>
          <p:nvPr/>
        </p:nvSpPr>
        <p:spPr>
          <a:xfrm>
            <a:off x="1325880" y="4709160"/>
            <a:ext cx="5486400" cy="914400"/>
          </a:xfrm>
          <a:prstGeom prst="rect">
            <a:avLst/>
          </a:prstGeom>
          <a:noFill/>
          <a:ln/>
        </p:spPr>
        <p:txBody>
          <a:bodyPr wrap="square" lIns="0" tIns="0" rIns="0" bIns="0" rtlCol="0" anchor="ctr"/>
          <a:lstStyle/>
          <a:p>
            <a:pPr indent="0" marL="0">
              <a:buNone/>
            </a:pPr>
            <a:r>
              <a:rPr lang="en-US" sz="1700" dirty="0">
                <a:solidFill>
                  <a:schemeClr val="tx1"/>
                </a:solidFill>
              </a:rPr>
              <a:t>Management tools are seldom evaluated with real users</a:t>
            </a:r>
            <a:endParaRPr lang="en-US" sz="1700" dirty="0"/>
          </a:p>
        </p:txBody>
      </p:sp>
      <p:sp>
        <p:nvSpPr>
          <p:cNvPr id="15" name="card52"/>
          <p:cNvSpPr/>
          <p:nvPr/>
        </p:nvSpPr>
        <p:spPr>
          <a:xfrm>
            <a:off x="7406640" y="1417320"/>
            <a:ext cx="4206240" cy="4206240"/>
          </a:xfrm>
          <a:prstGeom prst="roundRect">
            <a:avLst>
              <a:gd name="adj" fmla="val 1739"/>
            </a:avLst>
          </a:prstGeom>
          <a:solidFill>
            <a:srgbClr val="1E252E"/>
          </a:solidFill>
          <a:ln w="12700">
            <a:solidFill>
              <a:srgbClr val="1E252E"/>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726680" y="1691640"/>
            <a:ext cx="3566160" cy="3657600"/>
          </a:xfrm>
          <a:prstGeom prst="rect">
            <a:avLst/>
          </a:prstGeom>
          <a:noFill/>
          <a:ln/>
        </p:spPr>
        <p:txBody>
          <a:bodyPr wrap="square" lIns="0" tIns="0" rIns="0" bIns="0" rtlCol="0" anchor="t"/>
          <a:lstStyle/>
          <a:p>
            <a:pPr indent="0" marL="0">
              <a:buNone/>
            </a:pPr>
            <a:r>
              <a:rPr lang="en-US" sz="2000" b="1" dirty="0">
                <a:solidFill>
                  <a:schemeClr val="accent3"/>
                </a:solidFill>
              </a:rPr>
              <a:t>Our response to gap 3</a:t>
            </a:r>
            <a:endParaRPr lang="en-US" sz="1700" dirty="0"/>
          </a:p>
          <a:p>
            <a:pPr indent="0" marL="0">
              <a:buNone/>
            </a:pPr>
            <a:r>
              <a:rPr lang="en-US" sz="800" dirty="0">
                <a:solidFill>
                  <a:schemeClr val="bg1"/>
                </a:solidFill>
              </a:rPr>
              <a:t> </a:t>
            </a:r>
            <a:endParaRPr lang="en-US" sz="1700" dirty="0"/>
          </a:p>
          <a:p>
            <a:pPr indent="0" marL="0">
              <a:buNone/>
            </a:pPr>
            <a:r>
              <a:rPr lang="en-US" sz="1700" dirty="0">
                <a:solidFill>
                  <a:schemeClr val="bg1"/>
                </a:solidFill>
              </a:rPr>
              <a:t>Write required and forbidden flows first.</a:t>
            </a:r>
            <a:endParaRPr lang="en-US" sz="1700" dirty="0"/>
          </a:p>
          <a:p>
            <a:pPr indent="0" marL="0">
              <a:buNone/>
            </a:pPr>
            <a:r>
              <a:rPr lang="en-US" sz="800" dirty="0">
                <a:solidFill>
                  <a:schemeClr val="bg1"/>
                </a:solidFill>
              </a:rPr>
              <a:t> </a:t>
            </a:r>
            <a:endParaRPr lang="en-US" sz="1700" dirty="0"/>
          </a:p>
          <a:p>
            <a:pPr indent="0" marL="0">
              <a:buNone/>
            </a:pPr>
            <a:r>
              <a:rPr lang="en-US" sz="1700" dirty="0">
                <a:solidFill>
                  <a:schemeClr val="bg1"/>
                </a:solidFill>
              </a:rPr>
              <a:t>Apply three policies of increasing precision to one network.</a:t>
            </a:r>
            <a:endParaRPr lang="en-US" sz="1700" dirty="0"/>
          </a:p>
          <a:p>
            <a:pPr indent="0" marL="0">
              <a:buNone/>
            </a:pPr>
            <a:r>
              <a:rPr lang="en-US" sz="800" dirty="0">
                <a:solidFill>
                  <a:schemeClr val="bg1"/>
                </a:solidFill>
              </a:rPr>
              <a:t> </a:t>
            </a:r>
            <a:endParaRPr lang="en-US" sz="1700" dirty="0"/>
          </a:p>
          <a:p>
            <a:pPr indent="0" marL="0">
              <a:buNone/>
            </a:pPr>
            <a:r>
              <a:rPr lang="en-US" sz="1700" dirty="0">
                <a:solidFill>
                  <a:schemeClr val="bg1"/>
                </a:solidFill>
              </a:rPr>
              <a:t>Measure leakage and policy size at every stage.</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Network design: 19 devices, 7 enforcement points</a:t>
            </a:r>
            <a:endParaRPr lang="en-US" sz="3200" dirty="0"/>
          </a:p>
        </p:txBody>
      </p:sp>
      <p:pic>
        <p:nvPicPr>
          <p:cNvPr id="3" name="img53" descr="Network topology with enforcement points AP1 to AP7">    </p:cNvPr>
          <p:cNvPicPr>
            <a:picLocks noChangeAspect="1"/>
          </p:cNvPicPr>
          <p:nvPr/>
        </p:nvPicPr>
        <p:blipFill>
          <a:blip r:embed="rId1"/>
          <a:stretch>
            <a:fillRect/>
          </a:stretch>
        </p:blipFill>
        <p:spPr>
          <a:xfrm>
            <a:off x="548640" y="1234440"/>
            <a:ext cx="6766560" cy="5017468"/>
          </a:xfrm>
          <a:prstGeom prst="rect">
            <a:avLst/>
          </a:prstGeom>
        </p:spPr>
      </p:pic>
      <p:sp>
        <p:nvSpPr>
          <p:cNvPr id="4" name="card54"/>
          <p:cNvSpPr/>
          <p:nvPr/>
        </p:nvSpPr>
        <p:spPr>
          <a:xfrm>
            <a:off x="7680960" y="1371600"/>
            <a:ext cx="39319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909560" y="1481328"/>
            <a:ext cx="3566160" cy="365760"/>
          </a:xfrm>
          <a:prstGeom prst="rect">
            <a:avLst/>
          </a:prstGeom>
          <a:noFill/>
          <a:ln/>
        </p:spPr>
        <p:txBody>
          <a:bodyPr wrap="square" lIns="0" tIns="0" rIns="0" bIns="0" rtlCol="0" anchor="t"/>
          <a:lstStyle/>
          <a:p>
            <a:pPr indent="0" marL="0">
              <a:buNone/>
            </a:pPr>
            <a:r>
              <a:rPr lang="en-US" sz="1800" b="1" dirty="0">
                <a:solidFill>
                  <a:schemeClr val="tx2"/>
                </a:solidFill>
              </a:rPr>
              <a:t>4 departments</a:t>
            </a:r>
            <a:endParaRPr lang="en-US" sz="1800" dirty="0"/>
          </a:p>
        </p:txBody>
      </p:sp>
      <p:sp>
        <p:nvSpPr>
          <p:cNvPr id="6" name="Text 3"/>
          <p:cNvSpPr txBox="1"/>
          <p:nvPr/>
        </p:nvSpPr>
        <p:spPr>
          <a:xfrm>
            <a:off x="7909560" y="1874520"/>
            <a:ext cx="3566160" cy="411480"/>
          </a:xfrm>
          <a:prstGeom prst="rect">
            <a:avLst/>
          </a:prstGeom>
          <a:noFill/>
          <a:ln/>
        </p:spPr>
        <p:txBody>
          <a:bodyPr wrap="square" lIns="0" tIns="0" rIns="0" bIns="0" rtlCol="0" anchor="t"/>
          <a:lstStyle/>
          <a:p>
            <a:pPr indent="0" marL="0">
              <a:buNone/>
            </a:pPr>
            <a:r>
              <a:rPr lang="en-US" sz="1300" dirty="0">
                <a:solidFill>
                  <a:schemeClr val="accent4"/>
                </a:solidFill>
              </a:rPr>
              <a:t>HR, Finance, IT, Sales: VLANs 10–40</a:t>
            </a:r>
            <a:endParaRPr lang="en-US" sz="1300" dirty="0"/>
          </a:p>
        </p:txBody>
      </p:sp>
      <p:sp>
        <p:nvSpPr>
          <p:cNvPr id="7" name="card55"/>
          <p:cNvSpPr/>
          <p:nvPr/>
        </p:nvSpPr>
        <p:spPr>
          <a:xfrm>
            <a:off x="7680960" y="2560320"/>
            <a:ext cx="39319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7909560" y="2670048"/>
            <a:ext cx="3566160" cy="365760"/>
          </a:xfrm>
          <a:prstGeom prst="rect">
            <a:avLst/>
          </a:prstGeom>
          <a:noFill/>
          <a:ln/>
        </p:spPr>
        <p:txBody>
          <a:bodyPr wrap="square" lIns="0" tIns="0" rIns="0" bIns="0" rtlCol="0" anchor="t"/>
          <a:lstStyle/>
          <a:p>
            <a:pPr indent="0" marL="0">
              <a:buNone/>
            </a:pPr>
            <a:r>
              <a:rPr lang="en-US" sz="1800" b="1" dirty="0">
                <a:solidFill>
                  <a:schemeClr val="tx2"/>
                </a:solidFill>
              </a:rPr>
              <a:t>4 servers</a:t>
            </a:r>
            <a:endParaRPr lang="en-US" sz="1800" dirty="0"/>
          </a:p>
        </p:txBody>
      </p:sp>
      <p:sp>
        <p:nvSpPr>
          <p:cNvPr id="9" name="Text 6"/>
          <p:cNvSpPr txBox="1"/>
          <p:nvPr/>
        </p:nvSpPr>
        <p:spPr>
          <a:xfrm>
            <a:off x="7909560" y="3063240"/>
            <a:ext cx="3566160" cy="411480"/>
          </a:xfrm>
          <a:prstGeom prst="rect">
            <a:avLst/>
          </a:prstGeom>
          <a:noFill/>
          <a:ln/>
        </p:spPr>
        <p:txBody>
          <a:bodyPr wrap="square" lIns="0" tIns="0" rIns="0" bIns="0" rtlCol="0" anchor="t"/>
          <a:lstStyle/>
          <a:p>
            <a:pPr indent="0" marL="0">
              <a:buNone/>
            </a:pPr>
            <a:r>
              <a:rPr lang="en-US" sz="1300" dirty="0">
                <a:solidFill>
                  <a:schemeClr val="accent4"/>
                </a:solidFill>
              </a:rPr>
              <a:t>Web, DNS, HR records (HTTPS), Finance (FTP)</a:t>
            </a:r>
            <a:endParaRPr lang="en-US" sz="1300" dirty="0"/>
          </a:p>
        </p:txBody>
      </p:sp>
      <p:sp>
        <p:nvSpPr>
          <p:cNvPr id="10" name="card56"/>
          <p:cNvSpPr/>
          <p:nvPr/>
        </p:nvSpPr>
        <p:spPr>
          <a:xfrm>
            <a:off x="7680960" y="3749040"/>
            <a:ext cx="39319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7909560" y="3858768"/>
            <a:ext cx="3566160" cy="365760"/>
          </a:xfrm>
          <a:prstGeom prst="rect">
            <a:avLst/>
          </a:prstGeom>
          <a:noFill/>
          <a:ln/>
        </p:spPr>
        <p:txBody>
          <a:bodyPr wrap="square" lIns="0" tIns="0" rIns="0" bIns="0" rtlCol="0" anchor="t"/>
          <a:lstStyle/>
          <a:p>
            <a:pPr indent="0" marL="0">
              <a:buNone/>
            </a:pPr>
            <a:r>
              <a:rPr lang="en-US" sz="1800" b="1" dirty="0">
                <a:solidFill>
                  <a:schemeClr val="tx2"/>
                </a:solidFill>
              </a:rPr>
              <a:t>Simulated Internet</a:t>
            </a:r>
            <a:endParaRPr lang="en-US" sz="1800" dirty="0"/>
          </a:p>
        </p:txBody>
      </p:sp>
      <p:sp>
        <p:nvSpPr>
          <p:cNvPr id="12" name="Text 9"/>
          <p:cNvSpPr txBox="1"/>
          <p:nvPr/>
        </p:nvSpPr>
        <p:spPr>
          <a:xfrm>
            <a:off x="7909560" y="4251960"/>
            <a:ext cx="3566160" cy="411480"/>
          </a:xfrm>
          <a:prstGeom prst="rect">
            <a:avLst/>
          </a:prstGeom>
          <a:noFill/>
          <a:ln/>
        </p:spPr>
        <p:txBody>
          <a:bodyPr wrap="square" lIns="0" tIns="0" rIns="0" bIns="0" rtlCol="0" anchor="t"/>
          <a:lstStyle/>
          <a:p>
            <a:pPr indent="0" marL="0">
              <a:buNone/>
            </a:pPr>
            <a:r>
              <a:rPr lang="en-US" sz="1300" dirty="0">
                <a:solidFill>
                  <a:schemeClr val="accent4"/>
                </a:solidFill>
              </a:rPr>
              <a:t>203.0.113.0/24 (RFC 5737)</a:t>
            </a:r>
            <a:endParaRPr lang="en-US" sz="1300" dirty="0"/>
          </a:p>
        </p:txBody>
      </p:sp>
      <p:sp>
        <p:nvSpPr>
          <p:cNvPr id="13" name="card57"/>
          <p:cNvSpPr/>
          <p:nvPr/>
        </p:nvSpPr>
        <p:spPr>
          <a:xfrm>
            <a:off x="7680960" y="4937760"/>
            <a:ext cx="39319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7909560" y="5047488"/>
            <a:ext cx="3566160" cy="365760"/>
          </a:xfrm>
          <a:prstGeom prst="rect">
            <a:avLst/>
          </a:prstGeom>
          <a:noFill/>
          <a:ln/>
        </p:spPr>
        <p:txBody>
          <a:bodyPr wrap="square" lIns="0" tIns="0" rIns="0" bIns="0" rtlCol="0" anchor="t"/>
          <a:lstStyle/>
          <a:p>
            <a:pPr indent="0" marL="0">
              <a:buNone/>
            </a:pPr>
            <a:r>
              <a:rPr lang="en-US" sz="1800" b="1" dirty="0">
                <a:solidFill>
                  <a:schemeClr val="tx2"/>
                </a:solidFill>
              </a:rPr>
              <a:t>7 enforcement points</a:t>
            </a:r>
            <a:endParaRPr lang="en-US" sz="1800" dirty="0"/>
          </a:p>
        </p:txBody>
      </p:sp>
      <p:sp>
        <p:nvSpPr>
          <p:cNvPr id="15" name="Text 12"/>
          <p:cNvSpPr txBox="1"/>
          <p:nvPr/>
        </p:nvSpPr>
        <p:spPr>
          <a:xfrm>
            <a:off x="7909560" y="5440680"/>
            <a:ext cx="3566160" cy="411480"/>
          </a:xfrm>
          <a:prstGeom prst="rect">
            <a:avLst/>
          </a:prstGeom>
          <a:noFill/>
          <a:ln/>
        </p:spPr>
        <p:txBody>
          <a:bodyPr wrap="square" lIns="0" tIns="0" rIns="0" bIns="0" rtlCol="0" anchor="t"/>
          <a:lstStyle/>
          <a:p>
            <a:pPr indent="0" marL="0">
              <a:buNone/>
            </a:pPr>
            <a:r>
              <a:rPr lang="en-US" sz="1300" dirty="0">
                <a:solidFill>
                  <a:schemeClr val="accent4"/>
                </a:solidFill>
              </a:rPr>
              <a:t>Edge ACL, 4 department ACLs, 2 router logins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Requirements written before any rule</a:t>
            </a:r>
            <a:endParaRPr lang="en-US" sz="3200" dirty="0"/>
          </a:p>
        </p:txBody>
      </p:sp>
      <p:sp>
        <p:nvSpPr>
          <p:cNvPr id="3" name="pill58"/>
          <p:cNvSpPr/>
          <p:nvPr/>
        </p:nvSpPr>
        <p:spPr>
          <a:xfrm>
            <a:off x="548640" y="1325880"/>
            <a:ext cx="105156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548640" y="132588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REQUIRED</a:t>
            </a:r>
            <a:endParaRPr lang="en-US" sz="1100" dirty="0"/>
          </a:p>
        </p:txBody>
      </p:sp>
      <p:sp>
        <p:nvSpPr>
          <p:cNvPr id="5" name="pill59"/>
          <p:cNvSpPr/>
          <p:nvPr/>
        </p:nvSpPr>
        <p:spPr>
          <a:xfrm>
            <a:off x="6263640" y="1325880"/>
            <a:ext cx="1051560" cy="329184"/>
          </a:xfrm>
          <a:prstGeom prst="roundRect">
            <a:avLst>
              <a:gd name="adj" fmla="val 50000"/>
            </a:avLst>
          </a:prstGeom>
          <a:solidFill>
            <a:schemeClr val="accent1"/>
          </a:solidFill>
          <a:ln w="12700">
            <a:solidFill>
              <a:schemeClr val="accent1"/>
            </a:solidFill>
            <a:prstDash val="solid"/>
          </a:ln>
        </p:spPr>
      </p:sp>
      <p:sp>
        <p:nvSpPr>
          <p:cNvPr id="6" name="Text 4"/>
          <p:cNvSpPr txBox="1"/>
          <p:nvPr/>
        </p:nvSpPr>
        <p:spPr>
          <a:xfrm>
            <a:off x="6263640" y="132588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FORBIDDEN</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440680" cy="914400"/>
        </p:xfrm>
        <a:graphic>
          <a:graphicData uri="http://schemas.openxmlformats.org/drawingml/2006/table">
            <a:tbl>
              <a:tblPr/>
              <a:tblGrid>
                <a:gridCol w="640080"/>
                <a:gridCol w="4800600"/>
              </a:tblGrid>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R1</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All departments → DNS server (UDP 53)</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R2</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All departments → web portal (HTTP/HTTPS)</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R3</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HR → HR records server (HTTPS)</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R4</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Finance → finance server (FTP)</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R5</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IT → both routers (SSH)</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R6</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IT → servers (ping)</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R7</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All departments → Internet web</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1E8E5A"/>
                          </a:solidFill>
                          <a:latin typeface="Calibri" pitchFamily="34" charset="0"/>
                          <a:ea typeface="Calibri" pitchFamily="34" charset="-122"/>
                          <a:cs typeface="Calibri" pitchFamily="34" charset="-120"/>
                        </a:rPr>
                        <a:t>R8</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Internet → public web portal</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63640" y="1783080"/>
          <a:ext cx="5349240" cy="914400"/>
        </p:xfrm>
        <a:graphic>
          <a:graphicData uri="http://schemas.openxmlformats.org/drawingml/2006/table">
            <a:tbl>
              <a:tblPr/>
              <a:tblGrid>
                <a:gridCol w="640080"/>
                <a:gridCol w="4709160"/>
              </a:tblGrid>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X1</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Department → other department</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X2</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Non-HR → HR records server</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X3</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Non-Finance → finance server</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X4</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Non-IT → router management</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X5</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Anyone → routers by Telnet</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X6</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Non-IT → servers by ping / unused ports</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r h="475488">
                <a:tc>
                  <a:txBody>
                    <a:bodyPr/>
                    <a:lstStyle/>
                    <a:p>
                      <a:pPr indent="0" marL="0">
                        <a:buNone/>
                      </a:pPr>
                      <a:r>
                        <a:rPr lang="en-US" sz="1400" b="1" dirty="0">
                          <a:solidFill>
                            <a:srgbClr val="C0392B"/>
                          </a:solidFill>
                          <a:latin typeface="Calibri" pitchFamily="34" charset="0"/>
                          <a:ea typeface="Calibri" pitchFamily="34" charset="-122"/>
                          <a:cs typeface="Calibri" pitchFamily="34" charset="-120"/>
                        </a:rPr>
                        <a:t>X7</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400" dirty="0">
                          <a:solidFill>
                            <a:srgbClr val="1E252E"/>
                          </a:solidFill>
                          <a:latin typeface="Calibri" pitchFamily="34" charset="0"/>
                          <a:ea typeface="Calibri" pitchFamily="34" charset="-122"/>
                          <a:cs typeface="Calibri" pitchFamily="34" charset="-120"/>
                        </a:rPr>
                        <a:t>Internet → anything except the portal</a:t>
                      </a:r>
                      <a:endParaRPr lang="en-US" sz="1400" dirty="0">
                        <a:latin typeface="Calibri" charset="0"/>
                        <a:ea typeface="Calibri" charset="0"/>
                        <a:cs typeface="Calibri" charset="0"/>
                      </a:endParaRPr>
                    </a:p>
                  </a:txBody>
                  <a:tcPr marL="91440" marR="91440" marT="36576" marB="36576"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r>
            </a:tbl>
          </a:graphicData>
        </a:graphic>
      </p:graphicFrame>
      <p:sp>
        <p:nvSpPr>
          <p:cNvPr id="9" name="Text 5"/>
          <p:cNvSpPr txBox="1"/>
          <p:nvPr/>
        </p:nvSpPr>
        <p:spPr>
          <a:xfrm>
            <a:off x="6263640" y="5349240"/>
            <a:ext cx="5349240" cy="731520"/>
          </a:xfrm>
          <a:prstGeom prst="rect">
            <a:avLst/>
          </a:prstGeom>
          <a:noFill/>
          <a:ln/>
        </p:spPr>
        <p:txBody>
          <a:bodyPr wrap="square" lIns="0" tIns="0" rIns="0" bIns="0" rtlCol="0" anchor="t"/>
          <a:lstStyle/>
          <a:p>
            <a:pPr indent="0" marL="0">
              <a:buNone/>
            </a:pPr>
            <a:r>
              <a:rPr lang="en-US" sz="1300" i="1" dirty="0">
                <a:solidFill>
                  <a:schemeClr val="accent4"/>
                </a:solidFill>
              </a:rPr>
              <a:t>U1: PC-to-PC traffic inside one VLAN cannot be filtered by a router ACL. "Unnecessary access" = any X flow the policy still allows.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Three policies of increasing precision</a:t>
            </a:r>
            <a:endParaRPr lang="en-US" sz="3200" dirty="0"/>
          </a:p>
        </p:txBody>
      </p:sp>
      <p:sp>
        <p:nvSpPr>
          <p:cNvPr id="3" name="card60"/>
          <p:cNvSpPr/>
          <p:nvPr/>
        </p:nvSpPr>
        <p:spPr>
          <a:xfrm>
            <a:off x="548640" y="1371600"/>
            <a:ext cx="3566160" cy="42062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dot0"/>
          <p:cNvSpPr/>
          <p:nvPr/>
        </p:nvSpPr>
        <p:spPr>
          <a:xfrm>
            <a:off x="822960" y="1645920"/>
            <a:ext cx="457200" cy="457200"/>
          </a:xfrm>
          <a:prstGeom prst="ellipse">
            <a:avLst/>
          </a:prstGeom>
          <a:solidFill>
            <a:srgbClr val="C0392B"/>
          </a:solidFill>
          <a:ln w="12700">
            <a:solidFill>
              <a:srgbClr val="C0392B"/>
            </a:solidFill>
            <a:prstDash val="solid"/>
          </a:ln>
        </p:spPr>
      </p:sp>
      <p:sp>
        <p:nvSpPr>
          <p:cNvPr id="5" name="Text 3"/>
          <p:cNvSpPr txBox="1"/>
          <p:nvPr/>
        </p:nvSpPr>
        <p:spPr>
          <a:xfrm>
            <a:off x="1417320" y="1645920"/>
            <a:ext cx="2468880" cy="457200"/>
          </a:xfrm>
          <a:prstGeom prst="rect">
            <a:avLst/>
          </a:prstGeom>
          <a:noFill/>
          <a:ln/>
        </p:spPr>
        <p:txBody>
          <a:bodyPr wrap="square" lIns="0" tIns="0" rIns="0" bIns="0" rtlCol="0" anchor="ctr"/>
          <a:lstStyle/>
          <a:p>
            <a:pPr indent="0" marL="0">
              <a:buNone/>
            </a:pPr>
            <a:r>
              <a:rPr lang="en-US" sz="1500" dirty="0">
                <a:solidFill>
                  <a:schemeClr val="accent4"/>
                </a:solidFill>
              </a:rPr>
              <a:t>Stage 1</a:t>
            </a:r>
            <a:endParaRPr lang="en-US" sz="1500" dirty="0"/>
          </a:p>
        </p:txBody>
      </p:sp>
      <p:sp>
        <p:nvSpPr>
          <p:cNvPr id="6" name="Text 4"/>
          <p:cNvSpPr txBox="1"/>
          <p:nvPr/>
        </p:nvSpPr>
        <p:spPr>
          <a:xfrm>
            <a:off x="822960" y="2286000"/>
            <a:ext cx="310896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Broad</a:t>
            </a:r>
            <a:endParaRPr lang="en-US" sz="2400" dirty="0"/>
          </a:p>
        </p:txBody>
      </p:sp>
      <p:sp>
        <p:nvSpPr>
          <p:cNvPr id="7" name="Text 5"/>
          <p:cNvSpPr txBox="1"/>
          <p:nvPr/>
        </p:nvSpPr>
        <p:spPr>
          <a:xfrm>
            <a:off x="822960" y="2971800"/>
            <a:ext cx="3063240" cy="1463040"/>
          </a:xfrm>
          <a:prstGeom prst="rect">
            <a:avLst/>
          </a:prstGeom>
          <a:noFill/>
          <a:ln/>
        </p:spPr>
        <p:txBody>
          <a:bodyPr wrap="square" lIns="0" tIns="0" rIns="0" bIns="0" rtlCol="0" anchor="t"/>
          <a:lstStyle/>
          <a:p>
            <a:pPr indent="0" marL="0">
              <a:buNone/>
            </a:pPr>
            <a:r>
              <a:rPr lang="en-US" sz="1600" dirty="0">
                <a:solidFill>
                  <a:schemeClr val="tx2"/>
                </a:solidFill>
              </a:rPr>
              <a:t>Any internal source → any destination; only the Internet edge filtered</a:t>
            </a:r>
            <a:endParaRPr lang="en-US" sz="1600" dirty="0"/>
          </a:p>
        </p:txBody>
      </p:sp>
      <p:sp>
        <p:nvSpPr>
          <p:cNvPr id="8" name="Text 6"/>
          <p:cNvSpPr txBox="1"/>
          <p:nvPr/>
        </p:nvSpPr>
        <p:spPr>
          <a:xfrm>
            <a:off x="822960" y="4709160"/>
            <a:ext cx="3108960" cy="548640"/>
          </a:xfrm>
          <a:prstGeom prst="rect">
            <a:avLst/>
          </a:prstGeom>
          <a:noFill/>
          <a:ln/>
        </p:spPr>
        <p:txBody>
          <a:bodyPr wrap="square" lIns="0" tIns="0" rIns="0" bIns="0" rtlCol="0" anchor="t"/>
          <a:lstStyle/>
          <a:p>
            <a:pPr indent="0" marL="0">
              <a:buNone/>
            </a:pPr>
            <a:r>
              <a:rPr lang="en-US" sz="2800" b="1" dirty="0">
                <a:solidFill>
                  <a:srgbClr val="C0392B"/>
                </a:solidFill>
              </a:rPr>
              <a:t>10 rules</a:t>
            </a:r>
            <a:endParaRPr lang="en-US" sz="2800" dirty="0"/>
          </a:p>
        </p:txBody>
      </p:sp>
      <p:sp>
        <p:nvSpPr>
          <p:cNvPr id="9" name="card61"/>
          <p:cNvSpPr/>
          <p:nvPr/>
        </p:nvSpPr>
        <p:spPr>
          <a:xfrm>
            <a:off x="4343400" y="1371600"/>
            <a:ext cx="3566160" cy="42062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dot1"/>
          <p:cNvSpPr/>
          <p:nvPr/>
        </p:nvSpPr>
        <p:spPr>
          <a:xfrm>
            <a:off x="4617720" y="1645920"/>
            <a:ext cx="457200" cy="457200"/>
          </a:xfrm>
          <a:prstGeom prst="ellipse">
            <a:avLst/>
          </a:prstGeom>
          <a:solidFill>
            <a:srgbClr val="E09F3E"/>
          </a:solidFill>
          <a:ln w="12700">
            <a:solidFill>
              <a:srgbClr val="E09F3E"/>
            </a:solidFill>
            <a:prstDash val="solid"/>
          </a:ln>
        </p:spPr>
      </p:sp>
      <p:sp>
        <p:nvSpPr>
          <p:cNvPr id="11" name="Text 9"/>
          <p:cNvSpPr txBox="1"/>
          <p:nvPr/>
        </p:nvSpPr>
        <p:spPr>
          <a:xfrm>
            <a:off x="5212080" y="1645920"/>
            <a:ext cx="2468880" cy="457200"/>
          </a:xfrm>
          <a:prstGeom prst="rect">
            <a:avLst/>
          </a:prstGeom>
          <a:noFill/>
          <a:ln/>
        </p:spPr>
        <p:txBody>
          <a:bodyPr wrap="square" lIns="0" tIns="0" rIns="0" bIns="0" rtlCol="0" anchor="ctr"/>
          <a:lstStyle/>
          <a:p>
            <a:pPr indent="0" marL="0">
              <a:buNone/>
            </a:pPr>
            <a:r>
              <a:rPr lang="en-US" sz="1500" dirty="0">
                <a:solidFill>
                  <a:schemeClr val="accent4"/>
                </a:solidFill>
              </a:rPr>
              <a:t>Stage 2</a:t>
            </a:r>
            <a:endParaRPr lang="en-US" sz="1500" dirty="0"/>
          </a:p>
        </p:txBody>
      </p:sp>
      <p:sp>
        <p:nvSpPr>
          <p:cNvPr id="12" name="Text 10"/>
          <p:cNvSpPr txBox="1"/>
          <p:nvPr/>
        </p:nvSpPr>
        <p:spPr>
          <a:xfrm>
            <a:off x="4617720" y="2286000"/>
            <a:ext cx="310896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Department-level</a:t>
            </a:r>
            <a:endParaRPr lang="en-US" sz="2400" dirty="0"/>
          </a:p>
        </p:txBody>
      </p:sp>
      <p:sp>
        <p:nvSpPr>
          <p:cNvPr id="13" name="Text 11"/>
          <p:cNvSpPr txBox="1"/>
          <p:nvPr/>
        </p:nvSpPr>
        <p:spPr>
          <a:xfrm>
            <a:off x="4617720" y="2971800"/>
            <a:ext cx="3063240" cy="1463040"/>
          </a:xfrm>
          <a:prstGeom prst="rect">
            <a:avLst/>
          </a:prstGeom>
          <a:noFill/>
          <a:ln/>
        </p:spPr>
        <p:txBody>
          <a:bodyPr wrap="square" lIns="0" tIns="0" rIns="0" bIns="0" rtlCol="0" anchor="t"/>
          <a:lstStyle/>
          <a:p>
            <a:pPr indent="0" marL="0">
              <a:buNone/>
            </a:pPr>
            <a:r>
              <a:rPr lang="en-US" sz="1600" dirty="0">
                <a:solidFill>
                  <a:schemeClr val="tx2"/>
                </a:solidFill>
              </a:rPr>
              <a:t>Own department → whole server zone and Internet; other departments denied</a:t>
            </a:r>
            <a:endParaRPr lang="en-US" sz="1600" dirty="0"/>
          </a:p>
        </p:txBody>
      </p:sp>
      <p:sp>
        <p:nvSpPr>
          <p:cNvPr id="14" name="Text 12"/>
          <p:cNvSpPr txBox="1"/>
          <p:nvPr/>
        </p:nvSpPr>
        <p:spPr>
          <a:xfrm>
            <a:off x="4617720" y="4709160"/>
            <a:ext cx="3108960" cy="548640"/>
          </a:xfrm>
          <a:prstGeom prst="rect">
            <a:avLst/>
          </a:prstGeom>
          <a:noFill/>
          <a:ln/>
        </p:spPr>
        <p:txBody>
          <a:bodyPr wrap="square" lIns="0" tIns="0" rIns="0" bIns="0" rtlCol="0" anchor="t"/>
          <a:lstStyle/>
          <a:p>
            <a:pPr indent="0" marL="0">
              <a:buNone/>
            </a:pPr>
            <a:r>
              <a:rPr lang="en-US" sz="2800" b="1" dirty="0">
                <a:solidFill>
                  <a:srgbClr val="E09F3E"/>
                </a:solidFill>
              </a:rPr>
              <a:t>25 rules</a:t>
            </a:r>
            <a:endParaRPr lang="en-US" sz="2800" dirty="0"/>
          </a:p>
        </p:txBody>
      </p:sp>
      <p:sp>
        <p:nvSpPr>
          <p:cNvPr id="15" name="card62"/>
          <p:cNvSpPr/>
          <p:nvPr/>
        </p:nvSpPr>
        <p:spPr>
          <a:xfrm>
            <a:off x="8138160" y="1371600"/>
            <a:ext cx="3566160" cy="4206240"/>
          </a:xfrm>
          <a:prstGeom prst="roundRect">
            <a:avLst>
              <a:gd name="adj" fmla="val 20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dot2"/>
          <p:cNvSpPr/>
          <p:nvPr/>
        </p:nvSpPr>
        <p:spPr>
          <a:xfrm>
            <a:off x="8412480" y="1645920"/>
            <a:ext cx="457200" cy="457200"/>
          </a:xfrm>
          <a:prstGeom prst="ellipse">
            <a:avLst/>
          </a:prstGeom>
          <a:solidFill>
            <a:srgbClr val="1E8E5A"/>
          </a:solidFill>
          <a:ln w="12700">
            <a:solidFill>
              <a:srgbClr val="1E8E5A"/>
            </a:solidFill>
            <a:prstDash val="solid"/>
          </a:ln>
        </p:spPr>
      </p:sp>
      <p:sp>
        <p:nvSpPr>
          <p:cNvPr id="17" name="Text 15"/>
          <p:cNvSpPr txBox="1"/>
          <p:nvPr/>
        </p:nvSpPr>
        <p:spPr>
          <a:xfrm>
            <a:off x="9006840" y="1645920"/>
            <a:ext cx="2468880" cy="457200"/>
          </a:xfrm>
          <a:prstGeom prst="rect">
            <a:avLst/>
          </a:prstGeom>
          <a:noFill/>
          <a:ln/>
        </p:spPr>
        <p:txBody>
          <a:bodyPr wrap="square" lIns="0" tIns="0" rIns="0" bIns="0" rtlCol="0" anchor="ctr"/>
          <a:lstStyle/>
          <a:p>
            <a:pPr indent="0" marL="0">
              <a:buNone/>
            </a:pPr>
            <a:r>
              <a:rPr lang="en-US" sz="1500" dirty="0">
                <a:solidFill>
                  <a:schemeClr val="accent4"/>
                </a:solidFill>
              </a:rPr>
              <a:t>Stage 3</a:t>
            </a:r>
            <a:endParaRPr lang="en-US" sz="1500" dirty="0"/>
          </a:p>
        </p:txBody>
      </p:sp>
      <p:sp>
        <p:nvSpPr>
          <p:cNvPr id="18" name="Text 16"/>
          <p:cNvSpPr txBox="1"/>
          <p:nvPr/>
        </p:nvSpPr>
        <p:spPr>
          <a:xfrm>
            <a:off x="8412480" y="2286000"/>
            <a:ext cx="3108960" cy="54864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Least privilege</a:t>
            </a:r>
            <a:endParaRPr lang="en-US" sz="2400" dirty="0"/>
          </a:p>
        </p:txBody>
      </p:sp>
      <p:sp>
        <p:nvSpPr>
          <p:cNvPr id="19" name="Text 17"/>
          <p:cNvSpPr txBox="1"/>
          <p:nvPr/>
        </p:nvSpPr>
        <p:spPr>
          <a:xfrm>
            <a:off x="8412480" y="2971800"/>
            <a:ext cx="3063240" cy="1463040"/>
          </a:xfrm>
          <a:prstGeom prst="rect">
            <a:avLst/>
          </a:prstGeom>
          <a:noFill/>
          <a:ln/>
        </p:spPr>
        <p:txBody>
          <a:bodyPr wrap="square" lIns="0" tIns="0" rIns="0" bIns="0" rtlCol="0" anchor="t"/>
          <a:lstStyle/>
          <a:p>
            <a:pPr indent="0" marL="0">
              <a:buNone/>
            </a:pPr>
            <a:r>
              <a:rPr lang="en-US" sz="1600" dirty="0">
                <a:solidFill>
                  <a:schemeClr val="tx2"/>
                </a:solidFill>
              </a:rPr>
              <a:t>Each department → exact host, protocol and port it needs; SSH only for IT</a:t>
            </a:r>
            <a:endParaRPr lang="en-US" sz="1600" dirty="0"/>
          </a:p>
        </p:txBody>
      </p:sp>
      <p:sp>
        <p:nvSpPr>
          <p:cNvPr id="20" name="Text 18"/>
          <p:cNvSpPr txBox="1"/>
          <p:nvPr/>
        </p:nvSpPr>
        <p:spPr>
          <a:xfrm>
            <a:off x="8412480" y="4709160"/>
            <a:ext cx="3108960" cy="548640"/>
          </a:xfrm>
          <a:prstGeom prst="rect">
            <a:avLst/>
          </a:prstGeom>
          <a:noFill/>
          <a:ln/>
        </p:spPr>
        <p:txBody>
          <a:bodyPr wrap="square" lIns="0" tIns="0" rIns="0" bIns="0" rtlCol="0" anchor="t"/>
          <a:lstStyle/>
          <a:p>
            <a:pPr indent="0" marL="0">
              <a:buNone/>
            </a:pPr>
            <a:r>
              <a:rPr lang="en-US" sz="2800" b="1" dirty="0">
                <a:solidFill>
                  <a:srgbClr val="1E8E5A"/>
                </a:solidFill>
              </a:rPr>
              <a:t>40 rules</a:t>
            </a:r>
            <a:endParaRPr lang="en-US" sz="2800" dirty="0"/>
          </a:p>
        </p:txBody>
      </p:sp>
      <p:sp>
        <p:nvSpPr>
          <p:cNvPr id="21" name="Text 19"/>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500" i="1" dirty="0">
                <a:solidFill>
                  <a:schemeClr val="accent4"/>
                </a:solidFill>
              </a:rPr>
              <a:t>Stage 0 (no ACLs) is the positive control: every test must work before any rule is applied.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What a least-privilege ACL looks like</a:t>
            </a:r>
            <a:endParaRPr lang="en-US" sz="3200" dirty="0"/>
          </a:p>
        </p:txBody>
      </p:sp>
      <p:sp>
        <p:nvSpPr>
          <p:cNvPr id="3" name="card63"/>
          <p:cNvSpPr/>
          <p:nvPr/>
        </p:nvSpPr>
        <p:spPr>
          <a:xfrm>
            <a:off x="548640" y="1325880"/>
            <a:ext cx="6949440" cy="4572000"/>
          </a:xfrm>
          <a:prstGeom prst="roundRect">
            <a:avLst>
              <a:gd name="adj" fmla="val 1600"/>
            </a:avLst>
          </a:prstGeom>
          <a:solidFill>
            <a:srgbClr val="1E252E"/>
          </a:solidFill>
          <a:ln w="12700">
            <a:solidFill>
              <a:srgbClr val="1E252E"/>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00200"/>
            <a:ext cx="5120640" cy="4023360"/>
          </a:xfrm>
          <a:prstGeom prst="rect">
            <a:avLst/>
          </a:prstGeom>
          <a:noFill/>
          <a:ln/>
        </p:spPr>
        <p:txBody>
          <a:bodyPr wrap="square" lIns="0" tIns="0" rIns="0" bIns="0" rtlCol="0" anchor="t"/>
          <a:lstStyle/>
          <a:p>
            <a:pPr indent="0" marL="0">
              <a:spcAft>
                <a:spcPts val="600"/>
              </a:spcAft>
              <a:buNone/>
            </a:pPr>
            <a:r>
              <a:rPr lang="en-US" sz="1500" dirty="0">
                <a:solidFill>
                  <a:srgbClr val="E09F3E"/>
                </a:solidFill>
                <a:latin typeface="Courier New" pitchFamily="34" charset="0"/>
                <a:ea typeface="Courier New" pitchFamily="34" charset="-122"/>
                <a:cs typeface="Courier New" pitchFamily="34" charset="-120"/>
              </a:rPr>
              <a:t>ip access-list extended ACL-HR-IN</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udp HR host DNS-SRV eq domain</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tcp HR host WEB-SRV eq www</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tcp HR host WEB-SRV eq 443</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tcp HR host HR-SRV eq 443</a:t>
            </a:r>
            <a:endParaRPr lang="en-US" sz="1500" dirty="0"/>
          </a:p>
          <a:p>
            <a:pPr indent="0" marL="0">
              <a:spcAft>
                <a:spcPts val="600"/>
              </a:spcAft>
              <a:buNone/>
            </a:pPr>
            <a:r>
              <a:rPr lang="en-US" sz="1500" dirty="0">
                <a:solidFill>
                  <a:srgbClr val="F1948A"/>
                </a:solidFill>
                <a:latin typeface="Courier New" pitchFamily="34" charset="0"/>
                <a:ea typeface="Courier New" pitchFamily="34" charset="-122"/>
                <a:cs typeface="Courier New" pitchFamily="34" charset="-120"/>
              </a:rPr>
              <a:t> deny   ip  HR 192.168.0.0/16</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tcp HR any eq www</a:t>
            </a:r>
            <a:endParaRPr lang="en-US" sz="1500" dirty="0"/>
          </a:p>
          <a:p>
            <a:pPr indent="0" marL="0">
              <a:spcAft>
                <a:spcPts val="600"/>
              </a:spcAft>
              <a:buNone/>
            </a:pPr>
            <a:r>
              <a:rPr lang="en-US" sz="1500" dirty="0">
                <a:solidFill>
                  <a:srgbClr val="D5F5E3"/>
                </a:solidFill>
                <a:latin typeface="Courier New" pitchFamily="34" charset="0"/>
                <a:ea typeface="Courier New" pitchFamily="34" charset="-122"/>
                <a:cs typeface="Courier New" pitchFamily="34" charset="-120"/>
              </a:rPr>
              <a:t> permit tcp HR any eq 443</a:t>
            </a:r>
            <a:endParaRPr lang="en-US" sz="1500" dirty="0"/>
          </a:p>
          <a:p>
            <a:pPr indent="0" marL="0">
              <a:spcAft>
                <a:spcPts val="600"/>
              </a:spcAft>
              <a:buNone/>
            </a:pPr>
            <a:r>
              <a:rPr lang="en-US" sz="1500" dirty="0">
                <a:solidFill>
                  <a:srgbClr val="F1948A"/>
                </a:solidFill>
                <a:latin typeface="Courier New" pitchFamily="34" charset="0"/>
                <a:ea typeface="Courier New" pitchFamily="34" charset="-122"/>
                <a:cs typeface="Courier New" pitchFamily="34" charset="-120"/>
              </a:rPr>
              <a:t> deny   ip  any any</a:t>
            </a:r>
            <a:endParaRPr lang="en-US" sz="1500" dirty="0"/>
          </a:p>
        </p:txBody>
      </p:sp>
      <p:sp>
        <p:nvSpPr>
          <p:cNvPr id="5" name="Text 3"/>
          <p:cNvSpPr txBox="1"/>
          <p:nvPr/>
        </p:nvSpPr>
        <p:spPr>
          <a:xfrm>
            <a:off x="6126480" y="1600200"/>
            <a:ext cx="1188720" cy="4023360"/>
          </a:xfrm>
          <a:prstGeom prst="rect">
            <a:avLst/>
          </a:prstGeom>
          <a:noFill/>
          <a:ln/>
        </p:spPr>
        <p:txBody>
          <a:bodyPr wrap="square" lIns="0" tIns="0" rIns="0" bIns="0" rtlCol="0" anchor="t"/>
          <a:lstStyle/>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 </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R1</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R2</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R2</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R3</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X1–X6</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R7</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R7</a:t>
            </a:r>
            <a:endParaRPr lang="en-US" sz="1500" dirty="0"/>
          </a:p>
          <a:p>
            <a:pPr indent="0" marL="0">
              <a:spcAft>
                <a:spcPts val="600"/>
              </a:spcAft>
              <a:buNone/>
            </a:pPr>
            <a:r>
              <a:rPr lang="en-US" sz="1500" dirty="0">
                <a:solidFill>
                  <a:schemeClr val="accent6"/>
                </a:solidFill>
                <a:latin typeface="Courier New" pitchFamily="34" charset="0"/>
                <a:ea typeface="Courier New" pitchFamily="34" charset="-122"/>
                <a:cs typeface="Courier New" pitchFamily="34" charset="-120"/>
              </a:rPr>
              <a:t> </a:t>
            </a:r>
            <a:endParaRPr lang="en-US" sz="1500" dirty="0"/>
          </a:p>
        </p:txBody>
      </p:sp>
      <p:sp>
        <p:nvSpPr>
          <p:cNvPr id="6" name="card64"/>
          <p:cNvSpPr/>
          <p:nvPr/>
        </p:nvSpPr>
        <p:spPr>
          <a:xfrm>
            <a:off x="7863840" y="1325880"/>
            <a:ext cx="374904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092440" y="1463040"/>
            <a:ext cx="3383280" cy="411480"/>
          </a:xfrm>
          <a:prstGeom prst="rect">
            <a:avLst/>
          </a:prstGeom>
          <a:noFill/>
          <a:ln/>
        </p:spPr>
        <p:txBody>
          <a:bodyPr wrap="square" lIns="0" tIns="0" rIns="0" bIns="0" rtlCol="0" anchor="t"/>
          <a:lstStyle/>
          <a:p>
            <a:pPr indent="0" marL="0">
              <a:buNone/>
            </a:pPr>
            <a:r>
              <a:rPr lang="en-US" sz="1700" b="1" dirty="0">
                <a:solidFill>
                  <a:schemeClr val="tx2"/>
                </a:solidFill>
              </a:rPr>
              <a:t>Host + protocol + port</a:t>
            </a:r>
            <a:endParaRPr lang="en-US" sz="1700" dirty="0"/>
          </a:p>
        </p:txBody>
      </p:sp>
      <p:sp>
        <p:nvSpPr>
          <p:cNvPr id="8" name="Text 6"/>
          <p:cNvSpPr txBox="1"/>
          <p:nvPr/>
        </p:nvSpPr>
        <p:spPr>
          <a:xfrm>
            <a:off x="8092440" y="1892808"/>
            <a:ext cx="3383280" cy="731520"/>
          </a:xfrm>
          <a:prstGeom prst="rect">
            <a:avLst/>
          </a:prstGeom>
          <a:noFill/>
          <a:ln/>
        </p:spPr>
        <p:txBody>
          <a:bodyPr wrap="square" lIns="0" tIns="0" rIns="0" bIns="0" rtlCol="0" anchor="t"/>
          <a:lstStyle/>
          <a:p>
            <a:pPr indent="0" marL="0">
              <a:buNone/>
            </a:pPr>
            <a:r>
              <a:rPr lang="en-US" sz="1300" dirty="0">
                <a:solidFill>
                  <a:schemeClr val="tx1"/>
                </a:solidFill>
              </a:rPr>
              <a:t>Each permit names exactly what one requirement needs</a:t>
            </a:r>
            <a:endParaRPr lang="en-US" sz="1300" dirty="0"/>
          </a:p>
        </p:txBody>
      </p:sp>
      <p:sp>
        <p:nvSpPr>
          <p:cNvPr id="9" name="card65"/>
          <p:cNvSpPr/>
          <p:nvPr/>
        </p:nvSpPr>
        <p:spPr>
          <a:xfrm>
            <a:off x="7863840" y="2880360"/>
            <a:ext cx="374904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8092440" y="3017520"/>
            <a:ext cx="3383280" cy="411480"/>
          </a:xfrm>
          <a:prstGeom prst="rect">
            <a:avLst/>
          </a:prstGeom>
          <a:noFill/>
          <a:ln/>
        </p:spPr>
        <p:txBody>
          <a:bodyPr wrap="square" lIns="0" tIns="0" rIns="0" bIns="0" rtlCol="0" anchor="t"/>
          <a:lstStyle/>
          <a:p>
            <a:pPr indent="0" marL="0">
              <a:buNone/>
            </a:pPr>
            <a:r>
              <a:rPr lang="en-US" sz="1700" b="1" dirty="0">
                <a:solidFill>
                  <a:schemeClr val="tx2"/>
                </a:solidFill>
              </a:rPr>
              <a:t>Order matters</a:t>
            </a:r>
            <a:endParaRPr lang="en-US" sz="1700" dirty="0"/>
          </a:p>
        </p:txBody>
      </p:sp>
      <p:sp>
        <p:nvSpPr>
          <p:cNvPr id="11" name="Text 9"/>
          <p:cNvSpPr txBox="1"/>
          <p:nvPr/>
        </p:nvSpPr>
        <p:spPr>
          <a:xfrm>
            <a:off x="8092440" y="3447288"/>
            <a:ext cx="3383280" cy="731520"/>
          </a:xfrm>
          <a:prstGeom prst="rect">
            <a:avLst/>
          </a:prstGeom>
          <a:noFill/>
          <a:ln/>
        </p:spPr>
        <p:txBody>
          <a:bodyPr wrap="square" lIns="0" tIns="0" rIns="0" bIns="0" rtlCol="0" anchor="t"/>
          <a:lstStyle/>
          <a:p>
            <a:pPr indent="0" marL="0">
              <a:buNone/>
            </a:pPr>
            <a:r>
              <a:rPr lang="en-US" sz="1300" dirty="0">
                <a:solidFill>
                  <a:schemeClr val="tx1"/>
                </a:solidFill>
              </a:rPr>
              <a:t>The internal deny must stay above the Internet permits, or HR can reach any internal host on 80/443</a:t>
            </a:r>
            <a:endParaRPr lang="en-US" sz="1300" dirty="0"/>
          </a:p>
        </p:txBody>
      </p:sp>
      <p:sp>
        <p:nvSpPr>
          <p:cNvPr id="12" name="card66"/>
          <p:cNvSpPr/>
          <p:nvPr/>
        </p:nvSpPr>
        <p:spPr>
          <a:xfrm>
            <a:off x="7863840" y="4434840"/>
            <a:ext cx="374904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092440" y="4572000"/>
            <a:ext cx="3383280" cy="411480"/>
          </a:xfrm>
          <a:prstGeom prst="rect">
            <a:avLst/>
          </a:prstGeom>
          <a:noFill/>
          <a:ln/>
        </p:spPr>
        <p:txBody>
          <a:bodyPr wrap="square" lIns="0" tIns="0" rIns="0" bIns="0" rtlCol="0" anchor="t"/>
          <a:lstStyle/>
          <a:p>
            <a:pPr indent="0" marL="0">
              <a:buNone/>
            </a:pPr>
            <a:r>
              <a:rPr lang="en-US" sz="1700" b="1" dirty="0">
                <a:solidFill>
                  <a:schemeClr val="tx2"/>
                </a:solidFill>
              </a:rPr>
              <a:t>24 such pairs</a:t>
            </a:r>
            <a:endParaRPr lang="en-US" sz="1700" dirty="0"/>
          </a:p>
        </p:txBody>
      </p:sp>
      <p:sp>
        <p:nvSpPr>
          <p:cNvPr id="14" name="Text 12"/>
          <p:cNvSpPr txBox="1"/>
          <p:nvPr/>
        </p:nvSpPr>
        <p:spPr>
          <a:xfrm>
            <a:off x="8092440" y="5001768"/>
            <a:ext cx="3383280" cy="731520"/>
          </a:xfrm>
          <a:prstGeom prst="rect">
            <a:avLst/>
          </a:prstGeom>
          <a:noFill/>
          <a:ln/>
        </p:spPr>
        <p:txBody>
          <a:bodyPr wrap="square" lIns="0" tIns="0" rIns="0" bIns="0" rtlCol="0" anchor="t"/>
          <a:lstStyle/>
          <a:p>
            <a:pPr indent="0" marL="0">
              <a:buNone/>
            </a:pPr>
            <a:r>
              <a:rPr lang="en-US" sz="1300" dirty="0">
                <a:solidFill>
                  <a:schemeClr val="tx1"/>
                </a:solidFill>
              </a:rPr>
              <a:t>In Stage 3, 24 rule pairs would change behaviour if swapped</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Test method</a:t>
            </a:r>
            <a:endParaRPr lang="en-US" sz="3200" dirty="0"/>
          </a:p>
        </p:txBody>
      </p:sp>
      <p:sp>
        <p:nvSpPr>
          <p:cNvPr id="3" name="card67"/>
          <p:cNvSpPr/>
          <p:nvPr/>
        </p:nvSpPr>
        <p:spPr>
          <a:xfrm>
            <a:off x="548640" y="1463040"/>
            <a:ext cx="2057400" cy="237744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645920"/>
            <a:ext cx="91440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1</a:t>
            </a:r>
            <a:endParaRPr lang="en-US" sz="3600" dirty="0"/>
          </a:p>
        </p:txBody>
      </p:sp>
      <p:sp>
        <p:nvSpPr>
          <p:cNvPr id="5" name="Text 3"/>
          <p:cNvSpPr txBox="1"/>
          <p:nvPr/>
        </p:nvSpPr>
        <p:spPr>
          <a:xfrm>
            <a:off x="777240" y="2377440"/>
            <a:ext cx="1691640" cy="457200"/>
          </a:xfrm>
          <a:prstGeom prst="rect">
            <a:avLst/>
          </a:prstGeom>
          <a:noFill/>
          <a:ln/>
        </p:spPr>
        <p:txBody>
          <a:bodyPr wrap="square" lIns="0" tIns="0" rIns="0" bIns="0" rtlCol="0" anchor="t"/>
          <a:lstStyle/>
          <a:p>
            <a:pPr indent="0" marL="0">
              <a:buNone/>
            </a:pPr>
            <a:r>
              <a:rPr lang="en-US" sz="1700" b="1" dirty="0">
                <a:solidFill>
                  <a:schemeClr val="tx1"/>
                </a:solidFill>
              </a:rPr>
              <a:t>Write flows</a:t>
            </a:r>
            <a:endParaRPr lang="en-US" sz="1700" dirty="0"/>
          </a:p>
        </p:txBody>
      </p:sp>
      <p:sp>
        <p:nvSpPr>
          <p:cNvPr id="6" name="Text 4"/>
          <p:cNvSpPr txBox="1"/>
          <p:nvPr/>
        </p:nvSpPr>
        <p:spPr>
          <a:xfrm>
            <a:off x="777240" y="2880360"/>
            <a:ext cx="1691640" cy="822960"/>
          </a:xfrm>
          <a:prstGeom prst="rect">
            <a:avLst/>
          </a:prstGeom>
          <a:noFill/>
          <a:ln/>
        </p:spPr>
        <p:txBody>
          <a:bodyPr wrap="square" lIns="0" tIns="0" rIns="0" bIns="0" rtlCol="0" anchor="t"/>
          <a:lstStyle/>
          <a:p>
            <a:pPr indent="0" marL="0">
              <a:buNone/>
            </a:pPr>
            <a:r>
              <a:rPr lang="en-US" sz="1400" dirty="0">
                <a:solidFill>
                  <a:schemeClr val="tx2"/>
                </a:solidFill>
              </a:rPr>
              <a:t>8 required, 7 forbidden, 1 uncontrollable</a:t>
            </a:r>
            <a:endParaRPr lang="en-US" sz="1400" dirty="0"/>
          </a:p>
        </p:txBody>
      </p:sp>
      <p:pic>
        <p:nvPicPr>
          <p:cNvPr id="7" name="icon68" descr="FaChevronRight">    </p:cNvPr>
          <p:cNvPicPr>
            <a:picLocks noChangeAspect="1"/>
          </p:cNvPicPr>
          <p:nvPr/>
        </p:nvPicPr>
        <p:blipFill>
          <a:blip r:embed="rId1"/>
          <a:stretch>
            <a:fillRect/>
          </a:stretch>
        </p:blipFill>
        <p:spPr>
          <a:xfrm>
            <a:off x="2642616" y="2514600"/>
            <a:ext cx="164592" cy="164592"/>
          </a:xfrm>
          <a:prstGeom prst="rect">
            <a:avLst/>
          </a:prstGeom>
        </p:spPr>
      </p:pic>
      <p:sp>
        <p:nvSpPr>
          <p:cNvPr id="8" name="card69"/>
          <p:cNvSpPr/>
          <p:nvPr/>
        </p:nvSpPr>
        <p:spPr>
          <a:xfrm>
            <a:off x="2834640" y="1463040"/>
            <a:ext cx="2057400" cy="237744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3063240" y="1645920"/>
            <a:ext cx="91440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2</a:t>
            </a:r>
            <a:endParaRPr lang="en-US" sz="3600" dirty="0"/>
          </a:p>
        </p:txBody>
      </p:sp>
      <p:sp>
        <p:nvSpPr>
          <p:cNvPr id="10" name="Text 7"/>
          <p:cNvSpPr txBox="1"/>
          <p:nvPr/>
        </p:nvSpPr>
        <p:spPr>
          <a:xfrm>
            <a:off x="3063240" y="2377440"/>
            <a:ext cx="1691640" cy="457200"/>
          </a:xfrm>
          <a:prstGeom prst="rect">
            <a:avLst/>
          </a:prstGeom>
          <a:noFill/>
          <a:ln/>
        </p:spPr>
        <p:txBody>
          <a:bodyPr wrap="square" lIns="0" tIns="0" rIns="0" bIns="0" rtlCol="0" anchor="t"/>
          <a:lstStyle/>
          <a:p>
            <a:pPr indent="0" marL="0">
              <a:buNone/>
            </a:pPr>
            <a:r>
              <a:rPr lang="en-US" sz="1700" b="1" dirty="0">
                <a:solidFill>
                  <a:schemeClr val="tx1"/>
                </a:solidFill>
              </a:rPr>
              <a:t>Build Stage 0</a:t>
            </a:r>
            <a:endParaRPr lang="en-US" sz="1700" dirty="0"/>
          </a:p>
        </p:txBody>
      </p:sp>
      <p:sp>
        <p:nvSpPr>
          <p:cNvPr id="11" name="Text 8"/>
          <p:cNvSpPr txBox="1"/>
          <p:nvPr/>
        </p:nvSpPr>
        <p:spPr>
          <a:xfrm>
            <a:off x="3063240" y="2880360"/>
            <a:ext cx="1691640" cy="822960"/>
          </a:xfrm>
          <a:prstGeom prst="rect">
            <a:avLst/>
          </a:prstGeom>
          <a:noFill/>
          <a:ln/>
        </p:spPr>
        <p:txBody>
          <a:bodyPr wrap="square" lIns="0" tIns="0" rIns="0" bIns="0" rtlCol="0" anchor="t"/>
          <a:lstStyle/>
          <a:p>
            <a:pPr indent="0" marL="0">
              <a:buNone/>
            </a:pPr>
            <a:r>
              <a:rPr lang="en-US" sz="1400" dirty="0">
                <a:solidFill>
                  <a:schemeClr val="tx2"/>
                </a:solidFill>
              </a:rPr>
              <a:t>All 17 tests must work</a:t>
            </a:r>
            <a:endParaRPr lang="en-US" sz="1400" dirty="0"/>
          </a:p>
        </p:txBody>
      </p:sp>
      <p:pic>
        <p:nvPicPr>
          <p:cNvPr id="12" name="icon70" descr="FaChevronRight">    </p:cNvPr>
          <p:cNvPicPr>
            <a:picLocks noChangeAspect="1"/>
          </p:cNvPicPr>
          <p:nvPr/>
        </p:nvPicPr>
        <p:blipFill>
          <a:blip r:embed="rId2"/>
          <a:stretch>
            <a:fillRect/>
          </a:stretch>
        </p:blipFill>
        <p:spPr>
          <a:xfrm>
            <a:off x="4928616" y="2514600"/>
            <a:ext cx="164592" cy="164592"/>
          </a:xfrm>
          <a:prstGeom prst="rect">
            <a:avLst/>
          </a:prstGeom>
        </p:spPr>
      </p:pic>
      <p:sp>
        <p:nvSpPr>
          <p:cNvPr id="13" name="card71"/>
          <p:cNvSpPr/>
          <p:nvPr/>
        </p:nvSpPr>
        <p:spPr>
          <a:xfrm>
            <a:off x="5120640" y="1463040"/>
            <a:ext cx="2057400" cy="237744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5349240" y="1645920"/>
            <a:ext cx="91440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3</a:t>
            </a:r>
            <a:endParaRPr lang="en-US" sz="3600" dirty="0"/>
          </a:p>
        </p:txBody>
      </p:sp>
      <p:sp>
        <p:nvSpPr>
          <p:cNvPr id="15" name="Text 11"/>
          <p:cNvSpPr txBox="1"/>
          <p:nvPr/>
        </p:nvSpPr>
        <p:spPr>
          <a:xfrm>
            <a:off x="5349240" y="2377440"/>
            <a:ext cx="1691640" cy="457200"/>
          </a:xfrm>
          <a:prstGeom prst="rect">
            <a:avLst/>
          </a:prstGeom>
          <a:noFill/>
          <a:ln/>
        </p:spPr>
        <p:txBody>
          <a:bodyPr wrap="square" lIns="0" tIns="0" rIns="0" bIns="0" rtlCol="0" anchor="t"/>
          <a:lstStyle/>
          <a:p>
            <a:pPr indent="0" marL="0">
              <a:buNone/>
            </a:pPr>
            <a:r>
              <a:rPr lang="en-US" sz="1700" b="1" dirty="0">
                <a:solidFill>
                  <a:schemeClr val="tx1"/>
                </a:solidFill>
              </a:rPr>
              <a:t>Apply stage</a:t>
            </a:r>
            <a:endParaRPr lang="en-US" sz="1700" dirty="0"/>
          </a:p>
        </p:txBody>
      </p:sp>
      <p:sp>
        <p:nvSpPr>
          <p:cNvPr id="16" name="Text 12"/>
          <p:cNvSpPr txBox="1"/>
          <p:nvPr/>
        </p:nvSpPr>
        <p:spPr>
          <a:xfrm>
            <a:off x="5349240" y="2880360"/>
            <a:ext cx="1691640" cy="822960"/>
          </a:xfrm>
          <a:prstGeom prst="rect">
            <a:avLst/>
          </a:prstGeom>
          <a:noFill/>
          <a:ln/>
        </p:spPr>
        <p:txBody>
          <a:bodyPr wrap="square" lIns="0" tIns="0" rIns="0" bIns="0" rtlCol="0" anchor="t"/>
          <a:lstStyle/>
          <a:p>
            <a:pPr indent="0" marL="0">
              <a:buNone/>
            </a:pPr>
            <a:r>
              <a:rPr lang="en-US" sz="1400" dirty="0">
                <a:solidFill>
                  <a:schemeClr val="tx2"/>
                </a:solidFill>
              </a:rPr>
              <a:t>Paste ACLs on both routers</a:t>
            </a:r>
            <a:endParaRPr lang="en-US" sz="1400" dirty="0"/>
          </a:p>
        </p:txBody>
      </p:sp>
      <p:pic>
        <p:nvPicPr>
          <p:cNvPr id="17" name="icon72" descr="FaChevronRight">    </p:cNvPr>
          <p:cNvPicPr>
            <a:picLocks noChangeAspect="1"/>
          </p:cNvPicPr>
          <p:nvPr/>
        </p:nvPicPr>
        <p:blipFill>
          <a:blip r:embed="rId3"/>
          <a:stretch>
            <a:fillRect/>
          </a:stretch>
        </p:blipFill>
        <p:spPr>
          <a:xfrm>
            <a:off x="7214616" y="2514600"/>
            <a:ext cx="164592" cy="164592"/>
          </a:xfrm>
          <a:prstGeom prst="rect">
            <a:avLst/>
          </a:prstGeom>
        </p:spPr>
      </p:pic>
      <p:sp>
        <p:nvSpPr>
          <p:cNvPr id="18" name="card73"/>
          <p:cNvSpPr/>
          <p:nvPr/>
        </p:nvSpPr>
        <p:spPr>
          <a:xfrm>
            <a:off x="7406640" y="1463040"/>
            <a:ext cx="2057400" cy="237744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7635240" y="1645920"/>
            <a:ext cx="91440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4</a:t>
            </a:r>
            <a:endParaRPr lang="en-US" sz="3600" dirty="0"/>
          </a:p>
        </p:txBody>
      </p:sp>
      <p:sp>
        <p:nvSpPr>
          <p:cNvPr id="20" name="Text 15"/>
          <p:cNvSpPr txBox="1"/>
          <p:nvPr/>
        </p:nvSpPr>
        <p:spPr>
          <a:xfrm>
            <a:off x="7635240" y="2377440"/>
            <a:ext cx="1691640" cy="457200"/>
          </a:xfrm>
          <a:prstGeom prst="rect">
            <a:avLst/>
          </a:prstGeom>
          <a:noFill/>
          <a:ln/>
        </p:spPr>
        <p:txBody>
          <a:bodyPr wrap="square" lIns="0" tIns="0" rIns="0" bIns="0" rtlCol="0" anchor="t"/>
          <a:lstStyle/>
          <a:p>
            <a:pPr indent="0" marL="0">
              <a:buNone/>
            </a:pPr>
            <a:r>
              <a:rPr lang="en-US" sz="1700" b="1" dirty="0">
                <a:solidFill>
                  <a:schemeClr val="tx1"/>
                </a:solidFill>
              </a:rPr>
              <a:t>Run same 17 tests</a:t>
            </a:r>
            <a:endParaRPr lang="en-US" sz="1700" dirty="0"/>
          </a:p>
        </p:txBody>
      </p:sp>
      <p:sp>
        <p:nvSpPr>
          <p:cNvPr id="21" name="Text 16"/>
          <p:cNvSpPr txBox="1"/>
          <p:nvPr/>
        </p:nvSpPr>
        <p:spPr>
          <a:xfrm>
            <a:off x="7635240" y="2880360"/>
            <a:ext cx="1691640" cy="822960"/>
          </a:xfrm>
          <a:prstGeom prst="rect">
            <a:avLst/>
          </a:prstGeom>
          <a:noFill/>
          <a:ln/>
        </p:spPr>
        <p:txBody>
          <a:bodyPr wrap="square" lIns="0" tIns="0" rIns="0" bIns="0" rtlCol="0" anchor="t"/>
          <a:lstStyle/>
          <a:p>
            <a:pPr indent="0" marL="0">
              <a:buNone/>
            </a:pPr>
            <a:r>
              <a:rPr lang="en-US" sz="1400" dirty="0">
                <a:solidFill>
                  <a:schemeClr val="tx2"/>
                </a:solidFill>
              </a:rPr>
              <a:t>Same PCs, same order</a:t>
            </a:r>
            <a:endParaRPr lang="en-US" sz="1400" dirty="0"/>
          </a:p>
        </p:txBody>
      </p:sp>
      <p:pic>
        <p:nvPicPr>
          <p:cNvPr id="22" name="icon74" descr="FaChevronRight">    </p:cNvPr>
          <p:cNvPicPr>
            <a:picLocks noChangeAspect="1"/>
          </p:cNvPicPr>
          <p:nvPr/>
        </p:nvPicPr>
        <p:blipFill>
          <a:blip r:embed="rId4"/>
          <a:stretch>
            <a:fillRect/>
          </a:stretch>
        </p:blipFill>
        <p:spPr>
          <a:xfrm>
            <a:off x="9500616" y="2514600"/>
            <a:ext cx="164592" cy="164592"/>
          </a:xfrm>
          <a:prstGeom prst="rect">
            <a:avLst/>
          </a:prstGeom>
        </p:spPr>
      </p:pic>
      <p:sp>
        <p:nvSpPr>
          <p:cNvPr id="23" name="card75"/>
          <p:cNvSpPr/>
          <p:nvPr/>
        </p:nvSpPr>
        <p:spPr>
          <a:xfrm>
            <a:off x="9692640" y="1463040"/>
            <a:ext cx="2057400" cy="237744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18"/>
          <p:cNvSpPr txBox="1"/>
          <p:nvPr/>
        </p:nvSpPr>
        <p:spPr>
          <a:xfrm>
            <a:off x="9921240" y="1645920"/>
            <a:ext cx="914400" cy="64008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5</a:t>
            </a:r>
            <a:endParaRPr lang="en-US" sz="3600" dirty="0"/>
          </a:p>
        </p:txBody>
      </p:sp>
      <p:sp>
        <p:nvSpPr>
          <p:cNvPr id="25" name="Text 19"/>
          <p:cNvSpPr txBox="1"/>
          <p:nvPr/>
        </p:nvSpPr>
        <p:spPr>
          <a:xfrm>
            <a:off x="9921240" y="2377440"/>
            <a:ext cx="1691640" cy="457200"/>
          </a:xfrm>
          <a:prstGeom prst="rect">
            <a:avLst/>
          </a:prstGeom>
          <a:noFill/>
          <a:ln/>
        </p:spPr>
        <p:txBody>
          <a:bodyPr wrap="square" lIns="0" tIns="0" rIns="0" bIns="0" rtlCol="0" anchor="t"/>
          <a:lstStyle/>
          <a:p>
            <a:pPr indent="0" marL="0">
              <a:buNone/>
            </a:pPr>
            <a:r>
              <a:rPr lang="en-US" sz="1700" b="1" dirty="0">
                <a:solidFill>
                  <a:schemeClr val="tx1"/>
                </a:solidFill>
              </a:rPr>
              <a:t>Record evidence</a:t>
            </a:r>
            <a:endParaRPr lang="en-US" sz="1700" dirty="0"/>
          </a:p>
        </p:txBody>
      </p:sp>
      <p:sp>
        <p:nvSpPr>
          <p:cNvPr id="26" name="Text 20"/>
          <p:cNvSpPr txBox="1"/>
          <p:nvPr/>
        </p:nvSpPr>
        <p:spPr>
          <a:xfrm>
            <a:off x="9921240" y="2880360"/>
            <a:ext cx="1691640" cy="822960"/>
          </a:xfrm>
          <a:prstGeom prst="rect">
            <a:avLst/>
          </a:prstGeom>
          <a:noFill/>
          <a:ln/>
        </p:spPr>
        <p:txBody>
          <a:bodyPr wrap="square" lIns="0" tIns="0" rIns="0" bIns="0" rtlCol="0" anchor="t"/>
          <a:lstStyle/>
          <a:p>
            <a:pPr indent="0" marL="0">
              <a:buNone/>
            </a:pPr>
            <a:r>
              <a:rPr lang="en-US" sz="1400" dirty="0">
                <a:solidFill>
                  <a:schemeClr val="tx2"/>
                </a:solidFill>
              </a:rPr>
              <a:t>Screenshots and ACL counters</a:t>
            </a:r>
            <a:endParaRPr lang="en-US" sz="1400" dirty="0"/>
          </a:p>
        </p:txBody>
      </p:sp>
      <p:sp>
        <p:nvSpPr>
          <p:cNvPr id="27" name="card76"/>
          <p:cNvSpPr/>
          <p:nvPr/>
        </p:nvSpPr>
        <p:spPr>
          <a:xfrm>
            <a:off x="548640" y="4206240"/>
            <a:ext cx="1106424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Text 22"/>
          <p:cNvSpPr txBox="1"/>
          <p:nvPr/>
        </p:nvSpPr>
        <p:spPr>
          <a:xfrm>
            <a:off x="822960" y="4389120"/>
            <a:ext cx="1051560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Metrics fixed before any result</a:t>
            </a:r>
            <a:endParaRPr lang="en-US" sz="1500" dirty="0"/>
          </a:p>
          <a:p>
            <a:pPr marL="342900" indent="-342900">
              <a:spcAft>
                <a:spcPts val="400"/>
              </a:spcAft>
              <a:buSzPct val="100000"/>
              <a:buChar char="•"/>
            </a:pPr>
            <a:r>
              <a:rPr lang="en-US" sz="1500" dirty="0">
                <a:solidFill>
                  <a:schemeClr val="tx1"/>
                </a:solidFill>
              </a:rPr>
              <a:t>Leakage = forbidden tests that succeeded ÷ forbidden tests evidenced</a:t>
            </a:r>
            <a:endParaRPr lang="en-US" sz="1500" dirty="0"/>
          </a:p>
          <a:p>
            <a:pPr marL="342900" indent="-342900">
              <a:spcAft>
                <a:spcPts val="400"/>
              </a:spcAft>
              <a:buSzPct val="100000"/>
              <a:buChar char="•"/>
            </a:pPr>
            <a:r>
              <a:rPr lang="en-US" sz="1500" dirty="0">
                <a:solidFill>
                  <a:schemeClr val="tx1"/>
                </a:solidFill>
              </a:rPr>
              <a:t>Required success = required tests that succeeded ÷ required tests evidenced</a:t>
            </a:r>
            <a:endParaRPr lang="en-US" sz="1500" dirty="0"/>
          </a:p>
          <a:p>
            <a:pPr marL="342900" indent="-342900">
              <a:spcAft>
                <a:spcPts val="400"/>
              </a:spcAft>
              <a:buSzPct val="100000"/>
              <a:buChar char="•"/>
            </a:pPr>
            <a:r>
              <a:rPr lang="en-US" sz="1500" dirty="0">
                <a:solidFill>
                  <a:schemeClr val="tx1"/>
                </a:solidFill>
              </a:rPr>
              <a:t>Policy size, rule specificity and order-dependent rule pairs, from the configurations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Stage 0: the network works with no rules</a:t>
            </a:r>
            <a:endParaRPr lang="en-US" sz="3200" dirty="0"/>
          </a:p>
        </p:txBody>
      </p:sp>
      <p:pic>
        <p:nvPicPr>
          <p:cNvPr id="3" name="img77" descr="Stage 0: Sales PC reaches R-CORE by SSH and Telnet">    </p:cNvPr>
          <p:cNvPicPr>
            <a:picLocks noChangeAspect="1"/>
          </p:cNvPicPr>
          <p:nvPr/>
        </p:nvPicPr>
        <p:blipFill>
          <a:blip r:embed="rId1"/>
          <a:stretch>
            <a:fillRect/>
          </a:stretch>
        </p:blipFill>
        <p:spPr>
          <a:xfrm>
            <a:off x="548640" y="1280160"/>
            <a:ext cx="4572000" cy="4556198"/>
          </a:xfrm>
          <a:prstGeom prst="rect">
            <a:avLst/>
          </a:prstGeom>
        </p:spPr>
      </p:pic>
      <p:sp>
        <p:nvSpPr>
          <p:cNvPr id="4" name="card78"/>
          <p:cNvSpPr/>
          <p:nvPr/>
        </p:nvSpPr>
        <p:spPr>
          <a:xfrm>
            <a:off x="5577840" y="1280160"/>
            <a:ext cx="60350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852160" y="1463040"/>
            <a:ext cx="5486400" cy="1828800"/>
          </a:xfrm>
          <a:prstGeom prst="rect">
            <a:avLst/>
          </a:prstGeom>
          <a:noFill/>
          <a:ln/>
        </p:spPr>
        <p:txBody>
          <a:bodyPr wrap="square" lIns="0" tIns="0" rIns="0" bIns="0" rtlCol="0" anchor="t"/>
          <a:lstStyle/>
          <a:p>
            <a:pPr indent="0" marL="0">
              <a:buNone/>
            </a:pPr>
            <a:r>
              <a:rPr lang="en-US" sz="2000" b="1" dirty="0">
                <a:solidFill>
                  <a:schemeClr val="accent2"/>
                </a:solidFill>
              </a:rPr>
              <a:t>Positive control: 17 of 17 reachable</a:t>
            </a:r>
            <a:endParaRPr lang="en-US" sz="1500" dirty="0"/>
          </a:p>
          <a:p>
            <a:pPr indent="0" marL="0">
              <a:buNone/>
            </a:pPr>
            <a:r>
              <a:rPr lang="en-US" sz="1500" dirty="0">
                <a:solidFill>
                  <a:schemeClr val="tx1"/>
                </a:solidFill>
              </a:rPr>
              <a:t>Every test, even the forbidden ones, worked with no ACLs. So any later block is caused by the policy, not by a broken cable or a stopped service.</a:t>
            </a:r>
            <a:endParaRPr lang="en-US" sz="1500" dirty="0"/>
          </a:p>
        </p:txBody>
      </p:sp>
      <p:sp>
        <p:nvSpPr>
          <p:cNvPr id="6" name="card79"/>
          <p:cNvSpPr/>
          <p:nvPr/>
        </p:nvSpPr>
        <p:spPr>
          <a:xfrm>
            <a:off x="5577840" y="3611880"/>
            <a:ext cx="6035040"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5852160" y="3794760"/>
            <a:ext cx="5486400" cy="20116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Faults found and fixed during the build</a:t>
            </a:r>
            <a:endParaRPr lang="en-US" sz="1400" dirty="0"/>
          </a:p>
          <a:p>
            <a:pPr marL="342900" indent="-342900">
              <a:spcAft>
                <a:spcPts val="400"/>
              </a:spcAft>
              <a:buSzPct val="100000"/>
              <a:buChar char="•"/>
            </a:pPr>
            <a:r>
              <a:rPr lang="en-US" sz="1400" dirty="0">
                <a:solidFill>
                  <a:schemeClr val="tx1"/>
                </a:solidFill>
              </a:rPr>
              <a:t>R-CORE G0/1 had R-EDGE's address 203.0.113.1, which blocked external traffic</a:t>
            </a:r>
            <a:endParaRPr lang="en-US" sz="1400" dirty="0"/>
          </a:p>
          <a:p>
            <a:pPr marL="342900" indent="-342900">
              <a:spcAft>
                <a:spcPts val="400"/>
              </a:spcAft>
              <a:buSzPct val="100000"/>
              <a:buChar char="•"/>
            </a:pPr>
            <a:r>
              <a:rPr lang="en-US" sz="1400" dirty="0">
                <a:solidFill>
                  <a:schemeClr val="tx1"/>
                </a:solidFill>
              </a:rPr>
              <a:t>DNS-SRV and EXT-WEB first had wrong IP addresses</a:t>
            </a:r>
            <a:endParaRPr lang="en-US" sz="1400" dirty="0"/>
          </a:p>
          <a:p>
            <a:pPr marL="342900" indent="-342900">
              <a:spcAft>
                <a:spcPts val="400"/>
              </a:spcAft>
              <a:buSzPct val="100000"/>
              <a:buChar char="•"/>
            </a:pPr>
            <a:r>
              <a:rPr lang="en-US" sz="1400" dirty="0">
                <a:solidFill>
                  <a:schemeClr val="tx1"/>
                </a:solidFill>
              </a:rPr>
              <a:t>Two tests ran from a different PC than planned (T05, T12)</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Stage 1 (broad): the inside stays open</a:t>
            </a:r>
            <a:endParaRPr lang="en-US" sz="3200" dirty="0"/>
          </a:p>
        </p:txBody>
      </p:sp>
      <p:pic>
        <p:nvPicPr>
          <p:cNvPr id="3" name="img80" descr="Stage 1: HR pings WEB-SRV and FIN-PC1">    </p:cNvPr>
          <p:cNvPicPr>
            <a:picLocks noChangeAspect="1"/>
          </p:cNvPicPr>
          <p:nvPr/>
        </p:nvPicPr>
        <p:blipFill>
          <a:blip r:embed="rId1"/>
          <a:stretch>
            <a:fillRect/>
          </a:stretch>
        </p:blipFill>
        <p:spPr>
          <a:xfrm>
            <a:off x="548640" y="1783080"/>
            <a:ext cx="5303520" cy="4127175"/>
          </a:xfrm>
          <a:prstGeom prst="rect">
            <a:avLst/>
          </a:prstGeom>
        </p:spPr>
      </p:pic>
      <p:pic>
        <p:nvPicPr>
          <p:cNvPr id="4" name="img81" descr="Stage 1: R-EDGE access-list counters">    </p:cNvPr>
          <p:cNvPicPr>
            <a:picLocks noChangeAspect="1"/>
          </p:cNvPicPr>
          <p:nvPr/>
        </p:nvPicPr>
        <p:blipFill>
          <a:blip r:embed="rId2"/>
          <a:stretch>
            <a:fillRect/>
          </a:stretch>
        </p:blipFill>
        <p:spPr>
          <a:xfrm>
            <a:off x="6400800" y="1783080"/>
            <a:ext cx="4480560" cy="4000318"/>
          </a:xfrm>
          <a:prstGeom prst="rect">
            <a:avLst/>
          </a:prstGeom>
        </p:spPr>
      </p:pic>
      <p:sp>
        <p:nvSpPr>
          <p:cNvPr id="5" name="pill82"/>
          <p:cNvSpPr/>
          <p:nvPr/>
        </p:nvSpPr>
        <p:spPr>
          <a:xfrm>
            <a:off x="548640" y="1280160"/>
            <a:ext cx="1051560" cy="329184"/>
          </a:xfrm>
          <a:prstGeom prst="roundRect">
            <a:avLst>
              <a:gd name="adj" fmla="val 50000"/>
            </a:avLst>
          </a:prstGeom>
          <a:solidFill>
            <a:schemeClr val="accent2"/>
          </a:solidFill>
          <a:ln w="12700">
            <a:solidFill>
              <a:schemeClr val="accent2"/>
            </a:solidFill>
            <a:prstDash val="solid"/>
          </a:ln>
        </p:spPr>
      </p:sp>
      <p:sp>
        <p:nvSpPr>
          <p:cNvPr id="6" name="Text 2"/>
          <p:cNvSpPr txBox="1"/>
          <p:nvPr/>
        </p:nvSpPr>
        <p:spPr>
          <a:xfrm>
            <a:off x="54864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PERMIT</a:t>
            </a:r>
            <a:endParaRPr lang="en-US" sz="1100" dirty="0"/>
          </a:p>
        </p:txBody>
      </p:sp>
      <p:sp>
        <p:nvSpPr>
          <p:cNvPr id="7" name="Text 3"/>
          <p:cNvSpPr txBox="1"/>
          <p:nvPr/>
        </p:nvSpPr>
        <p:spPr>
          <a:xfrm>
            <a:off x="1737360" y="1280160"/>
            <a:ext cx="4206240" cy="329184"/>
          </a:xfrm>
          <a:prstGeom prst="rect">
            <a:avLst/>
          </a:prstGeom>
          <a:noFill/>
          <a:ln/>
        </p:spPr>
        <p:txBody>
          <a:bodyPr wrap="square" lIns="0" tIns="0" rIns="0" bIns="0" rtlCol="0" anchor="ctr"/>
          <a:lstStyle/>
          <a:p>
            <a:pPr indent="0" marL="0">
              <a:buNone/>
            </a:pPr>
            <a:r>
              <a:rPr lang="en-US" sz="1300" b="1" dirty="0">
                <a:solidFill>
                  <a:schemeClr val="tx1"/>
                </a:solidFill>
              </a:rPr>
              <a:t>HR pings a server (T13) and a Finance PC (T07): both forbidden, both work</a:t>
            </a:r>
            <a:endParaRPr lang="en-US" sz="1300" dirty="0"/>
          </a:p>
        </p:txBody>
      </p:sp>
      <p:sp>
        <p:nvSpPr>
          <p:cNvPr id="8" name="pill83"/>
          <p:cNvSpPr/>
          <p:nvPr/>
        </p:nvSpPr>
        <p:spPr>
          <a:xfrm>
            <a:off x="6400800" y="1280160"/>
            <a:ext cx="1051560" cy="329184"/>
          </a:xfrm>
          <a:prstGeom prst="roundRect">
            <a:avLst>
              <a:gd name="adj" fmla="val 50000"/>
            </a:avLst>
          </a:prstGeom>
          <a:solidFill>
            <a:schemeClr val="accent3"/>
          </a:solidFill>
          <a:ln w="12700">
            <a:solidFill>
              <a:schemeClr val="accent3"/>
            </a:solidFill>
            <a:prstDash val="solid"/>
          </a:ln>
        </p:spPr>
      </p:sp>
      <p:sp>
        <p:nvSpPr>
          <p:cNvPr id="9" name="Text 5"/>
          <p:cNvSpPr txBox="1"/>
          <p:nvPr/>
        </p:nvSpPr>
        <p:spPr>
          <a:xfrm>
            <a:off x="640080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COUNTERS</a:t>
            </a:r>
            <a:endParaRPr lang="en-US" sz="1100" dirty="0"/>
          </a:p>
        </p:txBody>
      </p:sp>
      <p:sp>
        <p:nvSpPr>
          <p:cNvPr id="10" name="Text 6"/>
          <p:cNvSpPr txBox="1"/>
          <p:nvPr/>
        </p:nvSpPr>
        <p:spPr>
          <a:xfrm>
            <a:off x="7589520" y="1280160"/>
            <a:ext cx="4023360" cy="329184"/>
          </a:xfrm>
          <a:prstGeom prst="rect">
            <a:avLst/>
          </a:prstGeom>
          <a:noFill/>
          <a:ln/>
        </p:spPr>
        <p:txBody>
          <a:bodyPr wrap="square" lIns="0" tIns="0" rIns="0" bIns="0" rtlCol="0" anchor="ctr"/>
          <a:lstStyle/>
          <a:p>
            <a:pPr indent="0" marL="0">
              <a:buNone/>
            </a:pPr>
            <a:r>
              <a:rPr lang="en-US" sz="1300" b="1" dirty="0">
                <a:solidFill>
                  <a:schemeClr val="tx1"/>
                </a:solidFill>
              </a:rPr>
              <a:t>Edge ACL: return traffic matched 3×, deny matched 8×</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Stage 2 (department-level): departments separated</a:t>
            </a:r>
            <a:endParaRPr lang="en-US" sz="3200" dirty="0"/>
          </a:p>
        </p:txBody>
      </p:sp>
      <p:pic>
        <p:nvPicPr>
          <p:cNvPr id="3" name="img84" descr="Stage 2: HR to Finance ping blocked">    </p:cNvPr>
          <p:cNvPicPr>
            <a:picLocks noChangeAspect="1"/>
          </p:cNvPicPr>
          <p:nvPr/>
        </p:nvPicPr>
        <p:blipFill>
          <a:blip r:embed="rId1"/>
          <a:stretch>
            <a:fillRect/>
          </a:stretch>
        </p:blipFill>
        <p:spPr>
          <a:xfrm>
            <a:off x="548640" y="1783080"/>
            <a:ext cx="5120640" cy="4616290"/>
          </a:xfrm>
          <a:prstGeom prst="rect">
            <a:avLst/>
          </a:prstGeom>
        </p:spPr>
      </p:pic>
      <p:pic>
        <p:nvPicPr>
          <p:cNvPr id="4" name="img85" descr="Stage 2: R-CORE ACLs with counters">    </p:cNvPr>
          <p:cNvPicPr>
            <a:picLocks noChangeAspect="1"/>
          </p:cNvPicPr>
          <p:nvPr/>
        </p:nvPicPr>
        <p:blipFill>
          <a:blip r:embed="rId2"/>
          <a:stretch>
            <a:fillRect/>
          </a:stretch>
        </p:blipFill>
        <p:spPr>
          <a:xfrm>
            <a:off x="6217920" y="1783080"/>
            <a:ext cx="5120640" cy="4644301"/>
          </a:xfrm>
          <a:prstGeom prst="rect">
            <a:avLst/>
          </a:prstGeom>
        </p:spPr>
      </p:pic>
      <p:sp>
        <p:nvSpPr>
          <p:cNvPr id="5" name="pill86"/>
          <p:cNvSpPr/>
          <p:nvPr/>
        </p:nvSpPr>
        <p:spPr>
          <a:xfrm>
            <a:off x="548640" y="1280160"/>
            <a:ext cx="1051560" cy="329184"/>
          </a:xfrm>
          <a:prstGeom prst="roundRect">
            <a:avLst>
              <a:gd name="adj" fmla="val 50000"/>
            </a:avLst>
          </a:prstGeom>
          <a:solidFill>
            <a:schemeClr val="accent1"/>
          </a:solidFill>
          <a:ln w="12700">
            <a:solidFill>
              <a:schemeClr val="accent1"/>
            </a:solidFill>
            <a:prstDash val="solid"/>
          </a:ln>
        </p:spPr>
      </p:sp>
      <p:sp>
        <p:nvSpPr>
          <p:cNvPr id="6" name="Text 2"/>
          <p:cNvSpPr txBox="1"/>
          <p:nvPr/>
        </p:nvSpPr>
        <p:spPr>
          <a:xfrm>
            <a:off x="54864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DENY</a:t>
            </a:r>
            <a:endParaRPr lang="en-US" sz="1100" dirty="0"/>
          </a:p>
        </p:txBody>
      </p:sp>
      <p:sp>
        <p:nvSpPr>
          <p:cNvPr id="7" name="Text 3"/>
          <p:cNvSpPr txBox="1"/>
          <p:nvPr/>
        </p:nvSpPr>
        <p:spPr>
          <a:xfrm>
            <a:off x="1737360" y="1280160"/>
            <a:ext cx="4023360" cy="329184"/>
          </a:xfrm>
          <a:prstGeom prst="rect">
            <a:avLst/>
          </a:prstGeom>
          <a:noFill/>
          <a:ln/>
        </p:spPr>
        <p:txBody>
          <a:bodyPr wrap="square" lIns="0" tIns="0" rIns="0" bIns="0" rtlCol="0" anchor="ctr"/>
          <a:lstStyle/>
          <a:p>
            <a:pPr indent="0" marL="0">
              <a:buNone/>
            </a:pPr>
            <a:r>
              <a:rPr lang="en-US" sz="1300" b="1" dirty="0">
                <a:solidFill>
                  <a:schemeClr val="tx1"/>
                </a:solidFill>
              </a:rPr>
              <a:t>HR → Finance PC now blocked (T07)</a:t>
            </a:r>
            <a:endParaRPr lang="en-US" sz="1300" dirty="0"/>
          </a:p>
        </p:txBody>
      </p:sp>
      <p:sp>
        <p:nvSpPr>
          <p:cNvPr id="8" name="pill87"/>
          <p:cNvSpPr/>
          <p:nvPr/>
        </p:nvSpPr>
        <p:spPr>
          <a:xfrm>
            <a:off x="6217920" y="1280160"/>
            <a:ext cx="1051560" cy="329184"/>
          </a:xfrm>
          <a:prstGeom prst="roundRect">
            <a:avLst>
              <a:gd name="adj" fmla="val 50000"/>
            </a:avLst>
          </a:prstGeom>
          <a:solidFill>
            <a:schemeClr val="accent3"/>
          </a:solidFill>
          <a:ln w="12700">
            <a:solidFill>
              <a:schemeClr val="accent3"/>
            </a:solidFill>
            <a:prstDash val="solid"/>
          </a:ln>
        </p:spPr>
      </p:sp>
      <p:sp>
        <p:nvSpPr>
          <p:cNvPr id="9" name="Text 5"/>
          <p:cNvSpPr txBox="1"/>
          <p:nvPr/>
        </p:nvSpPr>
        <p:spPr>
          <a:xfrm>
            <a:off x="621792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COUNTERS</a:t>
            </a:r>
            <a:endParaRPr lang="en-US" sz="1100" dirty="0"/>
          </a:p>
        </p:txBody>
      </p:sp>
      <p:sp>
        <p:nvSpPr>
          <p:cNvPr id="10" name="Text 6"/>
          <p:cNvSpPr txBox="1"/>
          <p:nvPr/>
        </p:nvSpPr>
        <p:spPr>
          <a:xfrm>
            <a:off x="7406640" y="1280160"/>
            <a:ext cx="4206240" cy="329184"/>
          </a:xfrm>
          <a:prstGeom prst="rect">
            <a:avLst/>
          </a:prstGeom>
          <a:noFill/>
          <a:ln/>
        </p:spPr>
        <p:txBody>
          <a:bodyPr wrap="square" lIns="0" tIns="0" rIns="0" bIns="0" rtlCol="0" anchor="ctr"/>
          <a:lstStyle/>
          <a:p>
            <a:pPr indent="0" marL="0">
              <a:buNone/>
            </a:pPr>
            <a:r>
              <a:rPr lang="en-US" sz="1300" b="1" dirty="0">
                <a:solidFill>
                  <a:schemeClr val="tx1"/>
                </a:solidFill>
              </a:rPr>
              <a:t>One ACL per department; deny entries count hits</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All observed results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440680" cy="914400"/>
        </p:xfrm>
        <a:graphic>
          <a:graphicData uri="http://schemas.openxmlformats.org/drawingml/2006/table">
            <a:tbl>
              <a:tblPr/>
              <a:tblGrid>
                <a:gridCol w="594360"/>
                <a:gridCol w="2103120"/>
                <a:gridCol w="640080"/>
                <a:gridCol w="525780"/>
                <a:gridCol w="525780"/>
                <a:gridCol w="525780"/>
                <a:gridCol w="525780"/>
              </a:tblGrid>
              <a:tr h="438912">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Flow</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S0</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S2</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S3</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T01</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web portal</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T03</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DNS</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T04</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Finance → FTP</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BEFD9"/>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T05</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HR records</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T06</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IT → router SSH</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T14</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IT → ping server</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T15</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Internet → portal</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T17</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Internet web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Req</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T07</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Finance PC</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172200" y="1280160"/>
          <a:ext cx="5440680" cy="914400"/>
        </p:xfrm>
        <a:graphic>
          <a:graphicData uri="http://schemas.openxmlformats.org/drawingml/2006/table">
            <a:tbl>
              <a:tblPr/>
              <a:tblGrid>
                <a:gridCol w="594360"/>
                <a:gridCol w="2103120"/>
                <a:gridCol w="640080"/>
                <a:gridCol w="525780"/>
                <a:gridCol w="525780"/>
                <a:gridCol w="525780"/>
                <a:gridCol w="525780"/>
              </a:tblGrid>
              <a:tr h="438912">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Flow</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S0</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S2</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200" b="1" dirty="0">
                          <a:solidFill>
                            <a:srgbClr val="1E252E"/>
                          </a:solidFill>
                          <a:latin typeface="Calibri" pitchFamily="34" charset="0"/>
                          <a:ea typeface="Calibri" pitchFamily="34" charset="-122"/>
                          <a:cs typeface="Calibri" pitchFamily="34" charset="-120"/>
                        </a:rPr>
                        <a:t>S3</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EEF1F4"/>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T08</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Sales → FTP</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T10</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Sales → HR records</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T11</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Sales → router SSH</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T12</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Telnet → router</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T13</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HR → ping server</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6D5D1"/>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T16</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Internet → FTP</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T19</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Sales → router SSH (2)</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Forb</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r h="438912">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T18</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Same-VLAN ping</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indent="0" marL="0">
                        <a:buNone/>
                      </a:pPr>
                      <a:r>
                        <a:rPr lang="en-US" sz="1200" dirty="0">
                          <a:solidFill>
                            <a:srgbClr val="1E252E"/>
                          </a:solidFill>
                          <a:latin typeface="Calibri" pitchFamily="34" charset="0"/>
                          <a:ea typeface="Calibri" pitchFamily="34" charset="-122"/>
                          <a:cs typeface="Calibri" pitchFamily="34" charset="-120"/>
                        </a:rPr>
                        <a:t>Ctrl</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D8F0E3"/>
                    </a:solidFill>
                  </a:tcPr>
                </a:tc>
                <a:tc>
                  <a:txBody>
                    <a:bodyPr/>
                    <a:lstStyle/>
                    <a:p>
                      <a:pPr algn="ctr" indent="0" marL="0">
                        <a:buNone/>
                      </a:pPr>
                      <a:r>
                        <a:rPr lang="en-US" sz="1200" dirty="0">
                          <a:solidFill>
                            <a:srgbClr val="1E252E"/>
                          </a:solidFill>
                          <a:latin typeface="Calibri" pitchFamily="34" charset="0"/>
                          <a:ea typeface="Calibri" pitchFamily="34" charset="-122"/>
                          <a:cs typeface="Calibri" pitchFamily="34" charset="-120"/>
                        </a:rPr>
                        <a:t>n/e</a:t>
                      </a:r>
                      <a:endParaRPr lang="en-US" sz="1200" dirty="0">
                        <a:latin typeface="Calibri" charset="0"/>
                        <a:ea typeface="Calibri" charset="0"/>
                        <a:cs typeface="Calibri" charset="0"/>
                      </a:endParaRPr>
                    </a:p>
                  </a:txBody>
                  <a:tcPr marL="54864" marR="54864" marT="18288" marB="18288" anchor="ctr">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2F4F6"/>
                    </a:solidFill>
                  </a:tcPr>
                </a:tc>
              </a:tr>
            </a:tbl>
          </a:graphicData>
        </a:graphic>
      </p:graphicFrame>
      <p:sp>
        <p:nvSpPr>
          <p:cNvPr id="5" name="Text 1"/>
          <p:cNvSpPr txBox="1"/>
          <p:nvPr/>
        </p:nvSpPr>
        <p:spPr>
          <a:xfrm>
            <a:off x="6172200" y="5349240"/>
            <a:ext cx="5440680" cy="822960"/>
          </a:xfrm>
          <a:prstGeom prst="rect">
            <a:avLst/>
          </a:prstGeom>
          <a:noFill/>
          <a:ln/>
        </p:spPr>
        <p:txBody>
          <a:bodyPr wrap="square" lIns="0" tIns="0" rIns="0" bIns="0" rtlCol="0" anchor="t"/>
          <a:lstStyle/>
          <a:p>
            <a:pPr indent="0" marL="0">
              <a:buNone/>
            </a:pPr>
            <a:r>
              <a:rPr lang="en-US" sz="1100" i="1" dirty="0">
                <a:solidFill>
                  <a:schemeClr val="accent4"/>
                </a:solidFill>
              </a:rPr>
              <a:t>Green = policy goal met · Red = forbidden flow worked or required flow failed · Amber P = partial (FTP login only) · n/e = no screenshot, excluded from counts · S0 has no rules, so every flow should work</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Results: access fell as rules grew</a:t>
            </a:r>
            <a:endParaRPr lang="en-US" sz="3200" dirty="0"/>
          </a:p>
        </p:txBody>
      </p:sp>
      <p:graphicFrame>
        <p:nvGraphicFramePr>
          <p:cNvPr id="3" name="Chart 0" descr=""/>
          <p:cNvGraphicFramePr/>
          <p:nvPr/>
        </p:nvGraphicFramePr>
        <p:xfrm>
          <a:off x="548640" y="1280160"/>
          <a:ext cx="6400800" cy="4663440"/>
        </p:xfrm>
        <a:graphic xmlns:a="http://schemas.openxmlformats.org/drawingml/2006/main">
          <a:graphicData uri="http://schemas.openxmlformats.org/drawingml/2006/chart">
            <c:chart xmlns:c="http://schemas.openxmlformats.org/drawingml/2006/chart" r:id="rId1"/>
          </a:graphicData>
        </a:graphic>
      </p:graphicFrame>
      <p:sp>
        <p:nvSpPr>
          <p:cNvPr id="4" name="card88"/>
          <p:cNvSpPr/>
          <p:nvPr/>
        </p:nvSpPr>
        <p:spPr>
          <a:xfrm>
            <a:off x="7406640" y="1325880"/>
            <a:ext cx="4206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680960" y="1463040"/>
            <a:ext cx="1463040" cy="365760"/>
          </a:xfrm>
          <a:prstGeom prst="rect">
            <a:avLst/>
          </a:prstGeom>
          <a:noFill/>
          <a:ln/>
        </p:spPr>
        <p:txBody>
          <a:bodyPr wrap="square" lIns="0" tIns="0" rIns="0" bIns="0" rtlCol="0" anchor="t"/>
          <a:lstStyle/>
          <a:p>
            <a:pPr indent="0" marL="0">
              <a:buNone/>
            </a:pPr>
            <a:r>
              <a:rPr lang="en-US" sz="1400" dirty="0">
                <a:solidFill>
                  <a:schemeClr val="accent4"/>
                </a:solidFill>
              </a:rPr>
              <a:t>Stage 1</a:t>
            </a:r>
            <a:endParaRPr lang="en-US" sz="1400" dirty="0"/>
          </a:p>
        </p:txBody>
      </p:sp>
      <p:sp>
        <p:nvSpPr>
          <p:cNvPr id="6" name="Text 3"/>
          <p:cNvSpPr txBox="1"/>
          <p:nvPr/>
        </p:nvSpPr>
        <p:spPr>
          <a:xfrm>
            <a:off x="7680960" y="1783080"/>
            <a:ext cx="1737360" cy="731520"/>
          </a:xfrm>
          <a:prstGeom prst="rect">
            <a:avLst/>
          </a:prstGeom>
          <a:noFill/>
          <a:ln/>
        </p:spPr>
        <p:txBody>
          <a:bodyPr wrap="square" lIns="0" tIns="0" rIns="0" bIns="0" rtlCol="0" anchor="t"/>
          <a:lstStyle/>
          <a:p>
            <a:pPr indent="0" marL="0">
              <a:buNone/>
            </a:pPr>
            <a:r>
              <a:rPr lang="en-US" sz="3600" b="1" dirty="0">
                <a:solidFill>
                  <a:srgbClr val="C0392B"/>
                </a:solidFill>
                <a:latin typeface="Cambria" pitchFamily="34" charset="0"/>
                <a:ea typeface="Cambria" pitchFamily="34" charset="-122"/>
                <a:cs typeface="Cambria" pitchFamily="34" charset="-120"/>
              </a:rPr>
              <a:t>2 of 2</a:t>
            </a:r>
            <a:endParaRPr lang="en-US" sz="3600" dirty="0"/>
          </a:p>
        </p:txBody>
      </p:sp>
      <p:sp>
        <p:nvSpPr>
          <p:cNvPr id="7" name="Text 4"/>
          <p:cNvSpPr txBox="1"/>
          <p:nvPr/>
        </p:nvSpPr>
        <p:spPr>
          <a:xfrm>
            <a:off x="9464040" y="1828800"/>
            <a:ext cx="2011680" cy="640080"/>
          </a:xfrm>
          <a:prstGeom prst="rect">
            <a:avLst/>
          </a:prstGeom>
          <a:noFill/>
          <a:ln/>
        </p:spPr>
        <p:txBody>
          <a:bodyPr wrap="square" lIns="0" tIns="0" rIns="0" bIns="0" rtlCol="0" anchor="ctr"/>
          <a:lstStyle/>
          <a:p>
            <a:pPr indent="0" marL="0">
              <a:buNone/>
            </a:pPr>
            <a:r>
              <a:rPr lang="en-US" sz="1400" dirty="0">
                <a:solidFill>
                  <a:schemeClr val="tx2"/>
                </a:solidFill>
              </a:rPr>
              <a:t>forbidden flows worked</a:t>
            </a:r>
            <a:endParaRPr lang="en-US" sz="1400" dirty="0"/>
          </a:p>
        </p:txBody>
      </p:sp>
      <p:sp>
        <p:nvSpPr>
          <p:cNvPr id="8" name="card89"/>
          <p:cNvSpPr/>
          <p:nvPr/>
        </p:nvSpPr>
        <p:spPr>
          <a:xfrm>
            <a:off x="7406640" y="2834640"/>
            <a:ext cx="4206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7680960" y="2971800"/>
            <a:ext cx="1463040" cy="365760"/>
          </a:xfrm>
          <a:prstGeom prst="rect">
            <a:avLst/>
          </a:prstGeom>
          <a:noFill/>
          <a:ln/>
        </p:spPr>
        <p:txBody>
          <a:bodyPr wrap="square" lIns="0" tIns="0" rIns="0" bIns="0" rtlCol="0" anchor="t"/>
          <a:lstStyle/>
          <a:p>
            <a:pPr indent="0" marL="0">
              <a:buNone/>
            </a:pPr>
            <a:r>
              <a:rPr lang="en-US" sz="1400" dirty="0">
                <a:solidFill>
                  <a:schemeClr val="accent4"/>
                </a:solidFill>
              </a:rPr>
              <a:t>Stage 2</a:t>
            </a:r>
            <a:endParaRPr lang="en-US" sz="1400" dirty="0"/>
          </a:p>
        </p:txBody>
      </p:sp>
      <p:sp>
        <p:nvSpPr>
          <p:cNvPr id="10" name="Text 7"/>
          <p:cNvSpPr txBox="1"/>
          <p:nvPr/>
        </p:nvSpPr>
        <p:spPr>
          <a:xfrm>
            <a:off x="7680960" y="3291840"/>
            <a:ext cx="1737360" cy="731520"/>
          </a:xfrm>
          <a:prstGeom prst="rect">
            <a:avLst/>
          </a:prstGeom>
          <a:noFill/>
          <a:ln/>
        </p:spPr>
        <p:txBody>
          <a:bodyPr wrap="square" lIns="0" tIns="0" rIns="0" bIns="0" rtlCol="0" anchor="t"/>
          <a:lstStyle/>
          <a:p>
            <a:pPr indent="0" marL="0">
              <a:buNone/>
            </a:pPr>
            <a:r>
              <a:rPr lang="en-US" sz="3600" b="1" dirty="0">
                <a:solidFill>
                  <a:srgbClr val="E09F3E"/>
                </a:solidFill>
                <a:latin typeface="Cambria" pitchFamily="34" charset="0"/>
                <a:ea typeface="Cambria" pitchFamily="34" charset="-122"/>
                <a:cs typeface="Cambria" pitchFamily="34" charset="-120"/>
              </a:rPr>
              <a:t>4 of 8</a:t>
            </a:r>
            <a:endParaRPr lang="en-US" sz="3600" dirty="0"/>
          </a:p>
        </p:txBody>
      </p:sp>
      <p:sp>
        <p:nvSpPr>
          <p:cNvPr id="11" name="Text 8"/>
          <p:cNvSpPr txBox="1"/>
          <p:nvPr/>
        </p:nvSpPr>
        <p:spPr>
          <a:xfrm>
            <a:off x="9464040" y="3337560"/>
            <a:ext cx="2011680" cy="640080"/>
          </a:xfrm>
          <a:prstGeom prst="rect">
            <a:avLst/>
          </a:prstGeom>
          <a:noFill/>
          <a:ln/>
        </p:spPr>
        <p:txBody>
          <a:bodyPr wrap="square" lIns="0" tIns="0" rIns="0" bIns="0" rtlCol="0" anchor="ctr"/>
          <a:lstStyle/>
          <a:p>
            <a:pPr indent="0" marL="0">
              <a:buNone/>
            </a:pPr>
            <a:r>
              <a:rPr lang="en-US" sz="1400" dirty="0">
                <a:solidFill>
                  <a:schemeClr val="tx2"/>
                </a:solidFill>
              </a:rPr>
              <a:t>forbidden flows worked</a:t>
            </a:r>
            <a:endParaRPr lang="en-US" sz="1400" dirty="0"/>
          </a:p>
        </p:txBody>
      </p:sp>
      <p:sp>
        <p:nvSpPr>
          <p:cNvPr id="12" name="card90"/>
          <p:cNvSpPr/>
          <p:nvPr/>
        </p:nvSpPr>
        <p:spPr>
          <a:xfrm>
            <a:off x="7406640" y="4343400"/>
            <a:ext cx="4206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680960" y="4480560"/>
            <a:ext cx="1463040" cy="365760"/>
          </a:xfrm>
          <a:prstGeom prst="rect">
            <a:avLst/>
          </a:prstGeom>
          <a:noFill/>
          <a:ln/>
        </p:spPr>
        <p:txBody>
          <a:bodyPr wrap="square" lIns="0" tIns="0" rIns="0" bIns="0" rtlCol="0" anchor="t"/>
          <a:lstStyle/>
          <a:p>
            <a:pPr indent="0" marL="0">
              <a:buNone/>
            </a:pPr>
            <a:r>
              <a:rPr lang="en-US" sz="1400" dirty="0">
                <a:solidFill>
                  <a:schemeClr val="accent4"/>
                </a:solidFill>
              </a:rPr>
              <a:t>Stage 3</a:t>
            </a:r>
            <a:endParaRPr lang="en-US" sz="1400" dirty="0"/>
          </a:p>
        </p:txBody>
      </p:sp>
      <p:sp>
        <p:nvSpPr>
          <p:cNvPr id="14" name="Text 11"/>
          <p:cNvSpPr txBox="1"/>
          <p:nvPr/>
        </p:nvSpPr>
        <p:spPr>
          <a:xfrm>
            <a:off x="7680960" y="4800600"/>
            <a:ext cx="1737360" cy="731520"/>
          </a:xfrm>
          <a:prstGeom prst="rect">
            <a:avLst/>
          </a:prstGeom>
          <a:noFill/>
          <a:ln/>
        </p:spPr>
        <p:txBody>
          <a:bodyPr wrap="square" lIns="0" tIns="0" rIns="0" bIns="0" rtlCol="0" anchor="t"/>
          <a:lstStyle/>
          <a:p>
            <a:pPr indent="0" marL="0">
              <a:buNone/>
            </a:pPr>
            <a:r>
              <a:rPr lang="en-US" sz="3600" b="1" dirty="0">
                <a:solidFill>
                  <a:srgbClr val="1E8E5A"/>
                </a:solidFill>
                <a:latin typeface="Cambria" pitchFamily="34" charset="0"/>
                <a:ea typeface="Cambria" pitchFamily="34" charset="-122"/>
                <a:cs typeface="Cambria" pitchFamily="34" charset="-120"/>
              </a:rPr>
              <a:t>0 of 4</a:t>
            </a:r>
            <a:endParaRPr lang="en-US" sz="3600" dirty="0"/>
          </a:p>
        </p:txBody>
      </p:sp>
      <p:sp>
        <p:nvSpPr>
          <p:cNvPr id="15" name="Text 12"/>
          <p:cNvSpPr txBox="1"/>
          <p:nvPr/>
        </p:nvSpPr>
        <p:spPr>
          <a:xfrm>
            <a:off x="9464040" y="4846320"/>
            <a:ext cx="2011680" cy="640080"/>
          </a:xfrm>
          <a:prstGeom prst="rect">
            <a:avLst/>
          </a:prstGeom>
          <a:noFill/>
          <a:ln/>
        </p:spPr>
        <p:txBody>
          <a:bodyPr wrap="square" lIns="0" tIns="0" rIns="0" bIns="0" rtlCol="0" anchor="ctr"/>
          <a:lstStyle/>
          <a:p>
            <a:pPr indent="0" marL="0">
              <a:buNone/>
            </a:pPr>
            <a:r>
              <a:rPr lang="en-US" sz="1400" dirty="0">
                <a:solidFill>
                  <a:schemeClr val="tx2"/>
                </a:solidFill>
              </a:rPr>
              <a:t>forbidden flows worked</a:t>
            </a:r>
            <a:endParaRPr lang="en-US" sz="1400" dirty="0"/>
          </a:p>
        </p:txBody>
      </p:sp>
      <p:sp>
        <p:nvSpPr>
          <p:cNvPr id="16" name="Text 13"/>
          <p:cNvSpPr txBox="1"/>
          <p:nvPr/>
        </p:nvSpPr>
        <p:spPr>
          <a:xfrm>
            <a:off x="7406640" y="5897880"/>
            <a:ext cx="4206240" cy="457200"/>
          </a:xfrm>
          <a:prstGeom prst="rect">
            <a:avLst/>
          </a:prstGeom>
          <a:noFill/>
          <a:ln/>
        </p:spPr>
        <p:txBody>
          <a:bodyPr wrap="square" lIns="0" tIns="0" rIns="0" bIns="0" rtlCol="0" anchor="t"/>
          <a:lstStyle/>
          <a:p>
            <a:pPr indent="0" marL="0">
              <a:buNone/>
            </a:pPr>
            <a:r>
              <a:rPr lang="en-US" sz="1100" i="1" dirty="0">
                <a:solidFill>
                  <a:schemeClr val="accent4"/>
                </a:solidFill>
              </a:rPr>
              <a:t>Counts cover only tests with screenshot evidence, so they are not compared as percentages.</a:t>
            </a:r>
            <a:endParaRPr lang="en-US" sz="11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Same test, two policies: Sales → HR records (T10)</a:t>
            </a:r>
            <a:endParaRPr lang="en-US" sz="3200" dirty="0"/>
          </a:p>
        </p:txBody>
      </p:sp>
      <p:pic>
        <p:nvPicPr>
          <p:cNvPr id="3" name="img91" descr="Stage 2: SAL-PC1 opens HR records page">    </p:cNvPr>
          <p:cNvPicPr>
            <a:picLocks noChangeAspect="1"/>
          </p:cNvPicPr>
          <p:nvPr/>
        </p:nvPicPr>
        <p:blipFill>
          <a:blip r:embed="rId1"/>
          <a:stretch>
            <a:fillRect/>
          </a:stretch>
        </p:blipFill>
        <p:spPr>
          <a:xfrm>
            <a:off x="548640" y="1783080"/>
            <a:ext cx="5120640" cy="4669879"/>
          </a:xfrm>
          <a:prstGeom prst="rect">
            <a:avLst/>
          </a:prstGeom>
        </p:spPr>
      </p:pic>
      <p:pic>
        <p:nvPicPr>
          <p:cNvPr id="4" name="img92" descr="Stage 3: SAL-PC1 gets Request Timeout">    </p:cNvPr>
          <p:cNvPicPr>
            <a:picLocks noChangeAspect="1"/>
          </p:cNvPicPr>
          <p:nvPr/>
        </p:nvPicPr>
        <p:blipFill>
          <a:blip r:embed="rId2"/>
          <a:stretch>
            <a:fillRect/>
          </a:stretch>
        </p:blipFill>
        <p:spPr>
          <a:xfrm>
            <a:off x="6492240" y="1783080"/>
            <a:ext cx="5120640" cy="4514327"/>
          </a:xfrm>
          <a:prstGeom prst="rect">
            <a:avLst/>
          </a:prstGeom>
        </p:spPr>
      </p:pic>
      <p:sp>
        <p:nvSpPr>
          <p:cNvPr id="5" name="pill93"/>
          <p:cNvSpPr/>
          <p:nvPr/>
        </p:nvSpPr>
        <p:spPr>
          <a:xfrm>
            <a:off x="548640" y="1280160"/>
            <a:ext cx="1051560" cy="329184"/>
          </a:xfrm>
          <a:prstGeom prst="roundRect">
            <a:avLst>
              <a:gd name="adj" fmla="val 50000"/>
            </a:avLst>
          </a:prstGeom>
          <a:solidFill>
            <a:schemeClr val="accent2"/>
          </a:solidFill>
          <a:ln w="12700">
            <a:solidFill>
              <a:schemeClr val="accent2"/>
            </a:solidFill>
            <a:prstDash val="solid"/>
          </a:ln>
        </p:spPr>
      </p:sp>
      <p:sp>
        <p:nvSpPr>
          <p:cNvPr id="6" name="Text 2"/>
          <p:cNvSpPr txBox="1"/>
          <p:nvPr/>
        </p:nvSpPr>
        <p:spPr>
          <a:xfrm>
            <a:off x="54864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PERMIT</a:t>
            </a:r>
            <a:endParaRPr lang="en-US" sz="1100" dirty="0"/>
          </a:p>
        </p:txBody>
      </p:sp>
      <p:sp>
        <p:nvSpPr>
          <p:cNvPr id="7" name="Text 3"/>
          <p:cNvSpPr txBox="1"/>
          <p:nvPr/>
        </p:nvSpPr>
        <p:spPr>
          <a:xfrm>
            <a:off x="1737360" y="1280160"/>
            <a:ext cx="4023360" cy="329184"/>
          </a:xfrm>
          <a:prstGeom prst="rect">
            <a:avLst/>
          </a:prstGeom>
          <a:noFill/>
          <a:ln/>
        </p:spPr>
        <p:txBody>
          <a:bodyPr wrap="square" lIns="0" tIns="0" rIns="0" bIns="0" rtlCol="0" anchor="ctr"/>
          <a:lstStyle/>
          <a:p>
            <a:pPr indent="0" marL="0">
              <a:buNone/>
            </a:pPr>
            <a:r>
              <a:rPr lang="en-US" sz="1400" b="1" dirty="0">
                <a:solidFill>
                  <a:schemeClr val="tx1"/>
                </a:solidFill>
              </a:rPr>
              <a:t>Stage 2: department rule opens the whole server zone</a:t>
            </a:r>
            <a:endParaRPr lang="en-US" sz="1400" dirty="0"/>
          </a:p>
        </p:txBody>
      </p:sp>
      <p:sp>
        <p:nvSpPr>
          <p:cNvPr id="8" name="pill94"/>
          <p:cNvSpPr/>
          <p:nvPr/>
        </p:nvSpPr>
        <p:spPr>
          <a:xfrm>
            <a:off x="6492240" y="1280160"/>
            <a:ext cx="1051560" cy="329184"/>
          </a:xfrm>
          <a:prstGeom prst="roundRect">
            <a:avLst>
              <a:gd name="adj" fmla="val 50000"/>
            </a:avLst>
          </a:prstGeom>
          <a:solidFill>
            <a:schemeClr val="accent1"/>
          </a:solidFill>
          <a:ln w="12700">
            <a:solidFill>
              <a:schemeClr val="accent1"/>
            </a:solidFill>
            <a:prstDash val="solid"/>
          </a:ln>
        </p:spPr>
      </p:sp>
      <p:sp>
        <p:nvSpPr>
          <p:cNvPr id="9" name="Text 5"/>
          <p:cNvSpPr txBox="1"/>
          <p:nvPr/>
        </p:nvSpPr>
        <p:spPr>
          <a:xfrm>
            <a:off x="6492240" y="128016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DENY</a:t>
            </a:r>
            <a:endParaRPr lang="en-US" sz="1100" dirty="0"/>
          </a:p>
        </p:txBody>
      </p:sp>
      <p:sp>
        <p:nvSpPr>
          <p:cNvPr id="10" name="Text 6"/>
          <p:cNvSpPr txBox="1"/>
          <p:nvPr/>
        </p:nvSpPr>
        <p:spPr>
          <a:xfrm>
            <a:off x="7680960" y="1280160"/>
            <a:ext cx="4023360" cy="329184"/>
          </a:xfrm>
          <a:prstGeom prst="rect">
            <a:avLst/>
          </a:prstGeom>
          <a:noFill/>
          <a:ln/>
        </p:spPr>
        <p:txBody>
          <a:bodyPr wrap="square" lIns="0" tIns="0" rIns="0" bIns="0" rtlCol="0" anchor="ctr"/>
          <a:lstStyle/>
          <a:p>
            <a:pPr indent="0" marL="0">
              <a:buNone/>
            </a:pPr>
            <a:r>
              <a:rPr lang="en-US" sz="1400" b="1" dirty="0">
                <a:solidFill>
                  <a:schemeClr val="tx1"/>
                </a:solidFill>
              </a:rPr>
              <a:t>Stage 3: only HR may reach HR-SRV on port 443</a:t>
            </a:r>
            <a:endParaRPr lang="en-US" sz="14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Key finding: least privilege broke a required service</a:t>
            </a:r>
            <a:endParaRPr lang="en-US" sz="3200" dirty="0"/>
          </a:p>
        </p:txBody>
      </p:sp>
      <p:pic>
        <p:nvPicPr>
          <p:cNvPr id="3" name="img95" descr="Stage 3 FTP: login works, dir fails">    </p:cNvPr>
          <p:cNvPicPr>
            <a:picLocks noChangeAspect="1"/>
          </p:cNvPicPr>
          <p:nvPr/>
        </p:nvPicPr>
        <p:blipFill>
          <a:blip r:embed="rId1"/>
          <a:stretch>
            <a:fillRect/>
          </a:stretch>
        </p:blipFill>
        <p:spPr>
          <a:xfrm>
            <a:off x="548640" y="1280160"/>
            <a:ext cx="5577840" cy="4868519"/>
          </a:xfrm>
          <a:prstGeom prst="rect">
            <a:avLst/>
          </a:prstGeom>
        </p:spPr>
      </p:pic>
      <p:sp>
        <p:nvSpPr>
          <p:cNvPr id="4" name="card96"/>
          <p:cNvSpPr/>
          <p:nvPr/>
        </p:nvSpPr>
        <p:spPr>
          <a:xfrm>
            <a:off x="6583680" y="1280160"/>
            <a:ext cx="5029200" cy="4846320"/>
          </a:xfrm>
          <a:prstGeom prst="roundRect">
            <a:avLst>
              <a:gd name="adj" fmla="val 150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858000" y="1508760"/>
            <a:ext cx="4480560" cy="4480560"/>
          </a:xfrm>
          <a:prstGeom prst="rect">
            <a:avLst/>
          </a:prstGeom>
          <a:noFill/>
          <a:ln/>
        </p:spPr>
        <p:txBody>
          <a:bodyPr wrap="square" lIns="0" tIns="0" rIns="0" bIns="0" rtlCol="0" anchor="t"/>
          <a:lstStyle/>
          <a:p>
            <a:pPr indent="0" marL="0">
              <a:buNone/>
            </a:pPr>
            <a:r>
              <a:rPr lang="en-US" sz="1900" b="1" dirty="0">
                <a:solidFill>
                  <a:schemeClr val="tx1"/>
                </a:solidFill>
              </a:rPr>
              <a:t>What happened</a:t>
            </a:r>
            <a:endParaRPr lang="en-US" sz="1500" dirty="0"/>
          </a:p>
          <a:p>
            <a:pPr indent="0" marL="0">
              <a:buNone/>
            </a:pPr>
            <a:r>
              <a:rPr lang="en-US" sz="1500" dirty="0">
                <a:solidFill>
                  <a:schemeClr val="tx1"/>
                </a:solidFill>
              </a:rPr>
              <a:t>Finance could log in to its FTP server, but listing files failed: "Timed out" (passive) and "Ftp peer reset" (active).</a:t>
            </a:r>
            <a:endParaRPr lang="en-US" sz="1500" dirty="0"/>
          </a:p>
          <a:p>
            <a:pPr indent="0" marL="0">
              <a:buNone/>
            </a:pPr>
            <a:r>
              <a:rPr lang="en-US" sz="800" dirty="0">
                <a:solidFill>
                  <a:schemeClr val="tx1"/>
                </a:solidFill>
              </a:rPr>
              <a:t> </a:t>
            </a:r>
            <a:endParaRPr lang="en-US" sz="1500" dirty="0"/>
          </a:p>
          <a:p>
            <a:pPr indent="0" marL="0">
              <a:buNone/>
            </a:pPr>
            <a:r>
              <a:rPr lang="en-US" sz="1900" b="1" dirty="0">
                <a:solidFill>
                  <a:schemeClr val="tx1"/>
                </a:solidFill>
              </a:rPr>
              <a:t>Why</a:t>
            </a:r>
            <a:endParaRPr lang="en-US" sz="1500" dirty="0"/>
          </a:p>
          <a:p>
            <a:pPr indent="0" marL="0">
              <a:buNone/>
            </a:pPr>
            <a:r>
              <a:rPr lang="en-US" sz="1500" dirty="0">
                <a:solidFill>
                  <a:schemeClr val="tx1"/>
                </a:solidFill>
              </a:rPr>
              <a:t>The Stage 3 rule permits only the FTP control port (21). FTP's separate data connection hits the "deny internal" rule.</a:t>
            </a:r>
            <a:endParaRPr lang="en-US" sz="1500" dirty="0"/>
          </a:p>
          <a:p>
            <a:pPr indent="0" marL="0">
              <a:buNone/>
            </a:pPr>
            <a:r>
              <a:rPr lang="en-US" sz="800" dirty="0">
                <a:solidFill>
                  <a:schemeClr val="tx1"/>
                </a:solidFill>
              </a:rPr>
              <a:t> </a:t>
            </a:r>
            <a:endParaRPr lang="en-US" sz="1500" dirty="0"/>
          </a:p>
          <a:p>
            <a:pPr indent="0" marL="0">
              <a:buNone/>
            </a:pPr>
            <a:r>
              <a:rPr lang="en-US" sz="1900" b="1" dirty="0">
                <a:solidFill>
                  <a:schemeClr val="accent1"/>
                </a:solidFill>
              </a:rPr>
              <a:t>So what</a:t>
            </a:r>
            <a:endParaRPr lang="en-US" sz="1500" dirty="0"/>
          </a:p>
          <a:p>
            <a:pPr indent="0" marL="0">
              <a:buNone/>
            </a:pPr>
            <a:r>
              <a:rPr lang="en-US" sz="1500" dirty="0">
                <a:solidFill>
                  <a:schemeClr val="tx1"/>
                </a:solidFill>
              </a:rPr>
              <a:t>Least privilege costs more than rules: multi-connection services need extra, carefully ordered entries.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Other observations</a:t>
            </a:r>
            <a:endParaRPr lang="en-US" sz="3200" dirty="0"/>
          </a:p>
        </p:txBody>
      </p:sp>
      <p:sp>
        <p:nvSpPr>
          <p:cNvPr id="3" name="card97"/>
          <p:cNvSpPr/>
          <p:nvPr/>
        </p:nvSpPr>
        <p:spPr>
          <a:xfrm>
            <a:off x="548640" y="1371600"/>
            <a:ext cx="544068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98"/>
          <p:cNvSpPr/>
          <p:nvPr/>
        </p:nvSpPr>
        <p:spPr>
          <a:xfrm>
            <a:off x="822960" y="1600200"/>
            <a:ext cx="548640" cy="548640"/>
          </a:xfrm>
          <a:prstGeom prst="ellipse">
            <a:avLst/>
          </a:prstGeom>
          <a:solidFill>
            <a:srgbClr val="2E3A46"/>
          </a:solidFill>
          <a:ln w="12700">
            <a:solidFill>
              <a:srgbClr val="2E3A46"/>
            </a:solidFill>
            <a:prstDash val="solid"/>
          </a:ln>
        </p:spPr>
      </p:sp>
      <p:pic>
        <p:nvPicPr>
          <p:cNvPr id="5" name="icon99" descr="FaCodeBranch">    </p:cNvPr>
          <p:cNvPicPr>
            <a:picLocks noChangeAspect="1"/>
          </p:cNvPicPr>
          <p:nvPr/>
        </p:nvPicPr>
        <p:blipFill>
          <a:blip r:embed="rId1"/>
          <a:stretch>
            <a:fillRect/>
          </a:stretch>
        </p:blipFill>
        <p:spPr>
          <a:xfrm>
            <a:off x="954634" y="1731874"/>
            <a:ext cx="285293" cy="285293"/>
          </a:xfrm>
          <a:prstGeom prst="rect">
            <a:avLst/>
          </a:prstGeom>
        </p:spPr>
      </p:pic>
      <p:sp>
        <p:nvSpPr>
          <p:cNvPr id="6" name="Text 3"/>
          <p:cNvSpPr txBox="1"/>
          <p:nvPr/>
        </p:nvSpPr>
        <p:spPr>
          <a:xfrm>
            <a:off x="1554480" y="1600200"/>
            <a:ext cx="4206240" cy="548640"/>
          </a:xfrm>
          <a:prstGeom prst="rect">
            <a:avLst/>
          </a:prstGeom>
          <a:noFill/>
          <a:ln/>
        </p:spPr>
        <p:txBody>
          <a:bodyPr wrap="square" lIns="0" tIns="0" rIns="0" bIns="0" rtlCol="0" anchor="ctr"/>
          <a:lstStyle/>
          <a:p>
            <a:pPr indent="0" marL="0">
              <a:buNone/>
            </a:pPr>
            <a:r>
              <a:rPr lang="en-US" sz="1900" b="1" dirty="0">
                <a:solidFill>
                  <a:schemeClr val="tx2"/>
                </a:solidFill>
              </a:rPr>
              <a:t>Two locks, two symptoms</a:t>
            </a:r>
            <a:endParaRPr lang="en-US" sz="1900" dirty="0"/>
          </a:p>
        </p:txBody>
      </p:sp>
      <p:sp>
        <p:nvSpPr>
          <p:cNvPr id="7" name="Text 4"/>
          <p:cNvSpPr txBox="1"/>
          <p:nvPr/>
        </p:nvSpPr>
        <p:spPr>
          <a:xfrm>
            <a:off x="822960" y="2286000"/>
            <a:ext cx="4892040" cy="1188720"/>
          </a:xfrm>
          <a:prstGeom prst="rect">
            <a:avLst/>
          </a:prstGeom>
          <a:noFill/>
          <a:ln/>
        </p:spPr>
        <p:txBody>
          <a:bodyPr wrap="square" lIns="0" tIns="0" rIns="0" bIns="0" rtlCol="0" anchor="t"/>
          <a:lstStyle/>
          <a:p>
            <a:pPr indent="0" marL="0">
              <a:buNone/>
            </a:pPr>
            <a:r>
              <a:rPr lang="en-US" sz="1600" dirty="0">
                <a:solidFill>
                  <a:schemeClr val="tx1"/>
                </a:solidFill>
              </a:rPr>
              <a:t>In Stage 2, Sales SSH to 192.168.40.1 timed out (interface ACL) while SSH to 192.168.50.1 was refused (router login rule): one goal, enforced in two places.</a:t>
            </a:r>
            <a:endParaRPr lang="en-US" sz="1600" dirty="0"/>
          </a:p>
        </p:txBody>
      </p:sp>
      <p:sp>
        <p:nvSpPr>
          <p:cNvPr id="8" name="card100"/>
          <p:cNvSpPr/>
          <p:nvPr/>
        </p:nvSpPr>
        <p:spPr>
          <a:xfrm>
            <a:off x="6172200" y="1371600"/>
            <a:ext cx="544068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101"/>
          <p:cNvSpPr/>
          <p:nvPr/>
        </p:nvSpPr>
        <p:spPr>
          <a:xfrm>
            <a:off x="6446520" y="1600200"/>
            <a:ext cx="548640" cy="548640"/>
          </a:xfrm>
          <a:prstGeom prst="ellipse">
            <a:avLst/>
          </a:prstGeom>
          <a:solidFill>
            <a:srgbClr val="2E3A46"/>
          </a:solidFill>
          <a:ln w="12700">
            <a:solidFill>
              <a:srgbClr val="2E3A46"/>
            </a:solidFill>
            <a:prstDash val="solid"/>
          </a:ln>
        </p:spPr>
      </p:sp>
      <p:pic>
        <p:nvPicPr>
          <p:cNvPr id="10" name="icon102" descr="FaSortAmountDown">    </p:cNvPr>
          <p:cNvPicPr>
            <a:picLocks noChangeAspect="1"/>
          </p:cNvPicPr>
          <p:nvPr/>
        </p:nvPicPr>
        <p:blipFill>
          <a:blip r:embed="rId2"/>
          <a:stretch>
            <a:fillRect/>
          </a:stretch>
        </p:blipFill>
        <p:spPr>
          <a:xfrm>
            <a:off x="6578194" y="1731874"/>
            <a:ext cx="285293" cy="285293"/>
          </a:xfrm>
          <a:prstGeom prst="rect">
            <a:avLst/>
          </a:prstGeom>
        </p:spPr>
      </p:pic>
      <p:sp>
        <p:nvSpPr>
          <p:cNvPr id="11" name="Text 7"/>
          <p:cNvSpPr txBox="1"/>
          <p:nvPr/>
        </p:nvSpPr>
        <p:spPr>
          <a:xfrm>
            <a:off x="7178040" y="1600200"/>
            <a:ext cx="4206240" cy="548640"/>
          </a:xfrm>
          <a:prstGeom prst="rect">
            <a:avLst/>
          </a:prstGeom>
          <a:noFill/>
          <a:ln/>
        </p:spPr>
        <p:txBody>
          <a:bodyPr wrap="square" lIns="0" tIns="0" rIns="0" bIns="0" rtlCol="0" anchor="ctr"/>
          <a:lstStyle/>
          <a:p>
            <a:pPr indent="0" marL="0">
              <a:buNone/>
            </a:pPr>
            <a:r>
              <a:rPr lang="en-US" sz="1900" b="1" dirty="0">
                <a:solidFill>
                  <a:schemeClr val="tx2"/>
                </a:solidFill>
              </a:rPr>
              <a:t>Rule count can mislead</a:t>
            </a:r>
            <a:endParaRPr lang="en-US" sz="1900" dirty="0"/>
          </a:p>
        </p:txBody>
      </p:sp>
      <p:sp>
        <p:nvSpPr>
          <p:cNvPr id="12" name="Text 8"/>
          <p:cNvSpPr txBox="1"/>
          <p:nvPr/>
        </p:nvSpPr>
        <p:spPr>
          <a:xfrm>
            <a:off x="6446520" y="2286000"/>
            <a:ext cx="4892040" cy="1188720"/>
          </a:xfrm>
          <a:prstGeom prst="rect">
            <a:avLst/>
          </a:prstGeom>
          <a:noFill/>
          <a:ln/>
        </p:spPr>
        <p:txBody>
          <a:bodyPr wrap="square" lIns="0" tIns="0" rIns="0" bIns="0" rtlCol="0" anchor="t"/>
          <a:lstStyle/>
          <a:p>
            <a:pPr indent="0" marL="0">
              <a:buNone/>
            </a:pPr>
            <a:r>
              <a:rPr lang="en-US" sz="1600" dirty="0">
                <a:solidFill>
                  <a:schemeClr val="tx1"/>
                </a:solidFill>
              </a:rPr>
              <a:t>The Stage 3 edge ACL is the strictest but has the fewest entries (6 → 6 → 5).</a:t>
            </a:r>
            <a:endParaRPr lang="en-US" sz="1600" dirty="0"/>
          </a:p>
        </p:txBody>
      </p:sp>
      <p:sp>
        <p:nvSpPr>
          <p:cNvPr id="13" name="card103"/>
          <p:cNvSpPr/>
          <p:nvPr/>
        </p:nvSpPr>
        <p:spPr>
          <a:xfrm>
            <a:off x="548640" y="3749040"/>
            <a:ext cx="544068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104"/>
          <p:cNvSpPr/>
          <p:nvPr/>
        </p:nvSpPr>
        <p:spPr>
          <a:xfrm>
            <a:off x="822960" y="3977640"/>
            <a:ext cx="548640" cy="548640"/>
          </a:xfrm>
          <a:prstGeom prst="ellipse">
            <a:avLst/>
          </a:prstGeom>
          <a:solidFill>
            <a:srgbClr val="2E3A46"/>
          </a:solidFill>
          <a:ln w="12700">
            <a:solidFill>
              <a:srgbClr val="2E3A46"/>
            </a:solidFill>
            <a:prstDash val="solid"/>
          </a:ln>
        </p:spPr>
      </p:sp>
      <p:pic>
        <p:nvPicPr>
          <p:cNvPr id="15" name="icon105" descr="FaProjectDiagram">    </p:cNvPr>
          <p:cNvPicPr>
            <a:picLocks noChangeAspect="1"/>
          </p:cNvPicPr>
          <p:nvPr/>
        </p:nvPicPr>
        <p:blipFill>
          <a:blip r:embed="rId3"/>
          <a:stretch>
            <a:fillRect/>
          </a:stretch>
        </p:blipFill>
        <p:spPr>
          <a:xfrm>
            <a:off x="954634" y="4109314"/>
            <a:ext cx="285293" cy="285293"/>
          </a:xfrm>
          <a:prstGeom prst="rect">
            <a:avLst/>
          </a:prstGeom>
        </p:spPr>
      </p:pic>
      <p:sp>
        <p:nvSpPr>
          <p:cNvPr id="16" name="Text 11"/>
          <p:cNvSpPr txBox="1"/>
          <p:nvPr/>
        </p:nvSpPr>
        <p:spPr>
          <a:xfrm>
            <a:off x="1554480" y="3977640"/>
            <a:ext cx="4206240" cy="548640"/>
          </a:xfrm>
          <a:prstGeom prst="rect">
            <a:avLst/>
          </a:prstGeom>
          <a:noFill/>
          <a:ln/>
        </p:spPr>
        <p:txBody>
          <a:bodyPr wrap="square" lIns="0" tIns="0" rIns="0" bIns="0" rtlCol="0" anchor="ctr"/>
          <a:lstStyle/>
          <a:p>
            <a:pPr indent="0" marL="0">
              <a:buNone/>
            </a:pPr>
            <a:r>
              <a:rPr lang="en-US" sz="1900" b="1" dirty="0">
                <a:solidFill>
                  <a:schemeClr val="tx2"/>
                </a:solidFill>
              </a:rPr>
              <a:t>Same-VLAN traffic</a:t>
            </a:r>
            <a:endParaRPr lang="en-US" sz="1900" dirty="0"/>
          </a:p>
        </p:txBody>
      </p:sp>
      <p:sp>
        <p:nvSpPr>
          <p:cNvPr id="17" name="Text 12"/>
          <p:cNvSpPr txBox="1"/>
          <p:nvPr/>
        </p:nvSpPr>
        <p:spPr>
          <a:xfrm>
            <a:off x="822960" y="4663440"/>
            <a:ext cx="4892040" cy="1188720"/>
          </a:xfrm>
          <a:prstGeom prst="rect">
            <a:avLst/>
          </a:prstGeom>
          <a:noFill/>
          <a:ln/>
        </p:spPr>
        <p:txBody>
          <a:bodyPr wrap="square" lIns="0" tIns="0" rIns="0" bIns="0" rtlCol="0" anchor="t"/>
          <a:lstStyle/>
          <a:p>
            <a:pPr indent="0" marL="0">
              <a:buNone/>
            </a:pPr>
            <a:r>
              <a:rPr lang="en-US" sz="1600" dirty="0">
                <a:solidFill>
                  <a:schemeClr val="tx1"/>
                </a:solidFill>
              </a:rPr>
              <a:t>HR-PC1 always reached HR-PC2: traffic inside a VLAN never passes the router, so no router ACL can filter it.</a:t>
            </a:r>
            <a:endParaRPr lang="en-US" sz="1600" dirty="0"/>
          </a:p>
        </p:txBody>
      </p:sp>
      <p:sp>
        <p:nvSpPr>
          <p:cNvPr id="18" name="card106"/>
          <p:cNvSpPr/>
          <p:nvPr/>
        </p:nvSpPr>
        <p:spPr>
          <a:xfrm>
            <a:off x="6172200" y="3749040"/>
            <a:ext cx="5440680" cy="2148840"/>
          </a:xfrm>
          <a:prstGeom prst="roundRect">
            <a:avLst>
              <a:gd name="adj" fmla="val 340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bg107"/>
          <p:cNvSpPr/>
          <p:nvPr/>
        </p:nvSpPr>
        <p:spPr>
          <a:xfrm>
            <a:off x="6446520" y="3977640"/>
            <a:ext cx="548640" cy="548640"/>
          </a:xfrm>
          <a:prstGeom prst="ellipse">
            <a:avLst/>
          </a:prstGeom>
          <a:solidFill>
            <a:srgbClr val="2E3A46"/>
          </a:solidFill>
          <a:ln w="12700">
            <a:solidFill>
              <a:srgbClr val="2E3A46"/>
            </a:solidFill>
            <a:prstDash val="solid"/>
          </a:ln>
        </p:spPr>
      </p:sp>
      <p:pic>
        <p:nvPicPr>
          <p:cNvPr id="20" name="icon108" descr="FaWrench">    </p:cNvPr>
          <p:cNvPicPr>
            <a:picLocks noChangeAspect="1"/>
          </p:cNvPicPr>
          <p:nvPr/>
        </p:nvPicPr>
        <p:blipFill>
          <a:blip r:embed="rId4"/>
          <a:stretch>
            <a:fillRect/>
          </a:stretch>
        </p:blipFill>
        <p:spPr>
          <a:xfrm>
            <a:off x="6578194" y="4109314"/>
            <a:ext cx="285293" cy="285293"/>
          </a:xfrm>
          <a:prstGeom prst="rect">
            <a:avLst/>
          </a:prstGeom>
        </p:spPr>
      </p:pic>
      <p:sp>
        <p:nvSpPr>
          <p:cNvPr id="21" name="Text 15"/>
          <p:cNvSpPr txBox="1"/>
          <p:nvPr/>
        </p:nvSpPr>
        <p:spPr>
          <a:xfrm>
            <a:off x="7178040" y="3977640"/>
            <a:ext cx="4206240" cy="548640"/>
          </a:xfrm>
          <a:prstGeom prst="rect">
            <a:avLst/>
          </a:prstGeom>
          <a:noFill/>
          <a:ln/>
        </p:spPr>
        <p:txBody>
          <a:bodyPr wrap="square" lIns="0" tIns="0" rIns="0" bIns="0" rtlCol="0" anchor="ctr"/>
          <a:lstStyle/>
          <a:p>
            <a:pPr indent="0" marL="0">
              <a:buNone/>
            </a:pPr>
            <a:r>
              <a:rPr lang="en-US" sz="1900" b="1" dirty="0">
                <a:solidFill>
                  <a:schemeClr val="tx2"/>
                </a:solidFill>
              </a:rPr>
              <a:t>Build issues fixed</a:t>
            </a:r>
            <a:endParaRPr lang="en-US" sz="1900" dirty="0"/>
          </a:p>
        </p:txBody>
      </p:sp>
      <p:sp>
        <p:nvSpPr>
          <p:cNvPr id="22" name="Text 16"/>
          <p:cNvSpPr txBox="1"/>
          <p:nvPr/>
        </p:nvSpPr>
        <p:spPr>
          <a:xfrm>
            <a:off x="6446520" y="4663440"/>
            <a:ext cx="4892040" cy="1188720"/>
          </a:xfrm>
          <a:prstGeom prst="rect">
            <a:avLst/>
          </a:prstGeom>
          <a:noFill/>
          <a:ln/>
        </p:spPr>
        <p:txBody>
          <a:bodyPr wrap="square" lIns="0" tIns="0" rIns="0" bIns="0" rtlCol="0" anchor="t"/>
          <a:lstStyle/>
          <a:p>
            <a:pPr indent="0" marL="0">
              <a:buNone/>
            </a:pPr>
            <a:r>
              <a:rPr lang="en-US" sz="1600" dirty="0">
                <a:solidFill>
                  <a:schemeClr val="tx1"/>
                </a:solidFill>
              </a:rPr>
              <a:t>A duplicate IP on R-CORE and wrong server addresses were found in Stage 0 and corrected before testing.</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How our results compare with the literature (Part C)</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669280"/>
                <a:gridCol w="1737360"/>
                <a:gridCol w="3657600"/>
              </a:tblGrid>
              <a:tr h="566928">
                <a:tc>
                  <a:txBody>
                    <a:bodyPr/>
                    <a:lstStyle/>
                    <a:p>
                      <a:pPr indent="0" marL="0">
                        <a:buNone/>
                      </a:pPr>
                      <a:r>
                        <a:rPr lang="en-US" sz="1500" b="1" dirty="0">
                          <a:solidFill>
                            <a:srgbClr val="1E252E"/>
                          </a:solidFill>
                          <a:latin typeface="Calibri" pitchFamily="34" charset="0"/>
                          <a:ea typeface="Calibri" pitchFamily="34" charset="-122"/>
                          <a:cs typeface="Calibri" pitchFamily="34" charset="-120"/>
                        </a:rPr>
                        <a:t>Observation</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500" b="1" dirty="0">
                          <a:solidFill>
                            <a:srgbClr val="1E252E"/>
                          </a:solidFill>
                          <a:latin typeface="Calibri" pitchFamily="34" charset="0"/>
                          <a:ea typeface="Calibri" pitchFamily="34" charset="-122"/>
                          <a:cs typeface="Calibri" pitchFamily="34" charset="-120"/>
                        </a:rPr>
                        <a:t>Literature</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c>
                  <a:txBody>
                    <a:bodyPr/>
                    <a:lstStyle/>
                    <a:p>
                      <a:pPr indent="0" marL="0">
                        <a:buNone/>
                      </a:pPr>
                      <a:r>
                        <a:rPr lang="en-US" sz="1500" b="1" dirty="0">
                          <a:solidFill>
                            <a:srgbClr val="1E252E"/>
                          </a:solidFill>
                          <a:latin typeface="Calibri" pitchFamily="34" charset="0"/>
                          <a:ea typeface="Calibri" pitchFamily="34" charset="-122"/>
                          <a:cs typeface="Calibri" pitchFamily="34" charset="-120"/>
                        </a:rPr>
                        <a:t>Relation</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solidFill>
                      <a:srgbClr val="EEF1F4"/>
                    </a:solidFill>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Forbidden flows: 2 of 2 → 4 of 8 → 0 of 4</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[3], [5]</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Agrees</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Rules 10 → 25 → 40; order pairs 0 → 9 → 24</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Agrees in direction</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Strictest edge ACL has fewest entries</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[9], [10]</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Agrees: count misleads</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Department rules still let Sales reach HR data</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[4], [15]</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Agrees: zone trust too coarse</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Stage 3 broke FTP file listing</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Partly: adds a concrete usability cost</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r h="566928">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Same-VLAN traffic never filtered</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[15], [16]</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c>
                  <a:txBody>
                    <a:bodyPr/>
                    <a:lstStyle/>
                    <a:p>
                      <a:pPr indent="0" marL="0">
                        <a:buNone/>
                      </a:pPr>
                      <a:r>
                        <a:rPr lang="en-US" sz="1500" dirty="0">
                          <a:solidFill>
                            <a:srgbClr val="1E252E"/>
                          </a:solidFill>
                          <a:latin typeface="Calibri" pitchFamily="34" charset="0"/>
                          <a:ea typeface="Calibri" pitchFamily="34" charset="-122"/>
                          <a:cs typeface="Calibri" pitchFamily="34" charset="-120"/>
                        </a:rPr>
                        <a:t>Agrees: limit of router ACLs</a:t>
                      </a:r>
                      <a:endParaRPr lang="en-US" sz="1500" dirty="0">
                        <a:latin typeface="Calibri" charset="0"/>
                        <a:ea typeface="Calibri" charset="0"/>
                        <a:cs typeface="Calibri" charset="0"/>
                      </a:endParaRPr>
                    </a:p>
                  </a:txBody>
                  <a:tcPr marL="109728" marR="109728" marT="54864" marB="54864" anchor="ctr">
                    <a:lnL w="9525" cap="flat" cmpd="sng" algn="ctr">
                      <a:solidFill>
                        <a:srgbClr val="D5DBE1"/>
                      </a:solidFill>
                      <a:prstDash val="solid"/>
                      <a:round/>
                      <a:headEnd type="none" w="med" len="med"/>
                      <a:tailEnd type="none" w="med" len="med"/>
                    </a:lnL>
                    <a:lnR w="9525" cap="flat" cmpd="sng" algn="ctr">
                      <a:solidFill>
                        <a:srgbClr val="D5DBE1"/>
                      </a:solidFill>
                      <a:prstDash val="solid"/>
                      <a:round/>
                      <a:headEnd type="none" w="med" len="med"/>
                      <a:tailEnd type="none" w="med" len="med"/>
                    </a:lnR>
                    <a:lnT w="9525" cap="flat" cmpd="sng" algn="ctr">
                      <a:solidFill>
                        <a:srgbClr val="D5DBE1"/>
                      </a:solidFill>
                      <a:prstDash val="solid"/>
                      <a:round/>
                      <a:headEnd type="none" w="med" len="med"/>
                      <a:tailEnd type="none" w="med" len="med"/>
                    </a:lnT>
                    <a:lnB w="9525" cap="flat" cmpd="sng" algn="ctr">
                      <a:solidFill>
                        <a:srgbClr val="D5DBE1"/>
                      </a:solidFill>
                      <a:prstDash val="solid"/>
                      <a:round/>
                      <a:headEnd type="none" w="med" len="med"/>
                      <a:tailEnd type="none" w="med" len="med"/>
                    </a:lnB>
                  </a:tcPr>
                </a:tc>
              </a:tr>
            </a:tbl>
          </a:graphicData>
        </a:graphic>
      </p:graphicFrame>
      <p:sp>
        <p:nvSpPr>
          <p:cNvPr id="4" name="Text 1"/>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300" i="1" dirty="0">
                <a:solidFill>
                  <a:schemeClr val="accent4"/>
                </a:solidFill>
              </a:rPr>
              <a:t>We measured reachability and policy structure, not administrator error, so [2] is matched in direction, not proven.</a:t>
            </a:r>
            <a:endParaRPr lang="en-US" sz="13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Limitations</a:t>
            </a:r>
            <a:endParaRPr lang="en-US" sz="3200" dirty="0"/>
          </a:p>
        </p:txBody>
      </p:sp>
      <p:sp>
        <p:nvSpPr>
          <p:cNvPr id="3" name="card109"/>
          <p:cNvSpPr/>
          <p:nvPr/>
        </p:nvSpPr>
        <p:spPr>
          <a:xfrm>
            <a:off x="548640" y="137160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110"/>
          <p:cNvSpPr/>
          <p:nvPr/>
        </p:nvSpPr>
        <p:spPr>
          <a:xfrm>
            <a:off x="822960" y="1627632"/>
            <a:ext cx="530352" cy="530352"/>
          </a:xfrm>
          <a:prstGeom prst="ellipse">
            <a:avLst/>
          </a:prstGeom>
          <a:solidFill>
            <a:srgbClr val="C0392B"/>
          </a:solidFill>
          <a:ln w="12700">
            <a:solidFill>
              <a:srgbClr val="C0392B"/>
            </a:solidFill>
            <a:prstDash val="solid"/>
          </a:ln>
        </p:spPr>
      </p:sp>
      <p:pic>
        <p:nvPicPr>
          <p:cNvPr id="5" name="icon111" descr="FaCompress">    </p:cNvPr>
          <p:cNvPicPr>
            <a:picLocks noChangeAspect="1"/>
          </p:cNvPicPr>
          <p:nvPr/>
        </p:nvPicPr>
        <p:blipFill>
          <a:blip r:embed="rId1"/>
          <a:stretch>
            <a:fillRect/>
          </a:stretch>
        </p:blipFill>
        <p:spPr>
          <a:xfrm>
            <a:off x="950244" y="1754916"/>
            <a:ext cx="275783" cy="275783"/>
          </a:xfrm>
          <a:prstGeom prst="rect">
            <a:avLst/>
          </a:prstGeom>
        </p:spPr>
      </p:pic>
      <p:sp>
        <p:nvSpPr>
          <p:cNvPr id="6" name="Text 3"/>
          <p:cNvSpPr txBox="1"/>
          <p:nvPr/>
        </p:nvSpPr>
        <p:spPr>
          <a:xfrm>
            <a:off x="1508760" y="162763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Small scale</a:t>
            </a:r>
            <a:endParaRPr lang="en-US" sz="1900" dirty="0"/>
          </a:p>
        </p:txBody>
      </p:sp>
      <p:sp>
        <p:nvSpPr>
          <p:cNvPr id="7" name="Text 4"/>
          <p:cNvSpPr txBox="1"/>
          <p:nvPr/>
        </p:nvSpPr>
        <p:spPr>
          <a:xfrm>
            <a:off x="822960" y="2286000"/>
            <a:ext cx="3017520" cy="1097280"/>
          </a:xfrm>
          <a:prstGeom prst="rect">
            <a:avLst/>
          </a:prstGeom>
          <a:noFill/>
          <a:ln/>
        </p:spPr>
        <p:txBody>
          <a:bodyPr wrap="square" lIns="0" tIns="0" rIns="0" bIns="0" rtlCol="0" anchor="t"/>
          <a:lstStyle/>
          <a:p>
            <a:pPr indent="0" marL="0">
              <a:buNone/>
            </a:pPr>
            <a:r>
              <a:rPr lang="en-US" sz="1600" dirty="0">
                <a:solidFill>
                  <a:schemeClr val="tx1"/>
                </a:solidFill>
              </a:rPr>
              <a:t>19 devices and 40 rules, versus large real rule sets</a:t>
            </a:r>
            <a:endParaRPr lang="en-US" sz="1600" dirty="0"/>
          </a:p>
        </p:txBody>
      </p:sp>
      <p:sp>
        <p:nvSpPr>
          <p:cNvPr id="8" name="card112"/>
          <p:cNvSpPr/>
          <p:nvPr/>
        </p:nvSpPr>
        <p:spPr>
          <a:xfrm>
            <a:off x="4315968" y="137160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113"/>
          <p:cNvSpPr/>
          <p:nvPr/>
        </p:nvSpPr>
        <p:spPr>
          <a:xfrm>
            <a:off x="4590288" y="1627632"/>
            <a:ext cx="530352" cy="530352"/>
          </a:xfrm>
          <a:prstGeom prst="ellipse">
            <a:avLst/>
          </a:prstGeom>
          <a:solidFill>
            <a:srgbClr val="C0392B"/>
          </a:solidFill>
          <a:ln w="12700">
            <a:solidFill>
              <a:srgbClr val="C0392B"/>
            </a:solidFill>
            <a:prstDash val="solid"/>
          </a:ln>
        </p:spPr>
      </p:sp>
      <p:pic>
        <p:nvPicPr>
          <p:cNvPr id="10" name="icon114" descr="FaEyeSlash">    </p:cNvPr>
          <p:cNvPicPr>
            <a:picLocks noChangeAspect="1"/>
          </p:cNvPicPr>
          <p:nvPr/>
        </p:nvPicPr>
        <p:blipFill>
          <a:blip r:embed="rId2"/>
          <a:stretch>
            <a:fillRect/>
          </a:stretch>
        </p:blipFill>
        <p:spPr>
          <a:xfrm>
            <a:off x="4717572" y="1754916"/>
            <a:ext cx="275783" cy="275783"/>
          </a:xfrm>
          <a:prstGeom prst="rect">
            <a:avLst/>
          </a:prstGeom>
        </p:spPr>
      </p:pic>
      <p:sp>
        <p:nvSpPr>
          <p:cNvPr id="11" name="Text 7"/>
          <p:cNvSpPr txBox="1"/>
          <p:nvPr/>
        </p:nvSpPr>
        <p:spPr>
          <a:xfrm>
            <a:off x="5276088" y="162763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Evidence gaps</a:t>
            </a:r>
            <a:endParaRPr lang="en-US" sz="1900" dirty="0"/>
          </a:p>
        </p:txBody>
      </p:sp>
      <p:sp>
        <p:nvSpPr>
          <p:cNvPr id="12" name="Text 8"/>
          <p:cNvSpPr txBox="1"/>
          <p:nvPr/>
        </p:nvSpPr>
        <p:spPr>
          <a:xfrm>
            <a:off x="4590288" y="2286000"/>
            <a:ext cx="3017520" cy="1097280"/>
          </a:xfrm>
          <a:prstGeom prst="rect">
            <a:avLst/>
          </a:prstGeom>
          <a:noFill/>
          <a:ln/>
        </p:spPr>
        <p:txBody>
          <a:bodyPr wrap="square" lIns="0" tIns="0" rIns="0" bIns="0" rtlCol="0" anchor="t"/>
          <a:lstStyle/>
          <a:p>
            <a:pPr indent="0" marL="0">
              <a:buNone/>
            </a:pPr>
            <a:r>
              <a:rPr lang="en-US" sz="1600" dirty="0">
                <a:solidFill>
                  <a:schemeClr val="tx1"/>
                </a:solidFill>
              </a:rPr>
              <a:t>Screenshots for 17 tests in Stage 0, 4 in Stage 1, 14 in Stage 2, 7 in Stage 3</a:t>
            </a:r>
            <a:endParaRPr lang="en-US" sz="1600" dirty="0"/>
          </a:p>
        </p:txBody>
      </p:sp>
      <p:sp>
        <p:nvSpPr>
          <p:cNvPr id="13" name="card115"/>
          <p:cNvSpPr/>
          <p:nvPr/>
        </p:nvSpPr>
        <p:spPr>
          <a:xfrm>
            <a:off x="8083296" y="137160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116"/>
          <p:cNvSpPr/>
          <p:nvPr/>
        </p:nvSpPr>
        <p:spPr>
          <a:xfrm>
            <a:off x="8357616" y="1627632"/>
            <a:ext cx="530352" cy="530352"/>
          </a:xfrm>
          <a:prstGeom prst="ellipse">
            <a:avLst/>
          </a:prstGeom>
          <a:solidFill>
            <a:srgbClr val="C0392B"/>
          </a:solidFill>
          <a:ln w="12700">
            <a:solidFill>
              <a:srgbClr val="C0392B"/>
            </a:solidFill>
            <a:prstDash val="solid"/>
          </a:ln>
        </p:spPr>
      </p:sp>
      <p:pic>
        <p:nvPicPr>
          <p:cNvPr id="15" name="icon117" descr="FaIdCard">    </p:cNvPr>
          <p:cNvPicPr>
            <a:picLocks noChangeAspect="1"/>
          </p:cNvPicPr>
          <p:nvPr/>
        </p:nvPicPr>
        <p:blipFill>
          <a:blip r:embed="rId3"/>
          <a:stretch>
            <a:fillRect/>
          </a:stretch>
        </p:blipFill>
        <p:spPr>
          <a:xfrm>
            <a:off x="8484900" y="1754916"/>
            <a:ext cx="275783" cy="275783"/>
          </a:xfrm>
          <a:prstGeom prst="rect">
            <a:avLst/>
          </a:prstGeom>
        </p:spPr>
      </p:pic>
      <p:sp>
        <p:nvSpPr>
          <p:cNvPr id="16" name="Text 11"/>
          <p:cNvSpPr txBox="1"/>
          <p:nvPr/>
        </p:nvSpPr>
        <p:spPr>
          <a:xfrm>
            <a:off x="9043416" y="162763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Not Zero Trust</a:t>
            </a:r>
            <a:endParaRPr lang="en-US" sz="1900" dirty="0"/>
          </a:p>
        </p:txBody>
      </p:sp>
      <p:sp>
        <p:nvSpPr>
          <p:cNvPr id="17" name="Text 12"/>
          <p:cNvSpPr txBox="1"/>
          <p:nvPr/>
        </p:nvSpPr>
        <p:spPr>
          <a:xfrm>
            <a:off x="8357616" y="2286000"/>
            <a:ext cx="3017520" cy="1097280"/>
          </a:xfrm>
          <a:prstGeom prst="rect">
            <a:avLst/>
          </a:prstGeom>
          <a:noFill/>
          <a:ln/>
        </p:spPr>
        <p:txBody>
          <a:bodyPr wrap="square" lIns="0" tIns="0" rIns="0" bIns="0" rtlCol="0" anchor="t"/>
          <a:lstStyle/>
          <a:p>
            <a:pPr indent="0" marL="0">
              <a:buNone/>
            </a:pPr>
            <a:r>
              <a:rPr lang="en-US" sz="1600" dirty="0">
                <a:solidFill>
                  <a:schemeClr val="tx1"/>
                </a:solidFill>
              </a:rPr>
              <a:t>ACLs see addresses and ports, never user or device identity</a:t>
            </a:r>
            <a:endParaRPr lang="en-US" sz="1600" dirty="0"/>
          </a:p>
        </p:txBody>
      </p:sp>
      <p:sp>
        <p:nvSpPr>
          <p:cNvPr id="18" name="card118"/>
          <p:cNvSpPr/>
          <p:nvPr/>
        </p:nvSpPr>
        <p:spPr>
          <a:xfrm>
            <a:off x="548640" y="374904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bg119"/>
          <p:cNvSpPr/>
          <p:nvPr/>
        </p:nvSpPr>
        <p:spPr>
          <a:xfrm>
            <a:off x="822960" y="4005072"/>
            <a:ext cx="530352" cy="530352"/>
          </a:xfrm>
          <a:prstGeom prst="ellipse">
            <a:avLst/>
          </a:prstGeom>
          <a:solidFill>
            <a:srgbClr val="C0392B"/>
          </a:solidFill>
          <a:ln w="12700">
            <a:solidFill>
              <a:srgbClr val="C0392B"/>
            </a:solidFill>
            <a:prstDash val="solid"/>
          </a:ln>
        </p:spPr>
      </p:sp>
      <p:pic>
        <p:nvPicPr>
          <p:cNvPr id="20" name="icon120" descr="FaDesktop">    </p:cNvPr>
          <p:cNvPicPr>
            <a:picLocks noChangeAspect="1"/>
          </p:cNvPicPr>
          <p:nvPr/>
        </p:nvPicPr>
        <p:blipFill>
          <a:blip r:embed="rId4"/>
          <a:stretch>
            <a:fillRect/>
          </a:stretch>
        </p:blipFill>
        <p:spPr>
          <a:xfrm>
            <a:off x="950244" y="4132356"/>
            <a:ext cx="275783" cy="275783"/>
          </a:xfrm>
          <a:prstGeom prst="rect">
            <a:avLst/>
          </a:prstGeom>
        </p:spPr>
      </p:pic>
      <p:sp>
        <p:nvSpPr>
          <p:cNvPr id="21" name="Text 15"/>
          <p:cNvSpPr txBox="1"/>
          <p:nvPr/>
        </p:nvSpPr>
        <p:spPr>
          <a:xfrm>
            <a:off x="1508760" y="400507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Simulator models</a:t>
            </a:r>
            <a:endParaRPr lang="en-US" sz="1900" dirty="0"/>
          </a:p>
        </p:txBody>
      </p:sp>
      <p:sp>
        <p:nvSpPr>
          <p:cNvPr id="22" name="Text 16"/>
          <p:cNvSpPr txBox="1"/>
          <p:nvPr/>
        </p:nvSpPr>
        <p:spPr>
          <a:xfrm>
            <a:off x="822960" y="4663440"/>
            <a:ext cx="3017520" cy="1097280"/>
          </a:xfrm>
          <a:prstGeom prst="rect">
            <a:avLst/>
          </a:prstGeom>
          <a:noFill/>
          <a:ln/>
        </p:spPr>
        <p:txBody>
          <a:bodyPr wrap="square" lIns="0" tIns="0" rIns="0" bIns="0" rtlCol="0" anchor="t"/>
          <a:lstStyle/>
          <a:p>
            <a:pPr indent="0" marL="0">
              <a:buNone/>
            </a:pPr>
            <a:r>
              <a:rPr lang="en-US" sz="1600" dirty="0">
                <a:solidFill>
                  <a:schemeClr val="tx1"/>
                </a:solidFill>
              </a:rPr>
              <a:t>FTP stands in for a database; no NAT, logging or attack traffic</a:t>
            </a:r>
            <a:endParaRPr lang="en-US" sz="1600" dirty="0"/>
          </a:p>
        </p:txBody>
      </p:sp>
      <p:sp>
        <p:nvSpPr>
          <p:cNvPr id="23" name="card121"/>
          <p:cNvSpPr/>
          <p:nvPr/>
        </p:nvSpPr>
        <p:spPr>
          <a:xfrm>
            <a:off x="4315968" y="374904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iconbg122"/>
          <p:cNvSpPr/>
          <p:nvPr/>
        </p:nvSpPr>
        <p:spPr>
          <a:xfrm>
            <a:off x="4590288" y="4005072"/>
            <a:ext cx="530352" cy="530352"/>
          </a:xfrm>
          <a:prstGeom prst="ellipse">
            <a:avLst/>
          </a:prstGeom>
          <a:solidFill>
            <a:srgbClr val="C0392B"/>
          </a:solidFill>
          <a:ln w="12700">
            <a:solidFill>
              <a:srgbClr val="C0392B"/>
            </a:solidFill>
            <a:prstDash val="solid"/>
          </a:ln>
        </p:spPr>
      </p:sp>
      <p:pic>
        <p:nvPicPr>
          <p:cNvPr id="25" name="icon123" descr="FaBan">    </p:cNvPr>
          <p:cNvPicPr>
            <a:picLocks noChangeAspect="1"/>
          </p:cNvPicPr>
          <p:nvPr/>
        </p:nvPicPr>
        <p:blipFill>
          <a:blip r:embed="rId5"/>
          <a:stretch>
            <a:fillRect/>
          </a:stretch>
        </p:blipFill>
        <p:spPr>
          <a:xfrm>
            <a:off x="4717572" y="4132356"/>
            <a:ext cx="275783" cy="275783"/>
          </a:xfrm>
          <a:prstGeom prst="rect">
            <a:avLst/>
          </a:prstGeom>
        </p:spPr>
      </p:pic>
      <p:sp>
        <p:nvSpPr>
          <p:cNvPr id="26" name="Text 19"/>
          <p:cNvSpPr txBox="1"/>
          <p:nvPr/>
        </p:nvSpPr>
        <p:spPr>
          <a:xfrm>
            <a:off x="5276088" y="400507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Not run</a:t>
            </a:r>
            <a:endParaRPr lang="en-US" sz="1900" dirty="0"/>
          </a:p>
        </p:txBody>
      </p:sp>
      <p:sp>
        <p:nvSpPr>
          <p:cNvPr id="27" name="Text 20"/>
          <p:cNvSpPr txBox="1"/>
          <p:nvPr/>
        </p:nvSpPr>
        <p:spPr>
          <a:xfrm>
            <a:off x="4590288" y="4663440"/>
            <a:ext cx="3017520" cy="1097280"/>
          </a:xfrm>
          <a:prstGeom prst="rect">
            <a:avLst/>
          </a:prstGeom>
          <a:noFill/>
          <a:ln/>
        </p:spPr>
        <p:txBody>
          <a:bodyPr wrap="square" lIns="0" tIns="0" rIns="0" bIns="0" rtlCol="0" anchor="t"/>
          <a:lstStyle/>
          <a:p>
            <a:pPr indent="0" marL="0">
              <a:buNone/>
            </a:pPr>
            <a:r>
              <a:rPr lang="en-US" sz="1600" dirty="0">
                <a:solidFill>
                  <a:schemeClr val="tx1"/>
                </a:solidFill>
              </a:rPr>
              <a:t>Misconfiguration experiments M1 and M2; zero-hit and line-change metrics</a:t>
            </a:r>
            <a:endParaRPr lang="en-US" sz="1600" dirty="0"/>
          </a:p>
        </p:txBody>
      </p:sp>
      <p:sp>
        <p:nvSpPr>
          <p:cNvPr id="28" name="card124"/>
          <p:cNvSpPr/>
          <p:nvPr/>
        </p:nvSpPr>
        <p:spPr>
          <a:xfrm>
            <a:off x="8083296" y="3749040"/>
            <a:ext cx="352044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iconbg125"/>
          <p:cNvSpPr/>
          <p:nvPr/>
        </p:nvSpPr>
        <p:spPr>
          <a:xfrm>
            <a:off x="8357616" y="4005072"/>
            <a:ext cx="530352" cy="530352"/>
          </a:xfrm>
          <a:prstGeom prst="ellipse">
            <a:avLst/>
          </a:prstGeom>
          <a:solidFill>
            <a:srgbClr val="C0392B"/>
          </a:solidFill>
          <a:ln w="12700">
            <a:solidFill>
              <a:srgbClr val="C0392B"/>
            </a:solidFill>
            <a:prstDash val="solid"/>
          </a:ln>
        </p:spPr>
      </p:sp>
      <p:pic>
        <p:nvPicPr>
          <p:cNvPr id="30" name="icon126" descr="FaExchangeAlt">    </p:cNvPr>
          <p:cNvPicPr>
            <a:picLocks noChangeAspect="1"/>
          </p:cNvPicPr>
          <p:nvPr/>
        </p:nvPicPr>
        <p:blipFill>
          <a:blip r:embed="rId6"/>
          <a:stretch>
            <a:fillRect/>
          </a:stretch>
        </p:blipFill>
        <p:spPr>
          <a:xfrm>
            <a:off x="8484900" y="4132356"/>
            <a:ext cx="275783" cy="275783"/>
          </a:xfrm>
          <a:prstGeom prst="rect">
            <a:avLst/>
          </a:prstGeom>
        </p:spPr>
      </p:pic>
      <p:sp>
        <p:nvSpPr>
          <p:cNvPr id="31" name="Text 23"/>
          <p:cNvSpPr txBox="1"/>
          <p:nvPr/>
        </p:nvSpPr>
        <p:spPr>
          <a:xfrm>
            <a:off x="9043416" y="4005072"/>
            <a:ext cx="2377440" cy="530352"/>
          </a:xfrm>
          <a:prstGeom prst="rect">
            <a:avLst/>
          </a:prstGeom>
          <a:noFill/>
          <a:ln/>
        </p:spPr>
        <p:txBody>
          <a:bodyPr wrap="square" lIns="0" tIns="0" rIns="0" bIns="0" rtlCol="0" anchor="ctr"/>
          <a:lstStyle/>
          <a:p>
            <a:pPr indent="0" marL="0">
              <a:buNone/>
            </a:pPr>
            <a:r>
              <a:rPr lang="en-US" sz="1900" b="1" dirty="0">
                <a:solidFill>
                  <a:schemeClr val="tx2"/>
                </a:solidFill>
              </a:rPr>
              <a:t>Stateless filter</a:t>
            </a:r>
            <a:endParaRPr lang="en-US" sz="1900" dirty="0"/>
          </a:p>
        </p:txBody>
      </p:sp>
      <p:sp>
        <p:nvSpPr>
          <p:cNvPr id="32" name="Text 24"/>
          <p:cNvSpPr txBox="1"/>
          <p:nvPr/>
        </p:nvSpPr>
        <p:spPr>
          <a:xfrm>
            <a:off x="8357616" y="4663440"/>
            <a:ext cx="3017520" cy="1097280"/>
          </a:xfrm>
          <a:prstGeom prst="rect">
            <a:avLst/>
          </a:prstGeom>
          <a:noFill/>
          <a:ln/>
        </p:spPr>
        <p:txBody>
          <a:bodyPr wrap="square" lIns="0" tIns="0" rIns="0" bIns="0" rtlCol="0" anchor="t"/>
          <a:lstStyle/>
          <a:p>
            <a:pPr indent="0" marL="0">
              <a:buNone/>
            </a:pPr>
            <a:r>
              <a:rPr lang="en-US" sz="1600" dirty="0">
                <a:solidFill>
                  <a:schemeClr val="tx1"/>
                </a:solidFill>
              </a:rPr>
              <a:t>established accepts any TCP segment with ACK or RST set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Future work</a:t>
            </a:r>
            <a:endParaRPr lang="en-US" sz="3200" dirty="0"/>
          </a:p>
        </p:txBody>
      </p:sp>
      <p:sp>
        <p:nvSpPr>
          <p:cNvPr id="3" name="card127"/>
          <p:cNvSpPr/>
          <p:nvPr/>
        </p:nvSpPr>
        <p:spPr>
          <a:xfrm>
            <a:off x="548640" y="1371600"/>
            <a:ext cx="544068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bg128"/>
          <p:cNvSpPr/>
          <p:nvPr/>
        </p:nvSpPr>
        <p:spPr>
          <a:xfrm>
            <a:off x="822960" y="1618488"/>
            <a:ext cx="548640" cy="548640"/>
          </a:xfrm>
          <a:prstGeom prst="ellipse">
            <a:avLst/>
          </a:prstGeom>
          <a:solidFill>
            <a:srgbClr val="E09F3E"/>
          </a:solidFill>
          <a:ln w="12700">
            <a:solidFill>
              <a:srgbClr val="E09F3E"/>
            </a:solidFill>
            <a:prstDash val="solid"/>
          </a:ln>
        </p:spPr>
      </p:sp>
      <p:pic>
        <p:nvPicPr>
          <p:cNvPr id="5" name="icon129" descr="FaWrench">    </p:cNvPr>
          <p:cNvPicPr>
            <a:picLocks noChangeAspect="1"/>
          </p:cNvPicPr>
          <p:nvPr/>
        </p:nvPicPr>
        <p:blipFill>
          <a:blip r:embed="rId1"/>
          <a:stretch>
            <a:fillRect/>
          </a:stretch>
        </p:blipFill>
        <p:spPr>
          <a:xfrm>
            <a:off x="954634" y="1750162"/>
            <a:ext cx="285293" cy="285293"/>
          </a:xfrm>
          <a:prstGeom prst="rect">
            <a:avLst/>
          </a:prstGeom>
        </p:spPr>
      </p:pic>
      <p:sp>
        <p:nvSpPr>
          <p:cNvPr id="6" name="Text 3"/>
          <p:cNvSpPr txBox="1"/>
          <p:nvPr/>
        </p:nvSpPr>
        <p:spPr>
          <a:xfrm>
            <a:off x="1554480" y="1664208"/>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Fix the FTP gap</a:t>
            </a:r>
            <a:endParaRPr lang="en-US" sz="1900" dirty="0"/>
          </a:p>
        </p:txBody>
      </p:sp>
      <p:sp>
        <p:nvSpPr>
          <p:cNvPr id="7" name="Text 4"/>
          <p:cNvSpPr txBox="1"/>
          <p:nvPr/>
        </p:nvSpPr>
        <p:spPr>
          <a:xfrm>
            <a:off x="822960" y="2331720"/>
            <a:ext cx="4937760" cy="1051560"/>
          </a:xfrm>
          <a:prstGeom prst="rect">
            <a:avLst/>
          </a:prstGeom>
          <a:noFill/>
          <a:ln/>
        </p:spPr>
        <p:txBody>
          <a:bodyPr wrap="square" lIns="0" tIns="0" rIns="0" bIns="0" rtlCol="0" anchor="t"/>
          <a:lstStyle/>
          <a:p>
            <a:pPr indent="0" marL="0">
              <a:buNone/>
            </a:pPr>
            <a:r>
              <a:rPr lang="en-US" sz="1600" dirty="0">
                <a:solidFill>
                  <a:schemeClr val="tx2"/>
                </a:solidFill>
              </a:rPr>
              <a:t>Add one minimal, correctly ordered data-channel rule, or move the finance service to HTTPS/SFTP, and re-test</a:t>
            </a:r>
            <a:endParaRPr lang="en-US" sz="1600" dirty="0"/>
          </a:p>
        </p:txBody>
      </p:sp>
      <p:sp>
        <p:nvSpPr>
          <p:cNvPr id="8" name="card130"/>
          <p:cNvSpPr/>
          <p:nvPr/>
        </p:nvSpPr>
        <p:spPr>
          <a:xfrm>
            <a:off x="6172200" y="1371600"/>
            <a:ext cx="544068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bg131"/>
          <p:cNvSpPr/>
          <p:nvPr/>
        </p:nvSpPr>
        <p:spPr>
          <a:xfrm>
            <a:off x="6446520" y="1618488"/>
            <a:ext cx="548640" cy="548640"/>
          </a:xfrm>
          <a:prstGeom prst="ellipse">
            <a:avLst/>
          </a:prstGeom>
          <a:solidFill>
            <a:srgbClr val="E09F3E"/>
          </a:solidFill>
          <a:ln w="12700">
            <a:solidFill>
              <a:srgbClr val="E09F3E"/>
            </a:solidFill>
            <a:prstDash val="solid"/>
          </a:ln>
        </p:spPr>
      </p:sp>
      <p:pic>
        <p:nvPicPr>
          <p:cNvPr id="10" name="icon132" descr="FaBug">    </p:cNvPr>
          <p:cNvPicPr>
            <a:picLocks noChangeAspect="1"/>
          </p:cNvPicPr>
          <p:nvPr/>
        </p:nvPicPr>
        <p:blipFill>
          <a:blip r:embed="rId2"/>
          <a:stretch>
            <a:fillRect/>
          </a:stretch>
        </p:blipFill>
        <p:spPr>
          <a:xfrm>
            <a:off x="6578194" y="1750162"/>
            <a:ext cx="285293" cy="285293"/>
          </a:xfrm>
          <a:prstGeom prst="rect">
            <a:avLst/>
          </a:prstGeom>
        </p:spPr>
      </p:pic>
      <p:sp>
        <p:nvSpPr>
          <p:cNvPr id="11" name="Text 7"/>
          <p:cNvSpPr txBox="1"/>
          <p:nvPr/>
        </p:nvSpPr>
        <p:spPr>
          <a:xfrm>
            <a:off x="7178040" y="1664208"/>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Run the mistake experiments</a:t>
            </a:r>
            <a:endParaRPr lang="en-US" sz="1900" dirty="0"/>
          </a:p>
        </p:txBody>
      </p:sp>
      <p:sp>
        <p:nvSpPr>
          <p:cNvPr id="12" name="Text 8"/>
          <p:cNvSpPr txBox="1"/>
          <p:nvPr/>
        </p:nvSpPr>
        <p:spPr>
          <a:xfrm>
            <a:off x="6446520" y="2331720"/>
            <a:ext cx="4937760" cy="1051560"/>
          </a:xfrm>
          <a:prstGeom prst="rect">
            <a:avLst/>
          </a:prstGeom>
          <a:noFill/>
          <a:ln/>
        </p:spPr>
        <p:txBody>
          <a:bodyPr wrap="square" lIns="0" tIns="0" rIns="0" bIns="0" rtlCol="0" anchor="t"/>
          <a:lstStyle/>
          <a:p>
            <a:pPr indent="0" marL="0">
              <a:buNone/>
            </a:pPr>
            <a:r>
              <a:rPr lang="en-US" sz="1600" dirty="0">
                <a:solidFill>
                  <a:schemeClr val="tx2"/>
                </a:solidFill>
              </a:rPr>
              <a:t>M1 (shadowed rule) and M2 (missing DNS rule) on copies of Stages 2 and 3</a:t>
            </a:r>
            <a:endParaRPr lang="en-US" sz="1600" dirty="0"/>
          </a:p>
        </p:txBody>
      </p:sp>
      <p:sp>
        <p:nvSpPr>
          <p:cNvPr id="13" name="card133"/>
          <p:cNvSpPr/>
          <p:nvPr/>
        </p:nvSpPr>
        <p:spPr>
          <a:xfrm>
            <a:off x="548640" y="3703320"/>
            <a:ext cx="544068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bg134"/>
          <p:cNvSpPr/>
          <p:nvPr/>
        </p:nvSpPr>
        <p:spPr>
          <a:xfrm>
            <a:off x="822960" y="3950208"/>
            <a:ext cx="548640" cy="548640"/>
          </a:xfrm>
          <a:prstGeom prst="ellipse">
            <a:avLst/>
          </a:prstGeom>
          <a:solidFill>
            <a:srgbClr val="E09F3E"/>
          </a:solidFill>
          <a:ln w="12700">
            <a:solidFill>
              <a:srgbClr val="E09F3E"/>
            </a:solidFill>
            <a:prstDash val="solid"/>
          </a:ln>
        </p:spPr>
      </p:sp>
      <p:pic>
        <p:nvPicPr>
          <p:cNvPr id="15" name="icon135" descr="FaCamera">    </p:cNvPr>
          <p:cNvPicPr>
            <a:picLocks noChangeAspect="1"/>
          </p:cNvPicPr>
          <p:nvPr/>
        </p:nvPicPr>
        <p:blipFill>
          <a:blip r:embed="rId3"/>
          <a:stretch>
            <a:fillRect/>
          </a:stretch>
        </p:blipFill>
        <p:spPr>
          <a:xfrm>
            <a:off x="954634" y="4081882"/>
            <a:ext cx="285293" cy="285293"/>
          </a:xfrm>
          <a:prstGeom prst="rect">
            <a:avLst/>
          </a:prstGeom>
        </p:spPr>
      </p:pic>
      <p:sp>
        <p:nvSpPr>
          <p:cNvPr id="16" name="Text 11"/>
          <p:cNvSpPr txBox="1"/>
          <p:nvPr/>
        </p:nvSpPr>
        <p:spPr>
          <a:xfrm>
            <a:off x="1554480" y="3995928"/>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Complete the evidence</a:t>
            </a:r>
            <a:endParaRPr lang="en-US" sz="1900" dirty="0"/>
          </a:p>
        </p:txBody>
      </p:sp>
      <p:sp>
        <p:nvSpPr>
          <p:cNvPr id="17" name="Text 12"/>
          <p:cNvSpPr txBox="1"/>
          <p:nvPr/>
        </p:nvSpPr>
        <p:spPr>
          <a:xfrm>
            <a:off x="822960" y="4663440"/>
            <a:ext cx="4937760" cy="1051560"/>
          </a:xfrm>
          <a:prstGeom prst="rect">
            <a:avLst/>
          </a:prstGeom>
          <a:noFill/>
          <a:ln/>
        </p:spPr>
        <p:txBody>
          <a:bodyPr wrap="square" lIns="0" tIns="0" rIns="0" bIns="0" rtlCol="0" anchor="t"/>
          <a:lstStyle/>
          <a:p>
            <a:pPr indent="0" marL="0">
              <a:buNone/>
            </a:pPr>
            <a:r>
              <a:rPr lang="en-US" sz="1600" dirty="0">
                <a:solidFill>
                  <a:schemeClr val="tx2"/>
                </a:solidFill>
              </a:rPr>
              <a:t>Capture every test and ACL counter in every stage; save running configs to measure lines changed</a:t>
            </a:r>
            <a:endParaRPr lang="en-US" sz="1600" dirty="0"/>
          </a:p>
        </p:txBody>
      </p:sp>
      <p:sp>
        <p:nvSpPr>
          <p:cNvPr id="18" name="card136"/>
          <p:cNvSpPr/>
          <p:nvPr/>
        </p:nvSpPr>
        <p:spPr>
          <a:xfrm>
            <a:off x="6172200" y="3703320"/>
            <a:ext cx="5440680" cy="2103120"/>
          </a:xfrm>
          <a:prstGeom prst="roundRect">
            <a:avLst>
              <a:gd name="adj" fmla="val 347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bg137"/>
          <p:cNvSpPr/>
          <p:nvPr/>
        </p:nvSpPr>
        <p:spPr>
          <a:xfrm>
            <a:off x="6446520" y="3950208"/>
            <a:ext cx="548640" cy="548640"/>
          </a:xfrm>
          <a:prstGeom prst="ellipse">
            <a:avLst/>
          </a:prstGeom>
          <a:solidFill>
            <a:srgbClr val="E09F3E"/>
          </a:solidFill>
          <a:ln w="12700">
            <a:solidFill>
              <a:srgbClr val="E09F3E"/>
            </a:solidFill>
            <a:prstDash val="solid"/>
          </a:ln>
        </p:spPr>
      </p:sp>
      <p:pic>
        <p:nvPicPr>
          <p:cNvPr id="20" name="icon138" descr="FaFingerprint">    </p:cNvPr>
          <p:cNvPicPr>
            <a:picLocks noChangeAspect="1"/>
          </p:cNvPicPr>
          <p:nvPr/>
        </p:nvPicPr>
        <p:blipFill>
          <a:blip r:embed="rId4"/>
          <a:stretch>
            <a:fillRect/>
          </a:stretch>
        </p:blipFill>
        <p:spPr>
          <a:xfrm>
            <a:off x="6578194" y="4081882"/>
            <a:ext cx="285293" cy="285293"/>
          </a:xfrm>
          <a:prstGeom prst="rect">
            <a:avLst/>
          </a:prstGeom>
        </p:spPr>
      </p:pic>
      <p:sp>
        <p:nvSpPr>
          <p:cNvPr id="21" name="Text 15"/>
          <p:cNvSpPr txBox="1"/>
          <p:nvPr/>
        </p:nvSpPr>
        <p:spPr>
          <a:xfrm>
            <a:off x="7178040" y="3995928"/>
            <a:ext cx="4206240" cy="457200"/>
          </a:xfrm>
          <a:prstGeom prst="rect">
            <a:avLst/>
          </a:prstGeom>
          <a:noFill/>
          <a:ln/>
        </p:spPr>
        <p:txBody>
          <a:bodyPr wrap="square" lIns="0" tIns="0" rIns="0" bIns="0" rtlCol="0" anchor="ctr"/>
          <a:lstStyle/>
          <a:p>
            <a:pPr indent="0" marL="0">
              <a:buNone/>
            </a:pPr>
            <a:r>
              <a:rPr lang="en-US" sz="1900" b="1" dirty="0">
                <a:solidFill>
                  <a:schemeClr val="tx1"/>
                </a:solidFill>
              </a:rPr>
              <a:t>Stateful and identity-aware</a:t>
            </a:r>
            <a:endParaRPr lang="en-US" sz="1900" dirty="0"/>
          </a:p>
        </p:txBody>
      </p:sp>
      <p:sp>
        <p:nvSpPr>
          <p:cNvPr id="22" name="Text 16"/>
          <p:cNvSpPr txBox="1"/>
          <p:nvPr/>
        </p:nvSpPr>
        <p:spPr>
          <a:xfrm>
            <a:off x="6446520" y="4663440"/>
            <a:ext cx="4937760" cy="1051560"/>
          </a:xfrm>
          <a:prstGeom prst="rect">
            <a:avLst/>
          </a:prstGeom>
          <a:noFill/>
          <a:ln/>
        </p:spPr>
        <p:txBody>
          <a:bodyPr wrap="square" lIns="0" tIns="0" rIns="0" bIns="0" rtlCol="0" anchor="t"/>
          <a:lstStyle/>
          <a:p>
            <a:pPr indent="0" marL="0">
              <a:buNone/>
            </a:pPr>
            <a:r>
              <a:rPr lang="en-US" sz="1600" dirty="0">
                <a:solidFill>
                  <a:schemeClr val="tx2"/>
                </a:solidFill>
              </a:rPr>
              <a:t>Compare with a stateful firewall and with identity-based microsegmentation (Zero Trust)</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nchor="ctr"/>
          <a:lstStyle/>
          <a:p>
            <a:pPr indent="0" marL="0">
              <a:buNone/>
            </a:pPr>
            <a:r>
              <a:rPr lang="en-US" sz="3200" b="1" dirty="0">
                <a:solidFill>
                  <a:schemeClr val="bg1"/>
                </a:solidFill>
              </a:rPr>
              <a:t>Conclusion</a:t>
            </a:r>
            <a:endParaRPr lang="en-US" sz="3200" dirty="0"/>
          </a:p>
        </p:txBody>
      </p:sp>
      <p:sp>
        <p:nvSpPr>
          <p:cNvPr id="3" name="iconbg139"/>
          <p:cNvSpPr/>
          <p:nvPr/>
        </p:nvSpPr>
        <p:spPr>
          <a:xfrm>
            <a:off x="640080" y="1600200"/>
            <a:ext cx="777240" cy="777240"/>
          </a:xfrm>
          <a:prstGeom prst="ellipse">
            <a:avLst/>
          </a:prstGeom>
          <a:solidFill>
            <a:srgbClr val="1E8E5A"/>
          </a:solidFill>
          <a:ln w="12700">
            <a:solidFill>
              <a:srgbClr val="1E8E5A"/>
            </a:solidFill>
            <a:prstDash val="solid"/>
          </a:ln>
        </p:spPr>
      </p:sp>
      <p:pic>
        <p:nvPicPr>
          <p:cNvPr id="4" name="icon140" descr="FaShieldAlt">    </p:cNvPr>
          <p:cNvPicPr>
            <a:picLocks noChangeAspect="1"/>
          </p:cNvPicPr>
          <p:nvPr/>
        </p:nvPicPr>
        <p:blipFill>
          <a:blip r:embed="rId1"/>
          <a:stretch>
            <a:fillRect/>
          </a:stretch>
        </p:blipFill>
        <p:spPr>
          <a:xfrm>
            <a:off x="826618" y="1786738"/>
            <a:ext cx="404165" cy="404165"/>
          </a:xfrm>
          <a:prstGeom prst="rect">
            <a:avLst/>
          </a:prstGeom>
        </p:spPr>
      </p:pic>
      <p:sp>
        <p:nvSpPr>
          <p:cNvPr id="5" name="Text 2"/>
          <p:cNvSpPr txBox="1"/>
          <p:nvPr/>
        </p:nvSpPr>
        <p:spPr>
          <a:xfrm>
            <a:off x="640080" y="2514600"/>
            <a:ext cx="347472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Security improved</a:t>
            </a:r>
            <a:endParaRPr lang="en-US" sz="2400" dirty="0"/>
          </a:p>
        </p:txBody>
      </p:sp>
      <p:sp>
        <p:nvSpPr>
          <p:cNvPr id="6" name="Text 3"/>
          <p:cNvSpPr txBox="1"/>
          <p:nvPr/>
        </p:nvSpPr>
        <p:spPr>
          <a:xfrm>
            <a:off x="640080" y="3154680"/>
            <a:ext cx="3383280" cy="1463040"/>
          </a:xfrm>
          <a:prstGeom prst="rect">
            <a:avLst/>
          </a:prstGeom>
          <a:noFill/>
          <a:ln/>
        </p:spPr>
        <p:txBody>
          <a:bodyPr wrap="square" lIns="0" tIns="0" rIns="0" bIns="0" rtlCol="0" anchor="t"/>
          <a:lstStyle/>
          <a:p>
            <a:pPr indent="0" marL="0">
              <a:buNone/>
            </a:pPr>
            <a:r>
              <a:rPr lang="en-US" sz="1600" dirty="0">
                <a:solidFill>
                  <a:schemeClr val="bg2"/>
                </a:solidFill>
              </a:rPr>
              <a:t>Forbidden access fell from broad to least privilege; all forbidden flows we captured were blocked in Stage 3</a:t>
            </a:r>
            <a:endParaRPr lang="en-US" sz="1600" dirty="0"/>
          </a:p>
        </p:txBody>
      </p:sp>
      <p:sp>
        <p:nvSpPr>
          <p:cNvPr id="7" name="iconbg141"/>
          <p:cNvSpPr/>
          <p:nvPr/>
        </p:nvSpPr>
        <p:spPr>
          <a:xfrm>
            <a:off x="4389120" y="1600200"/>
            <a:ext cx="777240" cy="777240"/>
          </a:xfrm>
          <a:prstGeom prst="ellipse">
            <a:avLst/>
          </a:prstGeom>
          <a:solidFill>
            <a:srgbClr val="E09F3E"/>
          </a:solidFill>
          <a:ln w="12700">
            <a:solidFill>
              <a:srgbClr val="E09F3E"/>
            </a:solidFill>
            <a:prstDash val="solid"/>
          </a:ln>
        </p:spPr>
      </p:sp>
      <p:pic>
        <p:nvPicPr>
          <p:cNvPr id="8" name="icon142" descr="FaChartLine">    </p:cNvPr>
          <p:cNvPicPr>
            <a:picLocks noChangeAspect="1"/>
          </p:cNvPicPr>
          <p:nvPr/>
        </p:nvPicPr>
        <p:blipFill>
          <a:blip r:embed="rId2"/>
          <a:stretch>
            <a:fillRect/>
          </a:stretch>
        </p:blipFill>
        <p:spPr>
          <a:xfrm>
            <a:off x="4575658" y="1786738"/>
            <a:ext cx="404165" cy="404165"/>
          </a:xfrm>
          <a:prstGeom prst="rect">
            <a:avLst/>
          </a:prstGeom>
        </p:spPr>
      </p:pic>
      <p:sp>
        <p:nvSpPr>
          <p:cNvPr id="9" name="Text 5"/>
          <p:cNvSpPr txBox="1"/>
          <p:nvPr/>
        </p:nvSpPr>
        <p:spPr>
          <a:xfrm>
            <a:off x="4389120" y="2514600"/>
            <a:ext cx="347472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Cost rose</a:t>
            </a:r>
            <a:endParaRPr lang="en-US" sz="2400" dirty="0"/>
          </a:p>
        </p:txBody>
      </p:sp>
      <p:sp>
        <p:nvSpPr>
          <p:cNvPr id="10" name="Text 6"/>
          <p:cNvSpPr txBox="1"/>
          <p:nvPr/>
        </p:nvSpPr>
        <p:spPr>
          <a:xfrm>
            <a:off x="4389120" y="3154680"/>
            <a:ext cx="3383280" cy="1463040"/>
          </a:xfrm>
          <a:prstGeom prst="rect">
            <a:avLst/>
          </a:prstGeom>
          <a:noFill/>
          <a:ln/>
        </p:spPr>
        <p:txBody>
          <a:bodyPr wrap="square" lIns="0" tIns="0" rIns="0" bIns="0" rtlCol="0" anchor="t"/>
          <a:lstStyle/>
          <a:p>
            <a:pPr indent="0" marL="0">
              <a:buNone/>
            </a:pPr>
            <a:r>
              <a:rPr lang="en-US" sz="1600" dirty="0">
                <a:solidFill>
                  <a:schemeClr val="bg2"/>
                </a:solidFill>
              </a:rPr>
              <a:t>Rules grew 4× and order-dependent pairs from 0 to 24</a:t>
            </a:r>
            <a:endParaRPr lang="en-US" sz="1600" dirty="0"/>
          </a:p>
        </p:txBody>
      </p:sp>
      <p:sp>
        <p:nvSpPr>
          <p:cNvPr id="11" name="iconbg143"/>
          <p:cNvSpPr/>
          <p:nvPr/>
        </p:nvSpPr>
        <p:spPr>
          <a:xfrm>
            <a:off x="8138160" y="1600200"/>
            <a:ext cx="777240" cy="777240"/>
          </a:xfrm>
          <a:prstGeom prst="ellipse">
            <a:avLst/>
          </a:prstGeom>
          <a:solidFill>
            <a:srgbClr val="C0392B"/>
          </a:solidFill>
          <a:ln w="12700">
            <a:solidFill>
              <a:srgbClr val="C0392B"/>
            </a:solidFill>
            <a:prstDash val="solid"/>
          </a:ln>
        </p:spPr>
      </p:sp>
      <p:pic>
        <p:nvPicPr>
          <p:cNvPr id="12" name="icon144" descr="FaUserCog">    </p:cNvPr>
          <p:cNvPicPr>
            <a:picLocks noChangeAspect="1"/>
          </p:cNvPicPr>
          <p:nvPr/>
        </p:nvPicPr>
        <p:blipFill>
          <a:blip r:embed="rId3"/>
          <a:stretch>
            <a:fillRect/>
          </a:stretch>
        </p:blipFill>
        <p:spPr>
          <a:xfrm>
            <a:off x="8324698" y="1786738"/>
            <a:ext cx="404165" cy="404165"/>
          </a:xfrm>
          <a:prstGeom prst="rect">
            <a:avLst/>
          </a:prstGeom>
        </p:spPr>
      </p:pic>
      <p:sp>
        <p:nvSpPr>
          <p:cNvPr id="13" name="Text 8"/>
          <p:cNvSpPr txBox="1"/>
          <p:nvPr/>
        </p:nvSpPr>
        <p:spPr>
          <a:xfrm>
            <a:off x="8138160" y="2514600"/>
            <a:ext cx="347472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Usability suffered</a:t>
            </a:r>
            <a:endParaRPr lang="en-US" sz="2400" dirty="0"/>
          </a:p>
        </p:txBody>
      </p:sp>
      <p:sp>
        <p:nvSpPr>
          <p:cNvPr id="14" name="Text 9"/>
          <p:cNvSpPr txBox="1"/>
          <p:nvPr/>
        </p:nvSpPr>
        <p:spPr>
          <a:xfrm>
            <a:off x="8138160" y="3154680"/>
            <a:ext cx="3383280" cy="1463040"/>
          </a:xfrm>
          <a:prstGeom prst="rect">
            <a:avLst/>
          </a:prstGeom>
          <a:noFill/>
          <a:ln/>
        </p:spPr>
        <p:txBody>
          <a:bodyPr wrap="square" lIns="0" tIns="0" rIns="0" bIns="0" rtlCol="0" anchor="t"/>
          <a:lstStyle/>
          <a:p>
            <a:pPr indent="0" marL="0">
              <a:buNone/>
            </a:pPr>
            <a:r>
              <a:rPr lang="en-US" sz="1600" dirty="0">
                <a:solidFill>
                  <a:schemeClr val="bg2"/>
                </a:solidFill>
              </a:rPr>
              <a:t>Least privilege broke FTP file listing until the policy is extended</a:t>
            </a:r>
            <a:endParaRPr lang="en-US" sz="1600" dirty="0"/>
          </a:p>
        </p:txBody>
      </p:sp>
      <p:sp>
        <p:nvSpPr>
          <p:cNvPr id="15" name="Text 10"/>
          <p:cNvSpPr txBox="1"/>
          <p:nvPr/>
        </p:nvSpPr>
        <p:spPr>
          <a:xfrm>
            <a:off x="640080" y="5074920"/>
            <a:ext cx="10881360" cy="548640"/>
          </a:xfrm>
          <a:prstGeom prst="rect">
            <a:avLst/>
          </a:prstGeom>
          <a:noFill/>
          <a:ln/>
        </p:spPr>
        <p:txBody>
          <a:bodyPr wrap="square" lIns="0" tIns="0" rIns="0" bIns="0" rtlCol="0" anchor="t"/>
          <a:lstStyle/>
          <a:p>
            <a:pPr indent="0" marL="0">
              <a:buNone/>
            </a:pPr>
            <a:r>
              <a:rPr lang="en-US" sz="2000" i="1" dirty="0">
                <a:solidFill>
                  <a:schemeClr val="accent3"/>
                </a:solidFill>
                <a:latin typeface="Cambria" pitchFamily="34" charset="0"/>
                <a:ea typeface="Cambria" pitchFamily="34" charset="-122"/>
                <a:cs typeface="Cambria" pitchFamily="34" charset="-120"/>
              </a:rPr>
              <a:t>Write the required flows first, then refine — the trade-off is real, and it can be measured.</a:t>
            </a:r>
            <a:endParaRPr lang="en-US" sz="2000" dirty="0"/>
          </a:p>
        </p:txBody>
      </p:sp>
      <p:sp>
        <p:nvSpPr>
          <p:cNvPr id="16" name="Text 11"/>
          <p:cNvSpPr txBox="1"/>
          <p:nvPr/>
        </p:nvSpPr>
        <p:spPr>
          <a:xfrm>
            <a:off x="640080" y="5806440"/>
            <a:ext cx="10881360" cy="457200"/>
          </a:xfrm>
          <a:prstGeom prst="rect">
            <a:avLst/>
          </a:prstGeom>
          <a:noFill/>
          <a:ln/>
        </p:spPr>
        <p:txBody>
          <a:bodyPr wrap="square" lIns="0" tIns="0" rIns="0" bIns="0" rtlCol="0" anchor="t"/>
          <a:lstStyle/>
          <a:p>
            <a:pPr indent="0" marL="0">
              <a:buNone/>
            </a:pPr>
            <a:r>
              <a:rPr lang="en-US" sz="1800" b="1" dirty="0">
                <a:solidFill>
                  <a:schemeClr val="bg1"/>
                </a:solidFill>
              </a:rPr>
              <a:t>Thank you · Questions?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References (1 of 3)</a:t>
            </a:r>
            <a:endParaRPr lang="en-US" sz="3200" dirty="0"/>
          </a:p>
        </p:txBody>
      </p:sp>
      <p:sp>
        <p:nvSpPr>
          <p:cNvPr id="3" name="card145"/>
          <p:cNvSpPr/>
          <p:nvPr/>
        </p:nvSpPr>
        <p:spPr>
          <a:xfrm>
            <a:off x="548640" y="123444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289304"/>
            <a:ext cx="10607040" cy="329184"/>
          </a:xfrm>
          <a:prstGeom prst="rect">
            <a:avLst/>
          </a:prstGeom>
          <a:noFill/>
          <a:ln/>
        </p:spPr>
        <p:txBody>
          <a:bodyPr wrap="square" lIns="0" tIns="0" rIns="0" bIns="0" rtlCol="0" anchor="t"/>
          <a:lstStyle/>
          <a:p>
            <a:pPr indent="0" marL="0">
              <a:buNone/>
            </a:pPr>
            <a:r>
              <a:rPr lang="en-US" sz="1400" dirty="0">
                <a:solidFill>
                  <a:schemeClr val="tx1"/>
                </a:solidFill>
              </a:rPr>
              <a:t>[1] A. Wool, "A quantitative study of firewall configuration errors," Computer, 37(6), 2004.</a:t>
            </a:r>
            <a:endParaRPr lang="en-US" sz="1400" dirty="0"/>
          </a:p>
        </p:txBody>
      </p:sp>
      <p:sp>
        <p:nvSpPr>
          <p:cNvPr id="5" name="Text 3"/>
          <p:cNvSpPr txBox="1"/>
          <p:nvPr/>
        </p:nvSpPr>
        <p:spPr>
          <a:xfrm>
            <a:off x="777240" y="162763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1" invalidUrl="" action="" tgtFrame="" tooltip="Open source" history="1" highlightClick="0" endSnd="0">
                  <a:extLst>
                    <a:ext uri="{A12FA001-AC4F-418D-AE19-62706E023703}">
                      <ahyp:hlinkClr xmlns:ahyp="http://schemas.microsoft.com/office/drawing/2018/hyperlinkcolor" val="tx"/>
                    </a:ext>
                  </a:extLst>
                </a:hlinkClick>
              </a:rPr>
              <a:t>https://ieeexplore.ieee.org/document/1306389</a:t>
            </a:r>
            <a:endParaRPr lang="en-US" sz="1200" dirty="0"/>
          </a:p>
        </p:txBody>
      </p:sp>
      <p:sp>
        <p:nvSpPr>
          <p:cNvPr id="6" name="card146"/>
          <p:cNvSpPr/>
          <p:nvPr/>
        </p:nvSpPr>
        <p:spPr>
          <a:xfrm>
            <a:off x="548640" y="2039112"/>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77240" y="2093976"/>
            <a:ext cx="10607040" cy="329184"/>
          </a:xfrm>
          <a:prstGeom prst="rect">
            <a:avLst/>
          </a:prstGeom>
          <a:noFill/>
          <a:ln/>
        </p:spPr>
        <p:txBody>
          <a:bodyPr wrap="square" lIns="0" tIns="0" rIns="0" bIns="0" rtlCol="0" anchor="t"/>
          <a:lstStyle/>
          <a:p>
            <a:pPr indent="0" marL="0">
              <a:buNone/>
            </a:pPr>
            <a:r>
              <a:rPr lang="en-US" sz="1400" dirty="0">
                <a:solidFill>
                  <a:schemeClr val="tx1"/>
                </a:solidFill>
              </a:rPr>
              <a:t>[2] A. Wool, "Trends in firewall configuration errors," IEEE Internet Computing, 14(4), 2010 (extended version).</a:t>
            </a:r>
            <a:endParaRPr lang="en-US" sz="1400" dirty="0"/>
          </a:p>
        </p:txBody>
      </p:sp>
      <p:sp>
        <p:nvSpPr>
          <p:cNvPr id="8" name="Text 6"/>
          <p:cNvSpPr txBox="1"/>
          <p:nvPr/>
        </p:nvSpPr>
        <p:spPr>
          <a:xfrm>
            <a:off x="777240" y="2432304"/>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2" invalidUrl="" action="" tgtFrame="" tooltip="Open source" history="1" highlightClick="0" endSnd="0">
                  <a:extLst>
                    <a:ext uri="{A12FA001-AC4F-418D-AE19-62706E023703}">
                      <ahyp:hlinkClr xmlns:ahyp="http://schemas.microsoft.com/office/drawing/2018/hyperlinkcolor" val="tx"/>
                    </a:ext>
                  </a:extLst>
                </a:hlinkClick>
              </a:rPr>
              <a:t>https://arxiv.org/abs/0911.1240</a:t>
            </a:r>
            <a:endParaRPr lang="en-US" sz="1200" dirty="0"/>
          </a:p>
        </p:txBody>
      </p:sp>
      <p:sp>
        <p:nvSpPr>
          <p:cNvPr id="9" name="card147"/>
          <p:cNvSpPr/>
          <p:nvPr/>
        </p:nvSpPr>
        <p:spPr>
          <a:xfrm>
            <a:off x="548640" y="2843784"/>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2898648"/>
            <a:ext cx="10607040" cy="329184"/>
          </a:xfrm>
          <a:prstGeom prst="rect">
            <a:avLst/>
          </a:prstGeom>
          <a:noFill/>
          <a:ln/>
        </p:spPr>
        <p:txBody>
          <a:bodyPr wrap="square" lIns="0" tIns="0" rIns="0" bIns="0" rtlCol="0" anchor="t"/>
          <a:lstStyle/>
          <a:p>
            <a:pPr indent="0" marL="0">
              <a:buNone/>
            </a:pPr>
            <a:r>
              <a:rPr lang="en-US" sz="1400" dirty="0">
                <a:solidFill>
                  <a:schemeClr val="tx1"/>
                </a:solidFill>
              </a:rPr>
              <a:t>[3] K. Scarfone, P. Hoffman, "Guidelines on firewalls and firewall policy," NIST SP 800-41 Rev. 1, 2009.</a:t>
            </a:r>
            <a:endParaRPr lang="en-US" sz="1400" dirty="0"/>
          </a:p>
        </p:txBody>
      </p:sp>
      <p:sp>
        <p:nvSpPr>
          <p:cNvPr id="11" name="Text 9"/>
          <p:cNvSpPr txBox="1"/>
          <p:nvPr/>
        </p:nvSpPr>
        <p:spPr>
          <a:xfrm>
            <a:off x="777240" y="3236976"/>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3" invalidUrl="" action="" tgtFrame="" tooltip="Open source" history="1" highlightClick="0" endSnd="0">
                  <a:extLst>
                    <a:ext uri="{A12FA001-AC4F-418D-AE19-62706E023703}">
                      <ahyp:hlinkClr xmlns:ahyp="http://schemas.microsoft.com/office/drawing/2018/hyperlinkcolor" val="tx"/>
                    </a:ext>
                  </a:extLst>
                </a:hlinkClick>
              </a:rPr>
              <a:t>https://doi.org/10.6028/NIST.SP.800-41r1</a:t>
            </a:r>
            <a:endParaRPr lang="en-US" sz="1200" dirty="0"/>
          </a:p>
        </p:txBody>
      </p:sp>
      <p:sp>
        <p:nvSpPr>
          <p:cNvPr id="12" name="card148"/>
          <p:cNvSpPr/>
          <p:nvPr/>
        </p:nvSpPr>
        <p:spPr>
          <a:xfrm>
            <a:off x="548640" y="3648456"/>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3703320"/>
            <a:ext cx="10607040" cy="329184"/>
          </a:xfrm>
          <a:prstGeom prst="rect">
            <a:avLst/>
          </a:prstGeom>
          <a:noFill/>
          <a:ln/>
        </p:spPr>
        <p:txBody>
          <a:bodyPr wrap="square" lIns="0" tIns="0" rIns="0" bIns="0" rtlCol="0" anchor="t"/>
          <a:lstStyle/>
          <a:p>
            <a:pPr indent="0" marL="0">
              <a:buNone/>
            </a:pPr>
            <a:r>
              <a:rPr lang="en-US" sz="1400" dirty="0">
                <a:solidFill>
                  <a:schemeClr val="tx1"/>
                </a:solidFill>
              </a:rPr>
              <a:t>[4] S. Rose et al., "Zero trust architecture," NIST SP 800-207, 2020.</a:t>
            </a:r>
            <a:endParaRPr lang="en-US" sz="1400" dirty="0"/>
          </a:p>
        </p:txBody>
      </p:sp>
      <p:sp>
        <p:nvSpPr>
          <p:cNvPr id="14" name="Text 12"/>
          <p:cNvSpPr txBox="1"/>
          <p:nvPr/>
        </p:nvSpPr>
        <p:spPr>
          <a:xfrm>
            <a:off x="777240" y="4041648"/>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4" invalidUrl="" action="" tgtFrame="" tooltip="Open source" history="1" highlightClick="0" endSnd="0">
                  <a:extLst>
                    <a:ext uri="{A12FA001-AC4F-418D-AE19-62706E023703}">
                      <ahyp:hlinkClr xmlns:ahyp="http://schemas.microsoft.com/office/drawing/2018/hyperlinkcolor" val="tx"/>
                    </a:ext>
                  </a:extLst>
                </a:hlinkClick>
              </a:rPr>
              <a:t>https://doi.org/10.6028/NIST.SP.800-207</a:t>
            </a:r>
            <a:endParaRPr lang="en-US" sz="1200" dirty="0"/>
          </a:p>
        </p:txBody>
      </p:sp>
      <p:sp>
        <p:nvSpPr>
          <p:cNvPr id="15" name="card149"/>
          <p:cNvSpPr/>
          <p:nvPr/>
        </p:nvSpPr>
        <p:spPr>
          <a:xfrm>
            <a:off x="548640" y="4453128"/>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77240" y="4507992"/>
            <a:ext cx="10607040" cy="329184"/>
          </a:xfrm>
          <a:prstGeom prst="rect">
            <a:avLst/>
          </a:prstGeom>
          <a:noFill/>
          <a:ln/>
        </p:spPr>
        <p:txBody>
          <a:bodyPr wrap="square" lIns="0" tIns="0" rIns="0" bIns="0" rtlCol="0" anchor="t"/>
          <a:lstStyle/>
          <a:p>
            <a:pPr indent="0" marL="0">
              <a:buNone/>
            </a:pPr>
            <a:r>
              <a:rPr lang="en-US" sz="1400" dirty="0">
                <a:solidFill>
                  <a:schemeClr val="tx1"/>
                </a:solidFill>
              </a:rPr>
              <a:t>[5] J. H. Saltzer, M. D. Schroeder, "The protection of information in computer systems," Proc. IEEE, 1975 (full text).</a:t>
            </a:r>
            <a:endParaRPr lang="en-US" sz="1400" dirty="0"/>
          </a:p>
        </p:txBody>
      </p:sp>
      <p:sp>
        <p:nvSpPr>
          <p:cNvPr id="17" name="Text 15"/>
          <p:cNvSpPr txBox="1"/>
          <p:nvPr/>
        </p:nvSpPr>
        <p:spPr>
          <a:xfrm>
            <a:off x="777240" y="4846320"/>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5" invalidUrl="" action="" tgtFrame="" tooltip="Open source" history="1" highlightClick="0" endSnd="0">
                  <a:extLst>
                    <a:ext uri="{A12FA001-AC4F-418D-AE19-62706E023703}">
                      <ahyp:hlinkClr xmlns:ahyp="http://schemas.microsoft.com/office/drawing/2018/hyperlinkcolor" val="tx"/>
                    </a:ext>
                  </a:extLst>
                </a:hlinkClick>
              </a:rPr>
              <a:t>https://www.cs.virginia.edu/~evans/cs551/saltzer/</a:t>
            </a:r>
            <a:endParaRPr lang="en-US" sz="1200" dirty="0"/>
          </a:p>
        </p:txBody>
      </p:sp>
      <p:sp>
        <p:nvSpPr>
          <p:cNvPr id="18" name="card150"/>
          <p:cNvSpPr/>
          <p:nvPr/>
        </p:nvSpPr>
        <p:spPr>
          <a:xfrm>
            <a:off x="548640" y="525780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77240" y="5312664"/>
            <a:ext cx="10607040" cy="329184"/>
          </a:xfrm>
          <a:prstGeom prst="rect">
            <a:avLst/>
          </a:prstGeom>
          <a:noFill/>
          <a:ln/>
        </p:spPr>
        <p:txBody>
          <a:bodyPr wrap="square" lIns="0" tIns="0" rIns="0" bIns="0" rtlCol="0" anchor="t"/>
          <a:lstStyle/>
          <a:p>
            <a:pPr indent="0" marL="0">
              <a:buNone/>
            </a:pPr>
            <a:r>
              <a:rPr lang="en-US" sz="1400" dirty="0">
                <a:solidFill>
                  <a:schemeClr val="tx1"/>
                </a:solidFill>
              </a:rPr>
              <a:t>[6] N. Freed, "Behavior of and requirements for Internet firewalls," RFC 2979, 2000.</a:t>
            </a:r>
            <a:endParaRPr lang="en-US" sz="1400" dirty="0"/>
          </a:p>
        </p:txBody>
      </p:sp>
      <p:sp>
        <p:nvSpPr>
          <p:cNvPr id="20" name="Text 18"/>
          <p:cNvSpPr txBox="1"/>
          <p:nvPr/>
        </p:nvSpPr>
        <p:spPr>
          <a:xfrm>
            <a:off x="777240" y="565099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6" invalidUrl="" action="" tgtFrame="" tooltip="Open source" history="1" highlightClick="0" endSnd="0">
                  <a:extLst>
                    <a:ext uri="{A12FA001-AC4F-418D-AE19-62706E023703}">
                      <ahyp:hlinkClr xmlns:ahyp="http://schemas.microsoft.com/office/drawing/2018/hyperlinkcolor" val="tx"/>
                    </a:ext>
                  </a:extLst>
                </a:hlinkClick>
              </a:rPr>
              <a:t>https://www.rfc-editor.org/rfc/rfc2979</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References (2 of 3)</a:t>
            </a:r>
            <a:endParaRPr lang="en-US" sz="3200" dirty="0"/>
          </a:p>
        </p:txBody>
      </p:sp>
      <p:sp>
        <p:nvSpPr>
          <p:cNvPr id="3" name="card151"/>
          <p:cNvSpPr/>
          <p:nvPr/>
        </p:nvSpPr>
        <p:spPr>
          <a:xfrm>
            <a:off x="548640" y="123444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289304"/>
            <a:ext cx="10607040" cy="329184"/>
          </a:xfrm>
          <a:prstGeom prst="rect">
            <a:avLst/>
          </a:prstGeom>
          <a:noFill/>
          <a:ln/>
        </p:spPr>
        <p:txBody>
          <a:bodyPr wrap="square" lIns="0" tIns="0" rIns="0" bIns="0" rtlCol="0" anchor="t"/>
          <a:lstStyle/>
          <a:p>
            <a:pPr indent="0" marL="0">
              <a:buNone/>
            </a:pPr>
            <a:r>
              <a:rPr lang="en-US" sz="1400" dirty="0">
                <a:solidFill>
                  <a:schemeClr val="tx1"/>
                </a:solidFill>
              </a:rPr>
              <a:t>[7] P. Ferguson, D. Senie, "Network ingress filtering," BCP 38 / RFC 2827, 2000.</a:t>
            </a:r>
            <a:endParaRPr lang="en-US" sz="1400" dirty="0"/>
          </a:p>
        </p:txBody>
      </p:sp>
      <p:sp>
        <p:nvSpPr>
          <p:cNvPr id="5" name="Text 3"/>
          <p:cNvSpPr txBox="1"/>
          <p:nvPr/>
        </p:nvSpPr>
        <p:spPr>
          <a:xfrm>
            <a:off x="777240" y="162763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1" invalidUrl="" action="" tgtFrame="" tooltip="Open source" history="1" highlightClick="0" endSnd="0">
                  <a:extLst>
                    <a:ext uri="{A12FA001-AC4F-418D-AE19-62706E023703}">
                      <ahyp:hlinkClr xmlns:ahyp="http://schemas.microsoft.com/office/drawing/2018/hyperlinkcolor" val="tx"/>
                    </a:ext>
                  </a:extLst>
                </a:hlinkClick>
              </a:rPr>
              <a:t>https://doi.org/10.17487/RFC2827</a:t>
            </a:r>
            <a:endParaRPr lang="en-US" sz="1200" dirty="0"/>
          </a:p>
        </p:txBody>
      </p:sp>
      <p:sp>
        <p:nvSpPr>
          <p:cNvPr id="6" name="card152"/>
          <p:cNvSpPr/>
          <p:nvPr/>
        </p:nvSpPr>
        <p:spPr>
          <a:xfrm>
            <a:off x="548640" y="2039112"/>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77240" y="2093976"/>
            <a:ext cx="10607040" cy="329184"/>
          </a:xfrm>
          <a:prstGeom prst="rect">
            <a:avLst/>
          </a:prstGeom>
          <a:noFill/>
          <a:ln/>
        </p:spPr>
        <p:txBody>
          <a:bodyPr wrap="square" lIns="0" tIns="0" rIns="0" bIns="0" rtlCol="0" anchor="t"/>
          <a:lstStyle/>
          <a:p>
            <a:pPr indent="0" marL="0">
              <a:buNone/>
            </a:pPr>
            <a:r>
              <a:rPr lang="en-US" sz="1400" dirty="0">
                <a:solidFill>
                  <a:schemeClr val="tx1"/>
                </a:solidFill>
              </a:rPr>
              <a:t>[8] R. Ward, B. Beyer, "BeyondCorp: A new approach to enterprise security," ;login:, 39(6), 2014.</a:t>
            </a:r>
            <a:endParaRPr lang="en-US" sz="1400" dirty="0"/>
          </a:p>
        </p:txBody>
      </p:sp>
      <p:sp>
        <p:nvSpPr>
          <p:cNvPr id="8" name="Text 6"/>
          <p:cNvSpPr txBox="1"/>
          <p:nvPr/>
        </p:nvSpPr>
        <p:spPr>
          <a:xfrm>
            <a:off x="777240" y="2432304"/>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2" invalidUrl="" action="" tgtFrame="" tooltip="Open source" history="1" highlightClick="0" endSnd="0">
                  <a:extLst>
                    <a:ext uri="{A12FA001-AC4F-418D-AE19-62706E023703}">
                      <ahyp:hlinkClr xmlns:ahyp="http://schemas.microsoft.com/office/drawing/2018/hyperlinkcolor" val="tx"/>
                    </a:ext>
                  </a:extLst>
                </a:hlinkClick>
              </a:rPr>
              <a:t>https://www.usenix.org/publications/login/dec14/ward</a:t>
            </a:r>
            <a:endParaRPr lang="en-US" sz="1200" dirty="0"/>
          </a:p>
        </p:txBody>
      </p:sp>
      <p:sp>
        <p:nvSpPr>
          <p:cNvPr id="9" name="card153"/>
          <p:cNvSpPr/>
          <p:nvPr/>
        </p:nvSpPr>
        <p:spPr>
          <a:xfrm>
            <a:off x="548640" y="2843784"/>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2898648"/>
            <a:ext cx="10607040" cy="329184"/>
          </a:xfrm>
          <a:prstGeom prst="rect">
            <a:avLst/>
          </a:prstGeom>
          <a:noFill/>
          <a:ln/>
        </p:spPr>
        <p:txBody>
          <a:bodyPr wrap="square" lIns="0" tIns="0" rIns="0" bIns="0" rtlCol="0" anchor="t"/>
          <a:lstStyle/>
          <a:p>
            <a:pPr indent="0" marL="0">
              <a:buNone/>
            </a:pPr>
            <a:r>
              <a:rPr lang="en-US" sz="1400" dirty="0">
                <a:solidFill>
                  <a:schemeClr val="tx1"/>
                </a:solidFill>
              </a:rPr>
              <a:t>[9] E. Al-Shaer, H. Hamed, "Discovery of policy anomalies in distributed firewalls," IEEE INFOCOM, 2004.</a:t>
            </a:r>
            <a:endParaRPr lang="en-US" sz="1400" dirty="0"/>
          </a:p>
        </p:txBody>
      </p:sp>
      <p:sp>
        <p:nvSpPr>
          <p:cNvPr id="11" name="Text 9"/>
          <p:cNvSpPr txBox="1"/>
          <p:nvPr/>
        </p:nvSpPr>
        <p:spPr>
          <a:xfrm>
            <a:off x="777240" y="3236976"/>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3" invalidUrl="" action="" tgtFrame="" tooltip="Open source" history="1" highlightClick="0" endSnd="0">
                  <a:extLst>
                    <a:ext uri="{A12FA001-AC4F-418D-AE19-62706E023703}">
                      <ahyp:hlinkClr xmlns:ahyp="http://schemas.microsoft.com/office/drawing/2018/hyperlinkcolor" val="tx"/>
                    </a:ext>
                  </a:extLst>
                </a:hlinkClick>
              </a:rPr>
              <a:t>https://pure.kfupm.edu.sa/en/publications/discovery-of-policy-anomalies-in-distributed-firewalls/</a:t>
            </a:r>
            <a:endParaRPr lang="en-US" sz="1200" dirty="0"/>
          </a:p>
        </p:txBody>
      </p:sp>
      <p:sp>
        <p:nvSpPr>
          <p:cNvPr id="12" name="card154"/>
          <p:cNvSpPr/>
          <p:nvPr/>
        </p:nvSpPr>
        <p:spPr>
          <a:xfrm>
            <a:off x="548640" y="3648456"/>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3703320"/>
            <a:ext cx="10607040" cy="329184"/>
          </a:xfrm>
          <a:prstGeom prst="rect">
            <a:avLst/>
          </a:prstGeom>
          <a:noFill/>
          <a:ln/>
        </p:spPr>
        <p:txBody>
          <a:bodyPr wrap="square" lIns="0" tIns="0" rIns="0" bIns="0" rtlCol="0" anchor="t"/>
          <a:lstStyle/>
          <a:p>
            <a:pPr indent="0" marL="0">
              <a:buNone/>
            </a:pPr>
            <a:r>
              <a:rPr lang="en-US" sz="1400" dirty="0">
                <a:solidFill>
                  <a:schemeClr val="tx1"/>
                </a:solidFill>
              </a:rPr>
              <a:t>[10] E. Al-Shaer et al., "Conflict classification and analysis of distributed firewall policies," IEEE JSAC, 2005.</a:t>
            </a:r>
            <a:endParaRPr lang="en-US" sz="1400" dirty="0"/>
          </a:p>
        </p:txBody>
      </p:sp>
      <p:sp>
        <p:nvSpPr>
          <p:cNvPr id="14" name="Text 12"/>
          <p:cNvSpPr txBox="1"/>
          <p:nvPr/>
        </p:nvSpPr>
        <p:spPr>
          <a:xfrm>
            <a:off x="777240" y="4041648"/>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4" invalidUrl="" action="" tgtFrame="" tooltip="Open source" history="1" highlightClick="0" endSnd="0">
                  <a:extLst>
                    <a:ext uri="{A12FA001-AC4F-418D-AE19-62706E023703}">
                      <ahyp:hlinkClr xmlns:ahyp="http://schemas.microsoft.com/office/drawing/2018/hyperlinkcolor" val="tx"/>
                    </a:ext>
                  </a:extLst>
                </a:hlinkClick>
              </a:rPr>
              <a:t>https://doi.org/10.1109/JSAC.2005.854119</a:t>
            </a:r>
            <a:endParaRPr lang="en-US" sz="1200" dirty="0"/>
          </a:p>
        </p:txBody>
      </p:sp>
      <p:sp>
        <p:nvSpPr>
          <p:cNvPr id="15" name="card155"/>
          <p:cNvSpPr/>
          <p:nvPr/>
        </p:nvSpPr>
        <p:spPr>
          <a:xfrm>
            <a:off x="548640" y="4453128"/>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77240" y="4507992"/>
            <a:ext cx="10607040" cy="329184"/>
          </a:xfrm>
          <a:prstGeom prst="rect">
            <a:avLst/>
          </a:prstGeom>
          <a:noFill/>
          <a:ln/>
        </p:spPr>
        <p:txBody>
          <a:bodyPr wrap="square" lIns="0" tIns="0" rIns="0" bIns="0" rtlCol="0" anchor="t"/>
          <a:lstStyle/>
          <a:p>
            <a:pPr indent="0" marL="0">
              <a:buNone/>
            </a:pPr>
            <a:r>
              <a:rPr lang="en-US" sz="1400" dirty="0">
                <a:solidFill>
                  <a:schemeClr val="tx1"/>
                </a:solidFill>
              </a:rPr>
              <a:t>[11] L. Yuan et al., "FIREMAN: A toolkit for firewall modeling and analysis," IEEE S&amp;P, 2006.</a:t>
            </a:r>
            <a:endParaRPr lang="en-US" sz="1400" dirty="0"/>
          </a:p>
        </p:txBody>
      </p:sp>
      <p:sp>
        <p:nvSpPr>
          <p:cNvPr id="17" name="Text 15"/>
          <p:cNvSpPr txBox="1"/>
          <p:nvPr/>
        </p:nvSpPr>
        <p:spPr>
          <a:xfrm>
            <a:off x="777240" y="4846320"/>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5" invalidUrl="" action="" tgtFrame="" tooltip="Open source" history="1" highlightClick="0" endSnd="0">
                  <a:extLst>
                    <a:ext uri="{A12FA001-AC4F-418D-AE19-62706E023703}">
                      <ahyp:hlinkClr xmlns:ahyp="http://schemas.microsoft.com/office/drawing/2018/hyperlinkcolor" val="tx"/>
                    </a:ext>
                  </a:extLst>
                </a:hlinkClick>
              </a:rPr>
              <a:t>https://doi.org/10.1109/SP.2006.16</a:t>
            </a:r>
            <a:endParaRPr lang="en-US" sz="1200" dirty="0"/>
          </a:p>
        </p:txBody>
      </p:sp>
      <p:sp>
        <p:nvSpPr>
          <p:cNvPr id="18" name="card156"/>
          <p:cNvSpPr/>
          <p:nvPr/>
        </p:nvSpPr>
        <p:spPr>
          <a:xfrm>
            <a:off x="548640" y="525780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77240" y="5312664"/>
            <a:ext cx="10607040" cy="329184"/>
          </a:xfrm>
          <a:prstGeom prst="rect">
            <a:avLst/>
          </a:prstGeom>
          <a:noFill/>
          <a:ln/>
        </p:spPr>
        <p:txBody>
          <a:bodyPr wrap="square" lIns="0" tIns="0" rIns="0" bIns="0" rtlCol="0" anchor="t"/>
          <a:lstStyle/>
          <a:p>
            <a:pPr indent="0" marL="0">
              <a:buNone/>
            </a:pPr>
            <a:r>
              <a:rPr lang="en-US" sz="1400" dirty="0">
                <a:solidFill>
                  <a:schemeClr val="tx1"/>
                </a:solidFill>
              </a:rPr>
              <a:t>[12] M. G. Gouda, A. X. Liu, "Structured firewall design," Computer Networks, 51(4), 2007.</a:t>
            </a:r>
            <a:endParaRPr lang="en-US" sz="1400" dirty="0"/>
          </a:p>
        </p:txBody>
      </p:sp>
      <p:sp>
        <p:nvSpPr>
          <p:cNvPr id="20" name="Text 18"/>
          <p:cNvSpPr txBox="1"/>
          <p:nvPr/>
        </p:nvSpPr>
        <p:spPr>
          <a:xfrm>
            <a:off x="777240" y="565099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6" invalidUrl="" action="" tgtFrame="" tooltip="Open source" history="1" highlightClick="0" endSnd="0">
                  <a:extLst>
                    <a:ext uri="{A12FA001-AC4F-418D-AE19-62706E023703}">
                      <ahyp:hlinkClr xmlns:ahyp="http://schemas.microsoft.com/office/drawing/2018/hyperlinkcolor" val="tx"/>
                    </a:ext>
                  </a:extLst>
                </a:hlinkClick>
              </a:rPr>
              <a:t>https://ftp.math.utah.edu/pub/tex/bib/idx/compnetamsterdam2000/51/4/1106_1120.html</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200" b="1" dirty="0">
                <a:solidFill>
                  <a:schemeClr val="tx1"/>
                </a:solidFill>
              </a:rPr>
              <a:t>References (3 of 3)</a:t>
            </a:r>
            <a:endParaRPr lang="en-US" sz="3200" dirty="0"/>
          </a:p>
        </p:txBody>
      </p:sp>
      <p:sp>
        <p:nvSpPr>
          <p:cNvPr id="3" name="card157"/>
          <p:cNvSpPr/>
          <p:nvPr/>
        </p:nvSpPr>
        <p:spPr>
          <a:xfrm>
            <a:off x="548640" y="123444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289304"/>
            <a:ext cx="10607040" cy="329184"/>
          </a:xfrm>
          <a:prstGeom prst="rect">
            <a:avLst/>
          </a:prstGeom>
          <a:noFill/>
          <a:ln/>
        </p:spPr>
        <p:txBody>
          <a:bodyPr wrap="square" lIns="0" tIns="0" rIns="0" bIns="0" rtlCol="0" anchor="t"/>
          <a:lstStyle/>
          <a:p>
            <a:pPr indent="0" marL="0">
              <a:buNone/>
            </a:pPr>
            <a:r>
              <a:rPr lang="en-US" sz="1400" dirty="0">
                <a:solidFill>
                  <a:schemeClr val="tx1"/>
                </a:solidFill>
              </a:rPr>
              <a:t>[13] A. Voronkov et al., "Systematic literature review on usability of firewall configuration," ACM CSUR, 2017.</a:t>
            </a:r>
            <a:endParaRPr lang="en-US" sz="1400" dirty="0"/>
          </a:p>
        </p:txBody>
      </p:sp>
      <p:sp>
        <p:nvSpPr>
          <p:cNvPr id="5" name="Text 3"/>
          <p:cNvSpPr txBox="1"/>
          <p:nvPr/>
        </p:nvSpPr>
        <p:spPr>
          <a:xfrm>
            <a:off x="777240" y="162763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1" invalidUrl="" action="" tgtFrame="" tooltip="Open source" history="1" highlightClick="0" endSnd="0">
                  <a:extLst>
                    <a:ext uri="{A12FA001-AC4F-418D-AE19-62706E023703}">
                      <ahyp:hlinkClr xmlns:ahyp="http://schemas.microsoft.com/office/drawing/2018/hyperlinkcolor" val="tx"/>
                    </a:ext>
                  </a:extLst>
                </a:hlinkClick>
              </a:rPr>
              <a:t>https://doi.org/10.1145/3130876</a:t>
            </a:r>
            <a:endParaRPr lang="en-US" sz="1200" dirty="0"/>
          </a:p>
        </p:txBody>
      </p:sp>
      <p:sp>
        <p:nvSpPr>
          <p:cNvPr id="6" name="card158"/>
          <p:cNvSpPr/>
          <p:nvPr/>
        </p:nvSpPr>
        <p:spPr>
          <a:xfrm>
            <a:off x="548640" y="2039112"/>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77240" y="2093976"/>
            <a:ext cx="10607040" cy="329184"/>
          </a:xfrm>
          <a:prstGeom prst="rect">
            <a:avLst/>
          </a:prstGeom>
          <a:noFill/>
          <a:ln/>
        </p:spPr>
        <p:txBody>
          <a:bodyPr wrap="square" lIns="0" tIns="0" rIns="0" bIns="0" rtlCol="0" anchor="t"/>
          <a:lstStyle/>
          <a:p>
            <a:pPr indent="0" marL="0">
              <a:buNone/>
            </a:pPr>
            <a:r>
              <a:rPr lang="en-US" sz="1400" dirty="0">
                <a:solidFill>
                  <a:schemeClr val="tx1"/>
                </a:solidFill>
              </a:rPr>
              <a:t>[14] N. Syed et al., "Zero trust architecture (ZTA): A comprehensive survey," IEEE Access, 2022.</a:t>
            </a:r>
            <a:endParaRPr lang="en-US" sz="1400" dirty="0"/>
          </a:p>
        </p:txBody>
      </p:sp>
      <p:sp>
        <p:nvSpPr>
          <p:cNvPr id="8" name="Text 6"/>
          <p:cNvSpPr txBox="1"/>
          <p:nvPr/>
        </p:nvSpPr>
        <p:spPr>
          <a:xfrm>
            <a:off x="777240" y="2432304"/>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2" invalidUrl="" action="" tgtFrame="" tooltip="Open source" history="1" highlightClick="0" endSnd="0">
                  <a:extLst>
                    <a:ext uri="{A12FA001-AC4F-418D-AE19-62706E023703}">
                      <ahyp:hlinkClr xmlns:ahyp="http://schemas.microsoft.com/office/drawing/2018/hyperlinkcolor" val="tx"/>
                    </a:ext>
                  </a:extLst>
                </a:hlinkClick>
              </a:rPr>
              <a:t>https://ieeexplore.ieee.org/document/9773102</a:t>
            </a:r>
            <a:endParaRPr lang="en-US" sz="1200" dirty="0"/>
          </a:p>
        </p:txBody>
      </p:sp>
      <p:sp>
        <p:nvSpPr>
          <p:cNvPr id="9" name="card159"/>
          <p:cNvSpPr/>
          <p:nvPr/>
        </p:nvSpPr>
        <p:spPr>
          <a:xfrm>
            <a:off x="548640" y="2843784"/>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2898648"/>
            <a:ext cx="10607040" cy="329184"/>
          </a:xfrm>
          <a:prstGeom prst="rect">
            <a:avLst/>
          </a:prstGeom>
          <a:noFill/>
          <a:ln/>
        </p:spPr>
        <p:txBody>
          <a:bodyPr wrap="square" lIns="0" tIns="0" rIns="0" bIns="0" rtlCol="0" anchor="t"/>
          <a:lstStyle/>
          <a:p>
            <a:pPr indent="0" marL="0">
              <a:buNone/>
            </a:pPr>
            <a:r>
              <a:rPr lang="en-US" sz="1400" dirty="0">
                <a:solidFill>
                  <a:schemeClr val="tx1"/>
                </a:solidFill>
              </a:rPr>
              <a:t>[15] R. Chandramouli, "Guide to a secure enterprise network landscape," NIST SP 800-215, 2022.</a:t>
            </a:r>
            <a:endParaRPr lang="en-US" sz="1400" dirty="0"/>
          </a:p>
        </p:txBody>
      </p:sp>
      <p:sp>
        <p:nvSpPr>
          <p:cNvPr id="11" name="Text 9"/>
          <p:cNvSpPr txBox="1"/>
          <p:nvPr/>
        </p:nvSpPr>
        <p:spPr>
          <a:xfrm>
            <a:off x="777240" y="3236976"/>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3" invalidUrl="" action="" tgtFrame="" tooltip="Open source" history="1" highlightClick="0" endSnd="0">
                  <a:extLst>
                    <a:ext uri="{A12FA001-AC4F-418D-AE19-62706E023703}">
                      <ahyp:hlinkClr xmlns:ahyp="http://schemas.microsoft.com/office/drawing/2018/hyperlinkcolor" val="tx"/>
                    </a:ext>
                  </a:extLst>
                </a:hlinkClick>
              </a:rPr>
              <a:t>https://doi.org/10.6028/NIST.SP.800-215</a:t>
            </a:r>
            <a:endParaRPr lang="en-US" sz="1200" dirty="0"/>
          </a:p>
        </p:txBody>
      </p:sp>
      <p:sp>
        <p:nvSpPr>
          <p:cNvPr id="12" name="card160"/>
          <p:cNvSpPr/>
          <p:nvPr/>
        </p:nvSpPr>
        <p:spPr>
          <a:xfrm>
            <a:off x="548640" y="3648456"/>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3703320"/>
            <a:ext cx="10607040" cy="329184"/>
          </a:xfrm>
          <a:prstGeom prst="rect">
            <a:avLst/>
          </a:prstGeom>
          <a:noFill/>
          <a:ln/>
        </p:spPr>
        <p:txBody>
          <a:bodyPr wrap="square" lIns="0" tIns="0" rIns="0" bIns="0" rtlCol="0" anchor="t"/>
          <a:lstStyle/>
          <a:p>
            <a:pPr indent="0" marL="0">
              <a:buNone/>
            </a:pPr>
            <a:r>
              <a:rPr lang="en-US" sz="1400" dirty="0">
                <a:solidFill>
                  <a:schemeClr val="tx1"/>
                </a:solidFill>
              </a:rPr>
              <a:t>[16] CISA, "Microsegmentation in zero trust, part one: Introduction and planning," 2025.</a:t>
            </a:r>
            <a:endParaRPr lang="en-US" sz="1400" dirty="0"/>
          </a:p>
        </p:txBody>
      </p:sp>
      <p:sp>
        <p:nvSpPr>
          <p:cNvPr id="14" name="Text 12"/>
          <p:cNvSpPr txBox="1"/>
          <p:nvPr/>
        </p:nvSpPr>
        <p:spPr>
          <a:xfrm>
            <a:off x="777240" y="4041648"/>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4" invalidUrl="" action="" tgtFrame="" tooltip="Open source" history="1" highlightClick="0" endSnd="0">
                  <a:extLst>
                    <a:ext uri="{A12FA001-AC4F-418D-AE19-62706E023703}">
                      <ahyp:hlinkClr xmlns:ahyp="http://schemas.microsoft.com/office/drawing/2018/hyperlinkcolor" val="tx"/>
                    </a:ext>
                  </a:extLst>
                </a:hlinkClick>
              </a:rPr>
              <a:t>https://www.cisa.gov/resources-tools/resources/microsegmentation-zero-trust-part-one-introduction-and-planning</a:t>
            </a:r>
            <a:endParaRPr lang="en-US" sz="1200" dirty="0"/>
          </a:p>
        </p:txBody>
      </p:sp>
      <p:sp>
        <p:nvSpPr>
          <p:cNvPr id="15" name="card161"/>
          <p:cNvSpPr/>
          <p:nvPr/>
        </p:nvSpPr>
        <p:spPr>
          <a:xfrm>
            <a:off x="548640" y="4453128"/>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77240" y="4507992"/>
            <a:ext cx="10607040" cy="329184"/>
          </a:xfrm>
          <a:prstGeom prst="rect">
            <a:avLst/>
          </a:prstGeom>
          <a:noFill/>
          <a:ln/>
        </p:spPr>
        <p:txBody>
          <a:bodyPr wrap="square" lIns="0" tIns="0" rIns="0" bIns="0" rtlCol="0" anchor="t"/>
          <a:lstStyle/>
          <a:p>
            <a:pPr indent="0" marL="0">
              <a:buNone/>
            </a:pPr>
            <a:r>
              <a:rPr lang="en-US" sz="1400" dirty="0">
                <a:solidFill>
                  <a:schemeClr val="tx1"/>
                </a:solidFill>
              </a:rPr>
              <a:t>[17] Y. Bartal et al., "Firmato: A novel firewall management toolkit," ACM TOCS, 2004.</a:t>
            </a:r>
            <a:endParaRPr lang="en-US" sz="1400" dirty="0"/>
          </a:p>
        </p:txBody>
      </p:sp>
      <p:sp>
        <p:nvSpPr>
          <p:cNvPr id="17" name="Text 15"/>
          <p:cNvSpPr txBox="1"/>
          <p:nvPr/>
        </p:nvSpPr>
        <p:spPr>
          <a:xfrm>
            <a:off x="777240" y="4846320"/>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5" invalidUrl="" action="" tgtFrame="" tooltip="Open source" history="1" highlightClick="0" endSnd="0">
                  <a:extLst>
                    <a:ext uri="{A12FA001-AC4F-418D-AE19-62706E023703}">
                      <ahyp:hlinkClr xmlns:ahyp="http://schemas.microsoft.com/office/drawing/2018/hyperlinkcolor" val="tx"/>
                    </a:ext>
                  </a:extLst>
                </a:hlinkClick>
              </a:rPr>
              <a:t>https://doi.org/10.1145/1035582.1035583</a:t>
            </a:r>
            <a:endParaRPr lang="en-US" sz="1200" dirty="0"/>
          </a:p>
        </p:txBody>
      </p:sp>
      <p:sp>
        <p:nvSpPr>
          <p:cNvPr id="18" name="card162"/>
          <p:cNvSpPr/>
          <p:nvPr/>
        </p:nvSpPr>
        <p:spPr>
          <a:xfrm>
            <a:off x="548640" y="5257800"/>
            <a:ext cx="11064240" cy="713232"/>
          </a:xfrm>
          <a:prstGeom prst="roundRect">
            <a:avLst>
              <a:gd name="adj" fmla="val 102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77240" y="5312664"/>
            <a:ext cx="10607040" cy="329184"/>
          </a:xfrm>
          <a:prstGeom prst="rect">
            <a:avLst/>
          </a:prstGeom>
          <a:noFill/>
          <a:ln/>
        </p:spPr>
        <p:txBody>
          <a:bodyPr wrap="square" lIns="0" tIns="0" rIns="0" bIns="0" rtlCol="0" anchor="t"/>
          <a:lstStyle/>
          <a:p>
            <a:pPr indent="0" marL="0">
              <a:buNone/>
            </a:pPr>
            <a:r>
              <a:rPr lang="en-US" sz="1400" dirty="0">
                <a:solidFill>
                  <a:schemeClr val="tx1"/>
                </a:solidFill>
              </a:rPr>
              <a:t>[18] J. Arkko et al., "IPv4 address blocks reserved for documentation," RFC 5737, 2010.</a:t>
            </a:r>
            <a:endParaRPr lang="en-US" sz="1400" dirty="0"/>
          </a:p>
        </p:txBody>
      </p:sp>
      <p:sp>
        <p:nvSpPr>
          <p:cNvPr id="20" name="Text 18"/>
          <p:cNvSpPr txBox="1"/>
          <p:nvPr/>
        </p:nvSpPr>
        <p:spPr>
          <a:xfrm>
            <a:off x="777240" y="5650992"/>
            <a:ext cx="10607040" cy="274320"/>
          </a:xfrm>
          <a:prstGeom prst="rect">
            <a:avLst/>
          </a:prstGeom>
          <a:noFill/>
          <a:ln/>
        </p:spPr>
        <p:txBody>
          <a:bodyPr wrap="square" lIns="0" tIns="0" rIns="0" bIns="0" rtlCol="0" anchor="t"/>
          <a:lstStyle/>
          <a:p>
            <a:pPr indent="0" marL="0">
              <a:buNone/>
            </a:pPr>
            <a:r>
              <a:rPr lang="en-US" sz="1200" u="sng" dirty="0">
                <a:solidFill>
                  <a:schemeClr val="accent5"/>
                </a:solidFill>
                <a:hlinkClick r:id="rId6" invalidUrl="" action="" tgtFrame="" tooltip="Open source" history="1" highlightClick="0" endSnd="0">
                  <a:extLst>
                    <a:ext uri="{A12FA001-AC4F-418D-AE19-62706E023703}">
                      <ahyp:hlinkClr xmlns:ahyp="http://schemas.microsoft.com/office/drawing/2018/hyperlinkcolor" val="tx"/>
                    </a:ext>
                  </a:extLst>
                </a:hlinkClick>
              </a:rPr>
              <a:t>https://www.rfc-editor.org/rfc/rfc5737</a:t>
            </a:r>
            <a:endParaRPr lang="en-US" sz="1200" dirty="0"/>
          </a:p>
        </p:txBody>
      </p:sp>
      <p:sp>
        <p:nvSpPr>
          <p:cNvPr id="21" name="Text 19"/>
          <p:cNvSpPr txBox="1"/>
          <p:nvPr/>
        </p:nvSpPr>
        <p:spPr>
          <a:xfrm>
            <a:off x="548640" y="6172200"/>
            <a:ext cx="10607040" cy="320040"/>
          </a:xfrm>
          <a:prstGeom prst="rect">
            <a:avLst/>
          </a:prstGeom>
          <a:noFill/>
          <a:ln/>
        </p:spPr>
        <p:txBody>
          <a:bodyPr wrap="square" lIns="0" tIns="0" rIns="0" bIns="0" rtlCol="0" anchor="t"/>
          <a:lstStyle/>
          <a:p>
            <a:pPr indent="0" marL="0">
              <a:buNone/>
            </a:pPr>
            <a:r>
              <a:rPr lang="en-US" sz="1200" i="1" dirty="0">
                <a:solidFill>
                  <a:schemeClr val="accent4"/>
                </a:solidFill>
              </a:rPr>
              <a:t>All 18 references, as in the report (IEEE style). Links: DOI where available, otherwise publisher, repository or full-text page.</a:t>
            </a:r>
            <a:endParaRPr lang="en-US" sz="1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Firewall Policy">
  <a:themeElements>
    <a:clrScheme name="Firewall Policy">
      <a:dk1>
        <a:srgbClr val="1E252E"/>
      </a:dk1>
      <a:lt1>
        <a:srgbClr val="FFFFFF"/>
      </a:lt1>
      <a:dk2>
        <a:srgbClr val="2E3A46"/>
      </a:dk2>
      <a:lt2>
        <a:srgbClr val="EEF1F4"/>
      </a:lt2>
      <a:accent1>
        <a:srgbClr val="C0392B"/>
      </a:accent1>
      <a:accent2>
        <a:srgbClr val="1E8E5A"/>
      </a:accent2>
      <a:accent3>
        <a:srgbClr val="E09F3E"/>
      </a:accent3>
      <a:accent4>
        <a:srgbClr val="5B6B7A"/>
      </a:accent4>
      <a:accent5>
        <a:srgbClr val="3D5A80"/>
      </a:accent5>
      <a:accent6>
        <a:srgbClr val="98A6B3"/>
      </a:accent6>
      <a:hlink>
        <a:srgbClr val="3D5A80"/>
      </a:hlink>
      <a:folHlink>
        <a:srgbClr val="5B6B7A"/>
      </a:folHlink>
    </a:clrScheme>
    <a:fontScheme name="Firewall Polic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Firewall Policy Complexity: From Simple ACLs to Least Privilege Network Access</dc:title>
  <dc:subject>PptxGenJS Presentation</dc:subject>
  <dc:creator>BACSE203 case study team</dc:creator>
  <cp:lastModifiedBy>BACSE203 case study team</cp:lastModifiedBy>
  <cp:revision>1</cp:revision>
  <dcterms:created xsi:type="dcterms:W3CDTF">2026-10-24T17:10:57Z</dcterms:created>
  <dcterms:modified xsi:type="dcterms:W3CDTF">2026-10-24T17:10:57Z</dcterms:modified>
</cp:coreProperties>
</file>